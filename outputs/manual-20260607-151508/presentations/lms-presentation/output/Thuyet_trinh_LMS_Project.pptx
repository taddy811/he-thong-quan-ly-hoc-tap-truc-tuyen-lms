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60188c8f3f4037" /><Relationship Type="http://schemas.openxmlformats.org/officeDocument/2006/relationships/extended-properties" Target="/docProps/app.xml" Id="R8a6d1af36f154ee3" /><Relationship Type="http://schemas.openxmlformats.org/officeDocument/2006/relationships/officeDocument" Target="/ppt/presentation.xml" Id="Rf1b519f002f949ba" /></Relationships>
</file>

<file path=ppt/presentation.xml><?xml version="1.0" encoding="utf-8"?>
<p:presentation xmlns:p="http://schemas.openxmlformats.org/presentationml/2006/main">
  <p:sldMasterIdLst>
    <p:sldMasterId xmlns:r="http://schemas.openxmlformats.org/officeDocument/2006/relationships" id="2147483648" r:id="R232ad418714445eb"/>
  </p:sldMasterIdLst>
  <p:notesMasterIdLst>
    <p:notesMasterId xmlns:r="http://schemas.openxmlformats.org/officeDocument/2006/relationships" r:id="R6eba5168a95c42c6"/>
  </p:notesMasterIdLst>
  <p:sldIdLst>
    <p:sldId xmlns:r="http://schemas.openxmlformats.org/officeDocument/2006/relationships" id="256" r:id="R7164b2ce69054748"/>
    <p:sldId xmlns:r="http://schemas.openxmlformats.org/officeDocument/2006/relationships" id="257" r:id="Rd5e9272934b14ef0"/>
    <p:sldId xmlns:r="http://schemas.openxmlformats.org/officeDocument/2006/relationships" id="258" r:id="R8b775ed36ddf4c25"/>
    <p:sldId xmlns:r="http://schemas.openxmlformats.org/officeDocument/2006/relationships" id="259" r:id="R583c9dc276ba4251"/>
    <p:sldId xmlns:r="http://schemas.openxmlformats.org/officeDocument/2006/relationships" id="260" r:id="R49900b46a02942e0"/>
    <p:sldId xmlns:r="http://schemas.openxmlformats.org/officeDocument/2006/relationships" id="261" r:id="R9c8a9b45ce5548ac"/>
    <p:sldId xmlns:r="http://schemas.openxmlformats.org/officeDocument/2006/relationships" id="262" r:id="R5548fa94f0454dd8"/>
    <p:sldId xmlns:r="http://schemas.openxmlformats.org/officeDocument/2006/relationships" id="263" r:id="Rd8c1ed638327430a"/>
    <p:sldId xmlns:r="http://schemas.openxmlformats.org/officeDocument/2006/relationships" id="264" r:id="Re275b34fbe4a4d65"/>
    <p:sldId xmlns:r="http://schemas.openxmlformats.org/officeDocument/2006/relationships" id="265" r:id="Rf82d948518ca4478"/>
    <p:sldId xmlns:r="http://schemas.openxmlformats.org/officeDocument/2006/relationships" id="266" r:id="Red04246f60e548ae"/>
    <p:sldId xmlns:r="http://schemas.openxmlformats.org/officeDocument/2006/relationships" id="267" r:id="R21e70c81c5f04fa5"/>
    <p:sldId xmlns:r="http://schemas.openxmlformats.org/officeDocument/2006/relationships" id="268" r:id="R6f5e2ec3123e4cf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232ad418714445eb" /><Relationship Type="http://schemas.openxmlformats.org/officeDocument/2006/relationships/theme" Target="/ppt/theme/theme1.xml" Id="Re695e4702e7b4208" /><Relationship Type="http://schemas.openxmlformats.org/officeDocument/2006/relationships/notesMaster" Target="/ppt/notesMasters/notesMaster1.xml" Id="R6eba5168a95c42c6" /><Relationship Type="http://schemas.openxmlformats.org/officeDocument/2006/relationships/presProps" Target="/ppt/presProps.xml" Id="R5ed1916592af4672" /><Relationship Type="http://schemas.openxmlformats.org/officeDocument/2006/relationships/viewProps" Target="/ppt/viewProps.xml" Id="Rb4e2756bc16c4a2a" /><Relationship Type="http://schemas.openxmlformats.org/officeDocument/2006/relationships/tableStyles" Target="/ppt/tableStyles.xml" Id="Rdceeba16851444bd" /><Relationship Type="http://schemas.openxmlformats.org/officeDocument/2006/relationships/slide" Target="/ppt/slides/slide1.xml" Id="R7164b2ce69054748" /><Relationship Type="http://schemas.openxmlformats.org/officeDocument/2006/relationships/slide" Target="/ppt/slides/slide2.xml" Id="Rd5e9272934b14ef0" /><Relationship Type="http://schemas.openxmlformats.org/officeDocument/2006/relationships/slide" Target="/ppt/slides/slide3.xml" Id="R8b775ed36ddf4c25" /><Relationship Type="http://schemas.openxmlformats.org/officeDocument/2006/relationships/slide" Target="/ppt/slides/slide4.xml" Id="R583c9dc276ba4251" /><Relationship Type="http://schemas.openxmlformats.org/officeDocument/2006/relationships/slide" Target="/ppt/slides/slide5.xml" Id="R49900b46a02942e0" /><Relationship Type="http://schemas.openxmlformats.org/officeDocument/2006/relationships/slide" Target="/ppt/slides/slide6.xml" Id="R9c8a9b45ce5548ac" /><Relationship Type="http://schemas.openxmlformats.org/officeDocument/2006/relationships/slide" Target="/ppt/slides/slide7.xml" Id="R5548fa94f0454dd8" /><Relationship Type="http://schemas.openxmlformats.org/officeDocument/2006/relationships/slide" Target="/ppt/slides/slide8.xml" Id="Rd8c1ed638327430a" /><Relationship Type="http://schemas.openxmlformats.org/officeDocument/2006/relationships/slide" Target="/ppt/slides/slide9.xml" Id="Re275b34fbe4a4d65" /><Relationship Type="http://schemas.openxmlformats.org/officeDocument/2006/relationships/slide" Target="/ppt/slides/slide10.xml" Id="Rf82d948518ca4478" /><Relationship Type="http://schemas.openxmlformats.org/officeDocument/2006/relationships/slide" Target="/ppt/slides/slide11.xml" Id="Red04246f60e548ae" /><Relationship Type="http://schemas.openxmlformats.org/officeDocument/2006/relationships/slide" Target="/ppt/slides/slide12.xml" Id="R21e70c81c5f04fa5" /><Relationship Type="http://schemas.openxmlformats.org/officeDocument/2006/relationships/slide" Target="/ppt/slides/slide13.xml" Id="R6f5e2ec3123e4c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c29c023ae3e43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c53251cc34469" /><Relationship Type="http://schemas.openxmlformats.org/officeDocument/2006/relationships/notesMaster" Target="/ppt/notesMasters/notesMaster1.xml" Id="R5f5b5653ba7c4d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75873d54f4018" /><Relationship Type="http://schemas.openxmlformats.org/officeDocument/2006/relationships/notesMaster" Target="/ppt/notesMasters/notesMaster1.xml" Id="Ra24b21f2b7ca42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4e942e3e9b4821" /><Relationship Type="http://schemas.openxmlformats.org/officeDocument/2006/relationships/notesMaster" Target="/ppt/notesMasters/notesMaster1.xml" Id="R01360d02be7444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ca452d4d2a454b" /><Relationship Type="http://schemas.openxmlformats.org/officeDocument/2006/relationships/notesMaster" Target="/ppt/notesMasters/notesMaster1.xml" Id="Rfba9a4309e6343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03c2b008a243e5" /><Relationship Type="http://schemas.openxmlformats.org/officeDocument/2006/relationships/notesMaster" Target="/ppt/notesMasters/notesMaster1.xml" Id="Ree157eb5ae144e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a91b23f71d406f" /><Relationship Type="http://schemas.openxmlformats.org/officeDocument/2006/relationships/notesMaster" Target="/ppt/notesMasters/notesMaster1.xml" Id="Rb457570d077546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5cd7d7c0c94c07" /><Relationship Type="http://schemas.openxmlformats.org/officeDocument/2006/relationships/notesMaster" Target="/ppt/notesMasters/notesMaster1.xml" Id="R2ce1156ede22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c324ebc6774a14" /><Relationship Type="http://schemas.openxmlformats.org/officeDocument/2006/relationships/notesMaster" Target="/ppt/notesMasters/notesMaster1.xml" Id="Rb487903195464b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2f5a9d26cf4d54" /><Relationship Type="http://schemas.openxmlformats.org/officeDocument/2006/relationships/notesMaster" Target="/ppt/notesMasters/notesMaster1.xml" Id="R0cda9e2995d741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6f48554f574b68" /><Relationship Type="http://schemas.openxmlformats.org/officeDocument/2006/relationships/notesMaster" Target="/ppt/notesMasters/notesMaster1.xml" Id="R9f9670a439c04f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245d3ca22d4d07" /><Relationship Type="http://schemas.openxmlformats.org/officeDocument/2006/relationships/notesMaster" Target="/ppt/notesMasters/notesMaster1.xml" Id="R9c8f8dc8c86d4c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5470d0fb3f4c59" /><Relationship Type="http://schemas.openxmlformats.org/officeDocument/2006/relationships/notesMaster" Target="/ppt/notesMasters/notesMaster1.xml" Id="R66e596fc349b42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4fd6927c7e4a3e" /><Relationship Type="http://schemas.openxmlformats.org/officeDocument/2006/relationships/notesMaster" Target="/ppt/notesMasters/notesMaster1.xml" Id="R52968a8c890a46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c24f6cff75451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96cda9beed149ad" /><Relationship Type="http://schemas.openxmlformats.org/officeDocument/2006/relationships/slideLayout" Target="/ppt/slideLayouts/slideLayout2.xml" Id="R1186d602051c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86d602051c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c24d188f9620408b" /><Relationship Type="http://schemas.openxmlformats.org/officeDocument/2006/relationships/image" Target="/ppt/media/image.png" Id="R9fcd05b107a24b8d" /><Relationship Type="http://schemas.openxmlformats.org/officeDocument/2006/relationships/image" Target="/ppt/media/image2.png" Id="R2793ac5df44f467e" /><Relationship Type="http://schemas.openxmlformats.org/officeDocument/2006/relationships/image" Target="/ppt/media/image3.png" Id="Rb45a31b4318047ee" /><Relationship Type="http://schemas.openxmlformats.org/officeDocument/2006/relationships/notesSlide" Target="/ppt/notesSlides/notesSlide1.xml" Id="Rb02e54a51e0d4d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ea3b26215584680" /><Relationship Type="http://schemas.openxmlformats.org/officeDocument/2006/relationships/image" Target="/ppt/media/image4.png" Id="R6d6c07d106504406" /><Relationship Type="http://schemas.openxmlformats.org/officeDocument/2006/relationships/notesSlide" Target="/ppt/notesSlides/notesSlide2.xml" Id="R4173891dee2a45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cb8142b01074501" /><Relationship Type="http://schemas.openxmlformats.org/officeDocument/2006/relationships/notesSlide" Target="/ppt/notesSlides/notesSlide3.xml" Id="Rd1733dba500a49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01902b1a3a143a0" /><Relationship Type="http://schemas.openxmlformats.org/officeDocument/2006/relationships/image" Target="/ppt/media/image5.png" Id="Rb6bdb867f7e8483c" /><Relationship Type="http://schemas.openxmlformats.org/officeDocument/2006/relationships/notesSlide" Target="/ppt/notesSlides/notesSlide4.xml" Id="R26de11a8adec48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2c60577ded441fe" /><Relationship Type="http://schemas.openxmlformats.org/officeDocument/2006/relationships/image" Target="/ppt/media/image6.png" Id="Rcbb31fad87f44d4d" /><Relationship Type="http://schemas.openxmlformats.org/officeDocument/2006/relationships/notesSlide" Target="/ppt/notesSlides/notesSlide5.xml" Id="R1ddfa0eb88df4b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2cef4ccc8a14458" /><Relationship Type="http://schemas.openxmlformats.org/officeDocument/2006/relationships/notesSlide" Target="/ppt/notesSlides/notesSlide6.xml" Id="Re32018d9bdc440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63c169b507b44d1" /><Relationship Type="http://schemas.openxmlformats.org/officeDocument/2006/relationships/image" Target="/ppt/media/image7.png" Id="Rffc951f6e09e4625" /><Relationship Type="http://schemas.openxmlformats.org/officeDocument/2006/relationships/notesSlide" Target="/ppt/notesSlides/notesSlide7.xml" Id="Rc4529c57286148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eeb430721784d76" /><Relationship Type="http://schemas.openxmlformats.org/officeDocument/2006/relationships/image" Target="/ppt/media/image8.png" Id="Ra1f9bf998fd244ce" /><Relationship Type="http://schemas.openxmlformats.org/officeDocument/2006/relationships/image" Target="/ppt/media/image9.png" Id="R7fa3cebdbbbe4726" /><Relationship Type="http://schemas.openxmlformats.org/officeDocument/2006/relationships/image" Target="/ppt/media/image10.png" Id="R83c1887ce6984ad8" /><Relationship Type="http://schemas.openxmlformats.org/officeDocument/2006/relationships/image" Target="/ppt/media/image11.png" Id="Ra437fe2afd264522" /><Relationship Type="http://schemas.openxmlformats.org/officeDocument/2006/relationships/notesSlide" Target="/ppt/notesSlides/notesSlide8.xml" Id="Refe7d8c0662441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1f715df68de4a1e" /><Relationship Type="http://schemas.openxmlformats.org/officeDocument/2006/relationships/image" Target="/ppt/media/image12.png" Id="R033436a07363488c" /><Relationship Type="http://schemas.openxmlformats.org/officeDocument/2006/relationships/image" Target="/ppt/media/image13.png" Id="R0d2360f7eec24f53" /><Relationship Type="http://schemas.openxmlformats.org/officeDocument/2006/relationships/image" Target="/ppt/media/image14.png" Id="R9195c36bf2eb4ac9" /><Relationship Type="http://schemas.openxmlformats.org/officeDocument/2006/relationships/image" Target="/ppt/media/image15.png" Id="R803b14b1caba4bf8" /><Relationship Type="http://schemas.openxmlformats.org/officeDocument/2006/relationships/notesSlide" Target="/ppt/notesSlides/notesSlide9.xml" Id="Re2d60e77979b44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d91d4e2c6b34bb0" /><Relationship Type="http://schemas.openxmlformats.org/officeDocument/2006/relationships/image" Target="/ppt/media/image16.png" Id="R2c336a93215249b0" /><Relationship Type="http://schemas.openxmlformats.org/officeDocument/2006/relationships/image" Target="/ppt/media/image17.png" Id="R25886c6b8463486c" /><Relationship Type="http://schemas.openxmlformats.org/officeDocument/2006/relationships/image" Target="/ppt/media/image18.png" Id="Rcb6637c6bc8a43d4" /><Relationship Type="http://schemas.openxmlformats.org/officeDocument/2006/relationships/image" Target="/ppt/media/image19.png" Id="R9c0c3e1250554cc2" /><Relationship Type="http://schemas.openxmlformats.org/officeDocument/2006/relationships/notesSlide" Target="/ppt/notesSlides/notesSlide10.xml" Id="Rcfd7f066f2e54e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6ad2f89231b42bd" /><Relationship Type="http://schemas.openxmlformats.org/officeDocument/2006/relationships/image" Target="/ppt/media/image20.png" Id="Rd8d30a835d4a4b31" /><Relationship Type="http://schemas.openxmlformats.org/officeDocument/2006/relationships/image" Target="/ppt/media/image21.png" Id="R1b53fe20e8dd440a" /><Relationship Type="http://schemas.openxmlformats.org/officeDocument/2006/relationships/notesSlide" Target="/ppt/notesSlides/notesSlide11.xml" Id="R63c42c9285d547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cce144d642749d4" /><Relationship Type="http://schemas.openxmlformats.org/officeDocument/2006/relationships/notesSlide" Target="/ppt/notesSlides/notesSlide12.xml" Id="R43d8740d42774f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6cb26d3ead2421c" /><Relationship Type="http://schemas.openxmlformats.org/officeDocument/2006/relationships/notesSlide" Target="/ppt/notesSlides/notesSlide13.xml" Id="R13fdfdf6b35346f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43CEE4-1172-4FD5-ACD8-D854FD35F8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F96827-3D32-4ACF-A6A6-9ACA2819687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0495E01-6A6D-4B72-8533-57C176287E1A}"/>
              </a:ext>
            </a:extLst>
          </p:cNvPr>
          <p:cNvSpPr>
            <a:spLocks xmlns:a="http://schemas.openxmlformats.org/drawingml/2006/main" noGrp="1"/>
          </p:cNvSpPr>
          <p:nvPr/>
        </p:nvSpPr>
        <p:spPr>
          <a:xfrm xmlns:a="http://schemas.openxmlformats.org/drawingml/2006/main">
            <a:off x="609600" y="59055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BEBC8D2-34B8-409B-A654-60CD3D222007}"/>
              </a:ext>
            </a:extLst>
          </p:cNvPr>
          <p:cNvSpPr>
            <a:spLocks xmlns:a="http://schemas.openxmlformats.org/drawingml/2006/main" noGrp="1"/>
          </p:cNvSpPr>
          <p:nvPr/>
        </p:nvSpPr>
        <p:spPr>
          <a:xfrm xmlns:a="http://schemas.openxmlformats.org/drawingml/2006/main">
            <a:off x="914400" y="51435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7F7D8"/>
                </a:solidFill>
                <a:latin typeface="Aptos"/>
                <a:ea typeface="Aptos"/>
                <a:cs typeface="Aptos"/>
              </a:defRPr>
            </a:pPr>
            <a:r>
              <a:rPr sz="975" b="1">
                <a:solidFill>
                  <a:srgbClr val="B7F7D8"/>
                </a:solidFill>
                <a:latin typeface="Aptos"/>
                <a:ea typeface="Aptos"/>
                <a:cs typeface="Aptos"/>
              </a:rPr>
              <a:t>ĐỒ ÁN CƠ SỞ CÔNG NGHỆ THÔNG TIN</a:t>
            </a:r>
          </a:p>
        </p:txBody>
      </p:sp>
      <p:sp>
        <p:nvSpPr>
          <p:cNvPr id="5" name="">
            <a:extLst xmlns:a="http://schemas.openxmlformats.org/drawingml/2006/main">
              <a:ext uri="{FF2B5EF4-FFF2-40B4-BE49-F238E27FC236}">
                <a16:creationId xmlns:a16="http://schemas.microsoft.com/office/drawing/2014/main" id="{E46A219A-79EC-4EC9-8350-BBF6A784D811}"/>
              </a:ext>
            </a:extLst>
          </p:cNvPr>
          <p:cNvSpPr>
            <a:spLocks xmlns:a="http://schemas.openxmlformats.org/drawingml/2006/main" noGrp="1"/>
          </p:cNvSpPr>
          <p:nvPr/>
        </p:nvSpPr>
        <p:spPr>
          <a:xfrm xmlns:a="http://schemas.openxmlformats.org/drawingml/2006/main">
            <a:off x="609600" y="1047750"/>
            <a:ext cx="65722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Hệ thống quản lý học tập trực tuyến LMS</a:t>
            </a:r>
          </a:p>
        </p:txBody>
      </p:sp>
      <p:sp>
        <p:nvSpPr>
          <p:cNvPr id="6" name="">
            <a:extLst xmlns:a="http://schemas.openxmlformats.org/drawingml/2006/main">
              <a:ext uri="{FF2B5EF4-FFF2-40B4-BE49-F238E27FC236}">
                <a16:creationId xmlns:a16="http://schemas.microsoft.com/office/drawing/2014/main" id="{0A8FB952-0E56-40ED-8F7B-1CF2AC5C600C}"/>
              </a:ext>
            </a:extLst>
          </p:cNvPr>
          <p:cNvSpPr>
            <a:spLocks xmlns:a="http://schemas.openxmlformats.org/drawingml/2006/main" noGrp="1"/>
          </p:cNvSpPr>
          <p:nvPr/>
        </p:nvSpPr>
        <p:spPr>
          <a:xfrm xmlns:a="http://schemas.openxmlformats.org/drawingml/2006/main">
            <a:off x="647700" y="2781300"/>
            <a:ext cx="5715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8FBE8"/>
                </a:solidFill>
                <a:latin typeface="Aptos"/>
                <a:ea typeface="Aptos"/>
                <a:cs typeface="Aptos"/>
              </a:defRPr>
            </a:pPr>
            <a:r>
              <a:rPr sz="1800" b="0">
                <a:solidFill>
                  <a:srgbClr val="D8FBE8"/>
                </a:solidFill>
                <a:latin typeface="Aptos"/>
                <a:ea typeface="Aptos"/>
                <a:cs typeface="Aptos"/>
              </a:rPr>
              <a:t>Website quản lý lớp học, lịch học, điểm danh QR và hồ sơ học tập theo vai trò.</a:t>
            </a:r>
          </a:p>
        </p:txBody>
      </p:sp>
      <p:sp>
        <p:nvSpPr>
          <p:cNvPr id="7" name="">
            <a:extLst xmlns:a="http://schemas.openxmlformats.org/drawingml/2006/main">
              <a:ext uri="{FF2B5EF4-FFF2-40B4-BE49-F238E27FC236}">
                <a16:creationId xmlns:a16="http://schemas.microsoft.com/office/drawing/2014/main" id="{A322392C-C022-4D8E-BBF5-E9AFD341FFA8}"/>
              </a:ext>
            </a:extLst>
          </p:cNvPr>
          <p:cNvSpPr>
            <a:spLocks xmlns:a="http://schemas.openxmlformats.org/drawingml/2006/main" noGrp="1"/>
          </p:cNvSpPr>
          <p:nvPr/>
        </p:nvSpPr>
        <p:spPr>
          <a:xfrm xmlns:a="http://schemas.openxmlformats.org/drawingml/2006/main">
            <a:off x="666750" y="3886200"/>
            <a:ext cx="1733550" cy="781050"/>
          </a:xfrm>
          <a:prstGeom xmlns:a="http://schemas.openxmlformats.org/drawingml/2006/main" prst="rect">
            <a:avLst/>
          </a:prstGeom>
          <a:solidFill xmlns:a="http://schemas.openxmlformats.org/drawingml/2006/main">
            <a:srgbClr val="0E2A23"/>
          </a:solidFill>
          <a:ln xmlns:a="http://schemas.openxmlformats.org/drawingml/2006/main" w="9525">
            <a:solidFill>
              <a:srgbClr val="164B3A"/>
            </a:solidFill>
            <a:prstDash val="solid"/>
          </a:ln>
        </p:spPr>
      </p:sp>
      <p:sp>
        <p:nvSpPr>
          <p:cNvPr id="8" name="">
            <a:extLst xmlns:a="http://schemas.openxmlformats.org/drawingml/2006/main">
              <a:ext uri="{FF2B5EF4-FFF2-40B4-BE49-F238E27FC236}">
                <a16:creationId xmlns:a16="http://schemas.microsoft.com/office/drawing/2014/main" id="{D6174089-08E2-4732-A2A8-72CB6F18E974}"/>
              </a:ext>
            </a:extLst>
          </p:cNvPr>
          <p:cNvSpPr>
            <a:spLocks xmlns:a="http://schemas.openxmlformats.org/drawingml/2006/main" noGrp="1"/>
          </p:cNvSpPr>
          <p:nvPr/>
        </p:nvSpPr>
        <p:spPr>
          <a:xfrm xmlns:a="http://schemas.openxmlformats.org/drawingml/2006/main">
            <a:off x="838200" y="4000500"/>
            <a:ext cx="1390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B981"/>
                </a:solidFill>
                <a:latin typeface="Aptos"/>
                <a:ea typeface="Aptos"/>
                <a:cs typeface="Aptos"/>
              </a:defRPr>
            </a:pPr>
            <a:r>
              <a:rPr sz="2100" b="1">
                <a:solidFill>
                  <a:srgbClr val="10B981"/>
                </a:solidFill>
                <a:latin typeface="Aptos"/>
                <a:ea typeface="Aptos"/>
                <a:cs typeface="Aptos"/>
              </a:rPr>
              <a:t>3 vai trò</a:t>
            </a:r>
          </a:p>
        </p:txBody>
      </p:sp>
      <p:sp>
        <p:nvSpPr>
          <p:cNvPr id="9" name="">
            <a:extLst xmlns:a="http://schemas.openxmlformats.org/drawingml/2006/main">
              <a:ext uri="{FF2B5EF4-FFF2-40B4-BE49-F238E27FC236}">
                <a16:creationId xmlns:a16="http://schemas.microsoft.com/office/drawing/2014/main" id="{897A69CF-634F-41A8-8490-7DFEA8F46741}"/>
              </a:ext>
            </a:extLst>
          </p:cNvPr>
          <p:cNvSpPr>
            <a:spLocks xmlns:a="http://schemas.openxmlformats.org/drawingml/2006/main" noGrp="1"/>
          </p:cNvSpPr>
          <p:nvPr/>
        </p:nvSpPr>
        <p:spPr>
          <a:xfrm xmlns:a="http://schemas.openxmlformats.org/drawingml/2006/main">
            <a:off x="838200" y="4343400"/>
            <a:ext cx="1390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9F6DD"/>
                </a:solidFill>
                <a:latin typeface="Aptos"/>
                <a:ea typeface="Aptos"/>
                <a:cs typeface="Aptos"/>
              </a:defRPr>
            </a:pPr>
            <a:r>
              <a:rPr sz="975" b="0">
                <a:solidFill>
                  <a:srgbClr val="C9F6DD"/>
                </a:solidFill>
                <a:latin typeface="Aptos"/>
                <a:ea typeface="Aptos"/>
                <a:cs typeface="Aptos"/>
              </a:rPr>
              <a:t>Admin · Giảng viên · Sinh viên</a:t>
            </a:r>
          </a:p>
        </p:txBody>
      </p:sp>
      <p:sp>
        <p:nvSpPr>
          <p:cNvPr id="10" name="">
            <a:extLst xmlns:a="http://schemas.openxmlformats.org/drawingml/2006/main">
              <a:ext uri="{FF2B5EF4-FFF2-40B4-BE49-F238E27FC236}">
                <a16:creationId xmlns:a16="http://schemas.microsoft.com/office/drawing/2014/main" id="{2BD2FF62-0285-4B11-8ADE-CD2298474DD2}"/>
              </a:ext>
            </a:extLst>
          </p:cNvPr>
          <p:cNvSpPr>
            <a:spLocks xmlns:a="http://schemas.openxmlformats.org/drawingml/2006/main" noGrp="1"/>
          </p:cNvSpPr>
          <p:nvPr/>
        </p:nvSpPr>
        <p:spPr>
          <a:xfrm xmlns:a="http://schemas.openxmlformats.org/drawingml/2006/main">
            <a:off x="2609850" y="3886200"/>
            <a:ext cx="2190750" cy="781050"/>
          </a:xfrm>
          <a:prstGeom xmlns:a="http://schemas.openxmlformats.org/drawingml/2006/main" prst="rect">
            <a:avLst/>
          </a:prstGeom>
          <a:solidFill xmlns:a="http://schemas.openxmlformats.org/drawingml/2006/main">
            <a:srgbClr val="0E2A23"/>
          </a:solidFill>
          <a:ln xmlns:a="http://schemas.openxmlformats.org/drawingml/2006/main" w="9525">
            <a:solidFill>
              <a:srgbClr val="164B3A"/>
            </a:solidFill>
            <a:prstDash val="solid"/>
          </a:ln>
        </p:spPr>
      </p:sp>
      <p:sp>
        <p:nvSpPr>
          <p:cNvPr id="11" name="">
            <a:extLst xmlns:a="http://schemas.openxmlformats.org/drawingml/2006/main">
              <a:ext uri="{FF2B5EF4-FFF2-40B4-BE49-F238E27FC236}">
                <a16:creationId xmlns:a16="http://schemas.microsoft.com/office/drawing/2014/main" id="{D542A015-418F-4A2B-B7FC-9AC039AF49B4}"/>
              </a:ext>
            </a:extLst>
          </p:cNvPr>
          <p:cNvSpPr>
            <a:spLocks xmlns:a="http://schemas.openxmlformats.org/drawingml/2006/main" noGrp="1"/>
          </p:cNvSpPr>
          <p:nvPr/>
        </p:nvSpPr>
        <p:spPr>
          <a:xfrm xmlns:a="http://schemas.openxmlformats.org/drawingml/2006/main">
            <a:off x="2781300" y="4000500"/>
            <a:ext cx="1847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B981"/>
                </a:solidFill>
                <a:latin typeface="Aptos"/>
                <a:ea typeface="Aptos"/>
                <a:cs typeface="Aptos"/>
              </a:defRPr>
            </a:pPr>
            <a:r>
              <a:rPr sz="2100" b="1">
                <a:solidFill>
                  <a:srgbClr val="10B981"/>
                </a:solidFill>
                <a:latin typeface="Aptos"/>
                <a:ea typeface="Aptos"/>
                <a:cs typeface="Aptos"/>
              </a:rPr>
              <a:t>QR</a:t>
            </a:r>
          </a:p>
        </p:txBody>
      </p:sp>
      <p:sp>
        <p:nvSpPr>
          <p:cNvPr id="12" name="">
            <a:extLst xmlns:a="http://schemas.openxmlformats.org/drawingml/2006/main">
              <a:ext uri="{FF2B5EF4-FFF2-40B4-BE49-F238E27FC236}">
                <a16:creationId xmlns:a16="http://schemas.microsoft.com/office/drawing/2014/main" id="{51ABE4E8-3684-4B44-978F-11B3ABB40D49}"/>
              </a:ext>
            </a:extLst>
          </p:cNvPr>
          <p:cNvSpPr>
            <a:spLocks xmlns:a="http://schemas.openxmlformats.org/drawingml/2006/main" noGrp="1"/>
          </p:cNvSpPr>
          <p:nvPr/>
        </p:nvSpPr>
        <p:spPr>
          <a:xfrm xmlns:a="http://schemas.openxmlformats.org/drawingml/2006/main">
            <a:off x="2781300" y="4343400"/>
            <a:ext cx="1847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9F6DD"/>
                </a:solidFill>
                <a:latin typeface="Aptos"/>
                <a:ea typeface="Aptos"/>
                <a:cs typeface="Aptos"/>
              </a:defRPr>
            </a:pPr>
            <a:r>
              <a:rPr sz="975" b="0">
                <a:solidFill>
                  <a:srgbClr val="C9F6DD"/>
                </a:solidFill>
                <a:latin typeface="Aptos"/>
                <a:ea typeface="Aptos"/>
                <a:cs typeface="Aptos"/>
              </a:rPr>
              <a:t>Điểm danh bằng token có thời hạn</a:t>
            </a:r>
          </a:p>
        </p:txBody>
      </p:sp>
      <p:sp>
        <p:nvSpPr>
          <p:cNvPr id="13" name="">
            <a:extLst xmlns:a="http://schemas.openxmlformats.org/drawingml/2006/main">
              <a:ext uri="{FF2B5EF4-FFF2-40B4-BE49-F238E27FC236}">
                <a16:creationId xmlns:a16="http://schemas.microsoft.com/office/drawing/2014/main" id="{66416B7D-7C1C-456B-A695-D7C463E8394E}"/>
              </a:ext>
            </a:extLst>
          </p:cNvPr>
          <p:cNvSpPr>
            <a:spLocks xmlns:a="http://schemas.openxmlformats.org/drawingml/2006/main" noGrp="1"/>
          </p:cNvSpPr>
          <p:nvPr/>
        </p:nvSpPr>
        <p:spPr>
          <a:xfrm xmlns:a="http://schemas.openxmlformats.org/drawingml/2006/main">
            <a:off x="5010150" y="3886200"/>
            <a:ext cx="2381250" cy="781050"/>
          </a:xfrm>
          <a:prstGeom xmlns:a="http://schemas.openxmlformats.org/drawingml/2006/main" prst="rect">
            <a:avLst/>
          </a:prstGeom>
          <a:solidFill xmlns:a="http://schemas.openxmlformats.org/drawingml/2006/main">
            <a:srgbClr val="0E2A23"/>
          </a:solidFill>
          <a:ln xmlns:a="http://schemas.openxmlformats.org/drawingml/2006/main" w="9525">
            <a:solidFill>
              <a:srgbClr val="164B3A"/>
            </a:solidFill>
            <a:prstDash val="solid"/>
          </a:ln>
        </p:spPr>
      </p:sp>
      <p:sp>
        <p:nvSpPr>
          <p:cNvPr id="14" name="">
            <a:extLst xmlns:a="http://schemas.openxmlformats.org/drawingml/2006/main">
              <a:ext uri="{FF2B5EF4-FFF2-40B4-BE49-F238E27FC236}">
                <a16:creationId xmlns:a16="http://schemas.microsoft.com/office/drawing/2014/main" id="{B45C2C89-87A5-4C73-A263-9BD01A1191B9}"/>
              </a:ext>
            </a:extLst>
          </p:cNvPr>
          <p:cNvSpPr>
            <a:spLocks xmlns:a="http://schemas.openxmlformats.org/drawingml/2006/main" noGrp="1"/>
          </p:cNvSpPr>
          <p:nvPr/>
        </p:nvSpPr>
        <p:spPr>
          <a:xfrm xmlns:a="http://schemas.openxmlformats.org/drawingml/2006/main">
            <a:off x="5181600" y="4000500"/>
            <a:ext cx="2038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B981"/>
                </a:solidFill>
                <a:latin typeface="Aptos"/>
                <a:ea typeface="Aptos"/>
                <a:cs typeface="Aptos"/>
              </a:defRPr>
            </a:pPr>
            <a:r>
              <a:rPr sz="2100" b="1">
                <a:solidFill>
                  <a:srgbClr val="10B981"/>
                </a:solidFill>
                <a:latin typeface="Aptos"/>
                <a:ea typeface="Aptos"/>
                <a:cs typeface="Aptos"/>
              </a:rPr>
              <a:t>Local</a:t>
            </a:r>
          </a:p>
        </p:txBody>
      </p:sp>
      <p:sp>
        <p:nvSpPr>
          <p:cNvPr id="15" name="">
            <a:extLst xmlns:a="http://schemas.openxmlformats.org/drawingml/2006/main">
              <a:ext uri="{FF2B5EF4-FFF2-40B4-BE49-F238E27FC236}">
                <a16:creationId xmlns:a16="http://schemas.microsoft.com/office/drawing/2014/main" id="{A3691AE7-B7F7-4DE3-BEF7-DEE3B8B68385}"/>
              </a:ext>
            </a:extLst>
          </p:cNvPr>
          <p:cNvSpPr>
            <a:spLocks xmlns:a="http://schemas.openxmlformats.org/drawingml/2006/main" noGrp="1"/>
          </p:cNvSpPr>
          <p:nvPr/>
        </p:nvSpPr>
        <p:spPr>
          <a:xfrm xmlns:a="http://schemas.openxmlformats.org/drawingml/2006/main">
            <a:off x="5181600" y="4343400"/>
            <a:ext cx="2038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9F6DD"/>
                </a:solidFill>
                <a:latin typeface="Aptos"/>
                <a:ea typeface="Aptos"/>
                <a:cs typeface="Aptos"/>
              </a:defRPr>
            </a:pPr>
            <a:r>
              <a:rPr sz="975" b="0">
                <a:solidFill>
                  <a:srgbClr val="C9F6DD"/>
                </a:solidFill>
                <a:latin typeface="Aptos"/>
                <a:ea typeface="Aptos"/>
                <a:cs typeface="Aptos"/>
              </a:rPr>
              <a:t>Chạy thử nghiệm trên môi trường project</a:t>
            </a:r>
          </a:p>
        </p:txBody>
      </p:sp>
      <p:sp>
        <p:nvSpPr>
          <p:cNvPr id="16" name="">
            <a:extLst xmlns:a="http://schemas.openxmlformats.org/drawingml/2006/main">
              <a:ext uri="{FF2B5EF4-FFF2-40B4-BE49-F238E27FC236}">
                <a16:creationId xmlns:a16="http://schemas.microsoft.com/office/drawing/2014/main" id="{5AAE0AE8-BC24-469B-85F1-6593D9A4E692}"/>
              </a:ext>
            </a:extLst>
          </p:cNvPr>
          <p:cNvSpPr>
            <a:spLocks xmlns:a="http://schemas.openxmlformats.org/drawingml/2006/main" noGrp="1"/>
          </p:cNvSpPr>
          <p:nvPr/>
        </p:nvSpPr>
        <p:spPr>
          <a:xfrm xmlns:a="http://schemas.openxmlformats.org/drawingml/2006/main">
            <a:off x="7810500" y="742950"/>
            <a:ext cx="3314700" cy="20002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17" name="">
            <a:extLst xmlns:a="http://schemas.openxmlformats.org/drawingml/2006/main">
              <a:ext uri="{FF2B5EF4-FFF2-40B4-BE49-F238E27FC236}">
                <a16:creationId xmlns:a16="http://schemas.microsoft.com/office/drawing/2014/main" id="{D1EE1F5D-7F83-4A5C-BFFA-7608B236DABE}"/>
              </a:ext>
            </a:extLst>
          </p:cNvPr>
          <p:cNvSpPr>
            <a:spLocks xmlns:a="http://schemas.openxmlformats.org/drawingml/2006/main" noGrp="1"/>
          </p:cNvSpPr>
          <p:nvPr/>
        </p:nvSpPr>
        <p:spPr>
          <a:xfrm xmlns:a="http://schemas.openxmlformats.org/drawingml/2006/main">
            <a:off x="7810500" y="742950"/>
            <a:ext cx="331470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15C5FAF-7076-4D08-AF10-0D8447E8017D}"/>
              </a:ext>
            </a:extLst>
          </p:cNvPr>
          <p:cNvSpPr>
            <a:spLocks xmlns:a="http://schemas.openxmlformats.org/drawingml/2006/main" noGrp="1"/>
          </p:cNvSpPr>
          <p:nvPr/>
        </p:nvSpPr>
        <p:spPr>
          <a:xfrm xmlns:a="http://schemas.openxmlformats.org/drawingml/2006/main">
            <a:off x="7924800" y="8286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AE572BD-3244-4384-81E6-622EBB811E1C}"/>
              </a:ext>
            </a:extLst>
          </p:cNvPr>
          <p:cNvSpPr>
            <a:spLocks xmlns:a="http://schemas.openxmlformats.org/drawingml/2006/main" noGrp="1"/>
          </p:cNvSpPr>
          <p:nvPr/>
        </p:nvSpPr>
        <p:spPr>
          <a:xfrm xmlns:a="http://schemas.openxmlformats.org/drawingml/2006/main">
            <a:off x="8039100" y="8286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4B8299F-9E86-4074-979F-48198F4F640B}"/>
              </a:ext>
            </a:extLst>
          </p:cNvPr>
          <p:cNvSpPr>
            <a:spLocks xmlns:a="http://schemas.openxmlformats.org/drawingml/2006/main" noGrp="1"/>
          </p:cNvSpPr>
          <p:nvPr/>
        </p:nvSpPr>
        <p:spPr>
          <a:xfrm xmlns:a="http://schemas.openxmlformats.org/drawingml/2006/main">
            <a:off x="8153400" y="8286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fcd05b107a24b8d"/>
          <a:srcRect xmlns:a="http://schemas.openxmlformats.org/drawingml/2006/main" l="0" t="4462" r="0" b="4462"/>
          <a:stretch xmlns:a="http://schemas.openxmlformats.org/drawingml/2006/main">
            <a:fillRect l="0" t="0" r="0" b="0"/>
          </a:stretch>
        </p:blipFill>
        <p:spPr>
          <a:xfrm xmlns:a="http://schemas.openxmlformats.org/drawingml/2006/main">
            <a:off x="7886700" y="1047750"/>
            <a:ext cx="3162300" cy="16192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2B00D87-67CE-4F8E-B0EE-3146EE9EE2AB}"/>
              </a:ext>
            </a:extLst>
          </p:cNvPr>
          <p:cNvSpPr>
            <a:spLocks xmlns:a="http://schemas.openxmlformats.org/drawingml/2006/main" noGrp="1"/>
          </p:cNvSpPr>
          <p:nvPr/>
        </p:nvSpPr>
        <p:spPr>
          <a:xfrm xmlns:a="http://schemas.openxmlformats.org/drawingml/2006/main">
            <a:off x="7924800" y="2524125"/>
            <a:ext cx="3086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Trang chủ</a:t>
            </a:r>
          </a:p>
        </p:txBody>
      </p:sp>
      <p:sp>
        <p:nvSpPr>
          <p:cNvPr id="23" name="">
            <a:extLst xmlns:a="http://schemas.openxmlformats.org/drawingml/2006/main">
              <a:ext uri="{FF2B5EF4-FFF2-40B4-BE49-F238E27FC236}">
                <a16:creationId xmlns:a16="http://schemas.microsoft.com/office/drawing/2014/main" id="{C9361062-F61A-4823-A156-DDB25947E003}"/>
              </a:ext>
            </a:extLst>
          </p:cNvPr>
          <p:cNvSpPr>
            <a:spLocks xmlns:a="http://schemas.openxmlformats.org/drawingml/2006/main" noGrp="1"/>
          </p:cNvSpPr>
          <p:nvPr/>
        </p:nvSpPr>
        <p:spPr>
          <a:xfrm xmlns:a="http://schemas.openxmlformats.org/drawingml/2006/main">
            <a:off x="7239000" y="3028950"/>
            <a:ext cx="4000500" cy="23812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24" name="">
            <a:extLst xmlns:a="http://schemas.openxmlformats.org/drawingml/2006/main">
              <a:ext uri="{FF2B5EF4-FFF2-40B4-BE49-F238E27FC236}">
                <a16:creationId xmlns:a16="http://schemas.microsoft.com/office/drawing/2014/main" id="{A66A3AB5-D359-4A6E-8127-2E2644506B0B}"/>
              </a:ext>
            </a:extLst>
          </p:cNvPr>
          <p:cNvSpPr>
            <a:spLocks xmlns:a="http://schemas.openxmlformats.org/drawingml/2006/main" noGrp="1"/>
          </p:cNvSpPr>
          <p:nvPr/>
        </p:nvSpPr>
        <p:spPr>
          <a:xfrm xmlns:a="http://schemas.openxmlformats.org/drawingml/2006/main">
            <a:off x="7239000" y="3028950"/>
            <a:ext cx="400050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B79BD59A-6473-4A31-AA89-2682AA622893}"/>
              </a:ext>
            </a:extLst>
          </p:cNvPr>
          <p:cNvSpPr>
            <a:spLocks xmlns:a="http://schemas.openxmlformats.org/drawingml/2006/main" noGrp="1"/>
          </p:cNvSpPr>
          <p:nvPr/>
        </p:nvSpPr>
        <p:spPr>
          <a:xfrm xmlns:a="http://schemas.openxmlformats.org/drawingml/2006/main">
            <a:off x="7353300" y="31146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E0086FD-896E-4C26-A059-34DE4DAA39D9}"/>
              </a:ext>
            </a:extLst>
          </p:cNvPr>
          <p:cNvSpPr>
            <a:spLocks xmlns:a="http://schemas.openxmlformats.org/drawingml/2006/main" noGrp="1"/>
          </p:cNvSpPr>
          <p:nvPr/>
        </p:nvSpPr>
        <p:spPr>
          <a:xfrm xmlns:a="http://schemas.openxmlformats.org/drawingml/2006/main">
            <a:off x="7467600" y="31146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C098AE3-BB51-4CF4-8914-856C31D9A47A}"/>
              </a:ext>
            </a:extLst>
          </p:cNvPr>
          <p:cNvSpPr>
            <a:spLocks xmlns:a="http://schemas.openxmlformats.org/drawingml/2006/main" noGrp="1"/>
          </p:cNvSpPr>
          <p:nvPr/>
        </p:nvSpPr>
        <p:spPr>
          <a:xfrm xmlns:a="http://schemas.openxmlformats.org/drawingml/2006/main">
            <a:off x="7581900" y="31146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793ac5df44f467e"/>
          <a:srcRect xmlns:a="http://schemas.openxmlformats.org/drawingml/2006/main" l="0" t="11810" r="0" b="11810"/>
          <a:stretch xmlns:a="http://schemas.openxmlformats.org/drawingml/2006/main">
            <a:fillRect l="0" t="0" r="0" b="0"/>
          </a:stretch>
        </p:blipFill>
        <p:spPr>
          <a:xfrm xmlns:a="http://schemas.openxmlformats.org/drawingml/2006/main">
            <a:off x="7315200" y="3333750"/>
            <a:ext cx="3848100" cy="20002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55DB0546-CC70-4DFC-B77D-A6F7AD9C78EB}"/>
              </a:ext>
            </a:extLst>
          </p:cNvPr>
          <p:cNvSpPr>
            <a:spLocks xmlns:a="http://schemas.openxmlformats.org/drawingml/2006/main" noGrp="1"/>
          </p:cNvSpPr>
          <p:nvPr/>
        </p:nvSpPr>
        <p:spPr>
          <a:xfrm xmlns:a="http://schemas.openxmlformats.org/drawingml/2006/main">
            <a:off x="7353300" y="5191125"/>
            <a:ext cx="3771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Đăng nhập</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45a31b4318047ee"/>
          <a:stretch xmlns:a="http://schemas.openxmlformats.org/drawingml/2006/main"/>
        </p:blipFill>
        <p:spPr>
          <a:xfrm xmlns:a="http://schemas.openxmlformats.org/drawingml/2006/main">
            <a:off x="666750" y="5148513"/>
            <a:ext cx="666750" cy="656724"/>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E1CABA0-164C-4722-9A5A-B9F1CC507686}"/>
              </a:ext>
            </a:extLst>
          </p:cNvPr>
          <p:cNvSpPr>
            <a:spLocks xmlns:a="http://schemas.openxmlformats.org/drawingml/2006/main" noGrp="1"/>
          </p:cNvSpPr>
          <p:nvPr/>
        </p:nvSpPr>
        <p:spPr>
          <a:xfrm xmlns:a="http://schemas.openxmlformats.org/drawingml/2006/main">
            <a:off x="1524000" y="5219700"/>
            <a:ext cx="476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8FBE8"/>
                </a:solidFill>
                <a:latin typeface="Aptos"/>
                <a:ea typeface="Aptos"/>
                <a:cs typeface="Aptos"/>
              </a:defRPr>
            </a:pPr>
            <a:r>
              <a:rPr sz="1350" b="0">
                <a:solidFill>
                  <a:srgbClr val="D8FBE8"/>
                </a:solidFill>
                <a:latin typeface="Aptos"/>
                <a:ea typeface="Aptos"/>
                <a:cs typeface="Aptos"/>
              </a:rPr>
              <a:t>GVHD: ThS. Trần Đăng Khoa</a:t>
            </a:r>
          </a:p>
          <a:p xmlns:a="http://schemas.openxmlformats.org/drawingml/2006/main">
            <a:pPr algn="l">
              <a:defRPr sz="1350" b="0">
                <a:solidFill>
                  <a:srgbClr val="D8FBE8"/>
                </a:solidFill>
                <a:latin typeface="Aptos"/>
                <a:ea typeface="Aptos"/>
                <a:cs typeface="Aptos"/>
              </a:defRPr>
            </a:pPr>
            <a:r>
              <a:rPr sz="1350" b="0">
                <a:solidFill>
                  <a:srgbClr val="D8FBE8"/>
                </a:solidFill>
                <a:latin typeface="Aptos"/>
                <a:ea typeface="Aptos"/>
                <a:cs typeface="Aptos"/>
              </a:rPr>
              <a:t>Sinh viên: Trần Tiến Đạt · MSSV: 2380611133</a:t>
            </a:r>
          </a:p>
        </p:txBody>
      </p:sp>
      <p:sp>
        <p:nvSpPr>
          <p:cNvPr id="32" name="">
            <a:extLst xmlns:a="http://schemas.openxmlformats.org/drawingml/2006/main">
              <a:ext uri="{FF2B5EF4-FFF2-40B4-BE49-F238E27FC236}">
                <a16:creationId xmlns:a16="http://schemas.microsoft.com/office/drawing/2014/main" id="{0F8624CE-604C-488F-AB4B-D4529C2A72D5}"/>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7F7D8"/>
                </a:solidFill>
                <a:latin typeface="Aptos"/>
                <a:ea typeface="Aptos"/>
                <a:cs typeface="Aptos"/>
              </a:defRPr>
            </a:pPr>
            <a:r>
              <a:rPr sz="900" b="0">
                <a:solidFill>
                  <a:srgbClr val="B7F7D8"/>
                </a:solidFill>
                <a:latin typeface="Aptos"/>
                <a:ea typeface="Aptos"/>
                <a:cs typeface="Aptos"/>
              </a:rPr>
              <a:t>Hệ thống quản lý học tập trực tuyến LMS</a:t>
            </a:r>
          </a:p>
        </p:txBody>
      </p:sp>
      <p:sp>
        <p:nvSpPr>
          <p:cNvPr id="33" name="">
            <a:extLst xmlns:a="http://schemas.openxmlformats.org/drawingml/2006/main">
              <a:ext uri="{FF2B5EF4-FFF2-40B4-BE49-F238E27FC236}">
                <a16:creationId xmlns:a16="http://schemas.microsoft.com/office/drawing/2014/main" id="{DC9A40F2-E08A-4743-B568-9185E7EFA26D}"/>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FFFFF"/>
                </a:solidFill>
                <a:latin typeface="Aptos"/>
                <a:ea typeface="Aptos"/>
                <a:cs typeface="Aptos"/>
              </a:defRPr>
            </a:pPr>
            <a:r>
              <a:rPr sz="975" b="1">
                <a:solidFill>
                  <a:srgbClr val="FFFFFF"/>
                </a:solidFill>
                <a:latin typeface="Aptos"/>
                <a:ea typeface="Aptos"/>
                <a:cs typeface="Aptos"/>
              </a:rPr>
              <a:t>01</a:t>
            </a:r>
          </a:p>
        </p:txBody>
      </p:sp>
    </p:spTree>
    <p:extLst>
      <p:ext uri="{BB962C8B-B14F-4D97-AF65-F5344CB8AC3E}">
        <p14:creationId xmlns:p14="http://schemas.microsoft.com/office/powerpoint/2010/main" val="722052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D4CFA9-5EBB-42A8-AE70-DA0FABEB97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8863759-6FB6-4815-B15E-C45E99B42EB4}"/>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A7EDE4B-1E79-4B3E-97A7-1E134815A3A9}"/>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THÀNH VIÊN THỰC HIỆN</a:t>
            </a:r>
          </a:p>
        </p:txBody>
      </p:sp>
      <p:sp>
        <p:nvSpPr>
          <p:cNvPr id="4" name="">
            <a:extLst xmlns:a="http://schemas.openxmlformats.org/drawingml/2006/main">
              <a:ext uri="{FF2B5EF4-FFF2-40B4-BE49-F238E27FC236}">
                <a16:creationId xmlns:a16="http://schemas.microsoft.com/office/drawing/2014/main" id="{AF02AD45-F569-46D5-9DAB-F54CC80B7FC2}"/>
              </a:ext>
            </a:extLst>
          </p:cNvPr>
          <p:cNvSpPr>
            <a:spLocks xmlns:a="http://schemas.openxmlformats.org/drawingml/2006/main" noGrp="1"/>
          </p:cNvSpPr>
          <p:nvPr/>
        </p:nvSpPr>
        <p:spPr>
          <a:xfrm xmlns:a="http://schemas.openxmlformats.org/drawingml/2006/main">
            <a:off x="609600" y="8001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71313"/>
                </a:solidFill>
                <a:latin typeface="Aptos Display"/>
                <a:ea typeface="Aptos Display"/>
                <a:cs typeface="Aptos Display"/>
              </a:defRPr>
            </a:pPr>
            <a:r>
              <a:rPr sz="3150" b="1">
                <a:solidFill>
                  <a:srgbClr val="071313"/>
                </a:solidFill>
                <a:latin typeface="Aptos Display"/>
                <a:ea typeface="Aptos Display"/>
                <a:cs typeface="Aptos Display"/>
              </a:rPr>
              <a:t>Một sinh viên phụ trách toàn bộ luồng xây dựng hệ thống</a:t>
            </a:r>
          </a:p>
        </p:txBody>
      </p:sp>
      <p:sp>
        <p:nvSpPr>
          <p:cNvPr id="5" name="">
            <a:extLst xmlns:a="http://schemas.openxmlformats.org/drawingml/2006/main">
              <a:ext uri="{FF2B5EF4-FFF2-40B4-BE49-F238E27FC236}">
                <a16:creationId xmlns:a16="http://schemas.microsoft.com/office/drawing/2014/main" id="{7D288574-C7D9-48E7-8A31-E75A095BB5F6}"/>
              </a:ext>
            </a:extLst>
          </p:cNvPr>
          <p:cNvSpPr>
            <a:spLocks xmlns:a="http://schemas.openxmlformats.org/drawingml/2006/main" noGrp="1"/>
          </p:cNvSpPr>
          <p:nvPr/>
        </p:nvSpPr>
        <p:spPr>
          <a:xfrm xmlns:a="http://schemas.openxmlformats.org/drawingml/2006/main">
            <a:off x="609600" y="2038350"/>
            <a:ext cx="4095750" cy="3314700"/>
          </a:xfrm>
          <a:prstGeom xmlns:a="http://schemas.openxmlformats.org/drawingml/2006/main" prst="rect">
            <a:avLst/>
          </a:prstGeom>
          <a:solidFill xmlns:a="http://schemas.openxmlformats.org/drawingml/2006/main">
            <a:srgbClr val="0B1F1A"/>
          </a:solidFill>
          <a:ln xmlns:a="http://schemas.openxmlformats.org/drawingml/2006/main" w="0">
            <a:solidFill>
              <a:srgbClr val="000000">
                <a:alpha val="0"/>
              </a:srgbClr>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d6c07d106504406"/>
          <a:stretch xmlns:a="http://schemas.openxmlformats.org/drawingml/2006/main"/>
        </p:blipFill>
        <p:spPr>
          <a:xfrm xmlns:a="http://schemas.openxmlformats.org/drawingml/2006/main">
            <a:off x="838200" y="2311925"/>
            <a:ext cx="914400" cy="900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00A5B32-D98A-486F-A030-D1FF38B1CA6D}"/>
              </a:ext>
            </a:extLst>
          </p:cNvPr>
          <p:cNvSpPr>
            <a:spLocks xmlns:a="http://schemas.openxmlformats.org/drawingml/2006/main" noGrp="1"/>
          </p:cNvSpPr>
          <p:nvPr/>
        </p:nvSpPr>
        <p:spPr>
          <a:xfrm xmlns:a="http://schemas.openxmlformats.org/drawingml/2006/main">
            <a:off x="2000250" y="2381250"/>
            <a:ext cx="2952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D8FBE8"/>
                </a:solidFill>
                <a:latin typeface="Aptos"/>
                <a:ea typeface="Aptos"/>
                <a:cs typeface="Aptos"/>
              </a:defRPr>
            </a:pPr>
            <a:r>
              <a:rPr sz="2100" b="1">
                <a:solidFill>
                  <a:srgbClr val="D8FBE8"/>
                </a:solidFill>
                <a:latin typeface="Aptos"/>
                <a:ea typeface="Aptos"/>
                <a:cs typeface="Aptos"/>
              </a:rPr>
              <a:t>Trần Tiến Đạt</a:t>
            </a:r>
          </a:p>
        </p:txBody>
      </p:sp>
      <p:sp>
        <p:nvSpPr>
          <p:cNvPr id="8" name="">
            <a:extLst xmlns:a="http://schemas.openxmlformats.org/drawingml/2006/main">
              <a:ext uri="{FF2B5EF4-FFF2-40B4-BE49-F238E27FC236}">
                <a16:creationId xmlns:a16="http://schemas.microsoft.com/office/drawing/2014/main" id="{E63DE94F-2E25-43D8-8616-0ADD8174684C}"/>
              </a:ext>
            </a:extLst>
          </p:cNvPr>
          <p:cNvSpPr>
            <a:spLocks xmlns:a="http://schemas.openxmlformats.org/drawingml/2006/main" noGrp="1"/>
          </p:cNvSpPr>
          <p:nvPr/>
        </p:nvSpPr>
        <p:spPr>
          <a:xfrm xmlns:a="http://schemas.openxmlformats.org/drawingml/2006/main">
            <a:off x="2000250" y="28003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8FBE8"/>
                </a:solidFill>
                <a:latin typeface="Aptos"/>
                <a:ea typeface="Aptos"/>
                <a:cs typeface="Aptos"/>
              </a:defRPr>
            </a:pPr>
            <a:r>
              <a:rPr sz="1425" b="0">
                <a:solidFill>
                  <a:srgbClr val="D8FBE8"/>
                </a:solidFill>
                <a:latin typeface="Aptos"/>
                <a:ea typeface="Aptos"/>
                <a:cs typeface="Aptos"/>
              </a:rPr>
              <a:t>MSSV: 2380611133</a:t>
            </a:r>
          </a:p>
        </p:txBody>
      </p:sp>
      <p:sp>
        <p:nvSpPr>
          <p:cNvPr id="9" name="">
            <a:extLst xmlns:a="http://schemas.openxmlformats.org/drawingml/2006/main">
              <a:ext uri="{FF2B5EF4-FFF2-40B4-BE49-F238E27FC236}">
                <a16:creationId xmlns:a16="http://schemas.microsoft.com/office/drawing/2014/main" id="{0EFF4B3A-72D9-43F8-BF0F-8D7A15E0CFB9}"/>
              </a:ext>
            </a:extLst>
          </p:cNvPr>
          <p:cNvSpPr>
            <a:spLocks xmlns:a="http://schemas.openxmlformats.org/drawingml/2006/main" noGrp="1"/>
          </p:cNvSpPr>
          <p:nvPr/>
        </p:nvSpPr>
        <p:spPr>
          <a:xfrm xmlns:a="http://schemas.openxmlformats.org/drawingml/2006/main">
            <a:off x="857250" y="35623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D8FBE8"/>
                </a:solidFill>
                <a:latin typeface="Aptos"/>
                <a:ea typeface="Aptos"/>
                <a:cs typeface="Aptos"/>
              </a:defRPr>
            </a:pPr>
            <a:r>
              <a:rPr sz="1200" b="1">
                <a:solidFill>
                  <a:srgbClr val="D8FBE8"/>
                </a:solidFill>
                <a:latin typeface="Aptos"/>
                <a:ea typeface="Aptos"/>
                <a:cs typeface="Aptos"/>
              </a:rPr>
              <a:t>Vai trò thực hiện</a:t>
            </a:r>
          </a:p>
        </p:txBody>
      </p:sp>
      <p:sp>
        <p:nvSpPr>
          <p:cNvPr id="10" name="">
            <a:extLst xmlns:a="http://schemas.openxmlformats.org/drawingml/2006/main">
              <a:ext uri="{FF2B5EF4-FFF2-40B4-BE49-F238E27FC236}">
                <a16:creationId xmlns:a16="http://schemas.microsoft.com/office/drawing/2014/main" id="{BA98DD80-886F-41D2-84E9-197375B0792D}"/>
              </a:ext>
            </a:extLst>
          </p:cNvPr>
          <p:cNvSpPr>
            <a:spLocks xmlns:a="http://schemas.openxmlformats.org/drawingml/2006/main" noGrp="1"/>
          </p:cNvSpPr>
          <p:nvPr/>
        </p:nvSpPr>
        <p:spPr>
          <a:xfrm xmlns:a="http://schemas.openxmlformats.org/drawingml/2006/main">
            <a:off x="857250" y="40481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EF640EB-199F-4B7D-BB13-F7D721BD7F28}"/>
              </a:ext>
            </a:extLst>
          </p:cNvPr>
          <p:cNvSpPr>
            <a:spLocks xmlns:a="http://schemas.openxmlformats.org/drawingml/2006/main" noGrp="1"/>
          </p:cNvSpPr>
          <p:nvPr/>
        </p:nvSpPr>
        <p:spPr>
          <a:xfrm xmlns:a="http://schemas.openxmlformats.org/drawingml/2006/main">
            <a:off x="1085850" y="3962400"/>
            <a:ext cx="3238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Phân tích yêu cầu</a:t>
            </a:r>
          </a:p>
        </p:txBody>
      </p:sp>
      <p:sp>
        <p:nvSpPr>
          <p:cNvPr id="12" name="">
            <a:extLst xmlns:a="http://schemas.openxmlformats.org/drawingml/2006/main">
              <a:ext uri="{FF2B5EF4-FFF2-40B4-BE49-F238E27FC236}">
                <a16:creationId xmlns:a16="http://schemas.microsoft.com/office/drawing/2014/main" id="{1BC6C056-0565-4BF4-AAE3-AB08F0B4117A}"/>
              </a:ext>
            </a:extLst>
          </p:cNvPr>
          <p:cNvSpPr>
            <a:spLocks xmlns:a="http://schemas.openxmlformats.org/drawingml/2006/main" noGrp="1"/>
          </p:cNvSpPr>
          <p:nvPr/>
        </p:nvSpPr>
        <p:spPr>
          <a:xfrm xmlns:a="http://schemas.openxmlformats.org/drawingml/2006/main">
            <a:off x="857250" y="44100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AD24B99-F582-4508-9E5A-2722956E384A}"/>
              </a:ext>
            </a:extLst>
          </p:cNvPr>
          <p:cNvSpPr>
            <a:spLocks xmlns:a="http://schemas.openxmlformats.org/drawingml/2006/main" noGrp="1"/>
          </p:cNvSpPr>
          <p:nvPr/>
        </p:nvSpPr>
        <p:spPr>
          <a:xfrm xmlns:a="http://schemas.openxmlformats.org/drawingml/2006/main">
            <a:off x="1085850" y="4324350"/>
            <a:ext cx="3238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Thiết kế giao diện</a:t>
            </a:r>
          </a:p>
        </p:txBody>
      </p:sp>
      <p:sp>
        <p:nvSpPr>
          <p:cNvPr id="14" name="">
            <a:extLst xmlns:a="http://schemas.openxmlformats.org/drawingml/2006/main">
              <a:ext uri="{FF2B5EF4-FFF2-40B4-BE49-F238E27FC236}">
                <a16:creationId xmlns:a16="http://schemas.microsoft.com/office/drawing/2014/main" id="{C2AA4B8C-555E-4946-9156-C2C5342A5E70}"/>
              </a:ext>
            </a:extLst>
          </p:cNvPr>
          <p:cNvSpPr>
            <a:spLocks xmlns:a="http://schemas.openxmlformats.org/drawingml/2006/main" noGrp="1"/>
          </p:cNvSpPr>
          <p:nvPr/>
        </p:nvSpPr>
        <p:spPr>
          <a:xfrm xmlns:a="http://schemas.openxmlformats.org/drawingml/2006/main">
            <a:off x="857250" y="47720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143630B-7744-46B2-9239-88DDF6E84D6E}"/>
              </a:ext>
            </a:extLst>
          </p:cNvPr>
          <p:cNvSpPr>
            <a:spLocks xmlns:a="http://schemas.openxmlformats.org/drawingml/2006/main" noGrp="1"/>
          </p:cNvSpPr>
          <p:nvPr/>
        </p:nvSpPr>
        <p:spPr>
          <a:xfrm xmlns:a="http://schemas.openxmlformats.org/drawingml/2006/main">
            <a:off x="1085850" y="4686300"/>
            <a:ext cx="3238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Xây dựng backend API</a:t>
            </a:r>
          </a:p>
        </p:txBody>
      </p:sp>
      <p:sp>
        <p:nvSpPr>
          <p:cNvPr id="16" name="">
            <a:extLst xmlns:a="http://schemas.openxmlformats.org/drawingml/2006/main">
              <a:ext uri="{FF2B5EF4-FFF2-40B4-BE49-F238E27FC236}">
                <a16:creationId xmlns:a16="http://schemas.microsoft.com/office/drawing/2014/main" id="{B38A7C72-1620-4BC4-882D-B0CCA9123ADD}"/>
              </a:ext>
            </a:extLst>
          </p:cNvPr>
          <p:cNvSpPr>
            <a:spLocks xmlns:a="http://schemas.openxmlformats.org/drawingml/2006/main" noGrp="1"/>
          </p:cNvSpPr>
          <p:nvPr/>
        </p:nvSpPr>
        <p:spPr>
          <a:xfrm xmlns:a="http://schemas.openxmlformats.org/drawingml/2006/main">
            <a:off x="857250" y="51339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3ACD9CB-531F-4A56-B8B7-B03566B06CA3}"/>
              </a:ext>
            </a:extLst>
          </p:cNvPr>
          <p:cNvSpPr>
            <a:spLocks xmlns:a="http://schemas.openxmlformats.org/drawingml/2006/main" noGrp="1"/>
          </p:cNvSpPr>
          <p:nvPr/>
        </p:nvSpPr>
        <p:spPr>
          <a:xfrm xmlns:a="http://schemas.openxmlformats.org/drawingml/2006/main">
            <a:off x="1085850" y="5048250"/>
            <a:ext cx="3238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Kiểm thử chức năng chính</a:t>
            </a:r>
          </a:p>
        </p:txBody>
      </p:sp>
      <p:sp>
        <p:nvSpPr>
          <p:cNvPr id="18" name="">
            <a:extLst xmlns:a="http://schemas.openxmlformats.org/drawingml/2006/main">
              <a:ext uri="{FF2B5EF4-FFF2-40B4-BE49-F238E27FC236}">
                <a16:creationId xmlns:a16="http://schemas.microsoft.com/office/drawing/2014/main" id="{01A843F6-5F52-4B1F-8872-D2ED71BA32BE}"/>
              </a:ext>
            </a:extLst>
          </p:cNvPr>
          <p:cNvSpPr>
            <a:spLocks xmlns:a="http://schemas.openxmlformats.org/drawingml/2006/main" noGrp="1"/>
          </p:cNvSpPr>
          <p:nvPr/>
        </p:nvSpPr>
        <p:spPr>
          <a:xfrm xmlns:a="http://schemas.openxmlformats.org/drawingml/2006/main">
            <a:off x="5143500" y="2190750"/>
            <a:ext cx="2476500" cy="135255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19" name="">
            <a:extLst xmlns:a="http://schemas.openxmlformats.org/drawingml/2006/main">
              <a:ext uri="{FF2B5EF4-FFF2-40B4-BE49-F238E27FC236}">
                <a16:creationId xmlns:a16="http://schemas.microsoft.com/office/drawing/2014/main" id="{B9F26692-2355-41DE-BB53-C31FE5DBCD51}"/>
              </a:ext>
            </a:extLst>
          </p:cNvPr>
          <p:cNvSpPr>
            <a:spLocks xmlns:a="http://schemas.openxmlformats.org/drawingml/2006/main" noGrp="1"/>
          </p:cNvSpPr>
          <p:nvPr/>
        </p:nvSpPr>
        <p:spPr>
          <a:xfrm xmlns:a="http://schemas.openxmlformats.org/drawingml/2006/main">
            <a:off x="5314950" y="2324100"/>
            <a:ext cx="2133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Frontend</a:t>
            </a:r>
          </a:p>
        </p:txBody>
      </p:sp>
      <p:sp>
        <p:nvSpPr>
          <p:cNvPr id="20" name="">
            <a:extLst xmlns:a="http://schemas.openxmlformats.org/drawingml/2006/main">
              <a:ext uri="{FF2B5EF4-FFF2-40B4-BE49-F238E27FC236}">
                <a16:creationId xmlns:a16="http://schemas.microsoft.com/office/drawing/2014/main" id="{D42292EA-D180-4A2D-813A-8100BECA69D6}"/>
              </a:ext>
            </a:extLst>
          </p:cNvPr>
          <p:cNvSpPr>
            <a:spLocks xmlns:a="http://schemas.openxmlformats.org/drawingml/2006/main" noGrp="1"/>
          </p:cNvSpPr>
          <p:nvPr/>
        </p:nvSpPr>
        <p:spPr>
          <a:xfrm xmlns:a="http://schemas.openxmlformats.org/drawingml/2006/main">
            <a:off x="5314950" y="2647950"/>
            <a:ext cx="2133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Next.js, React, TypeScript, Tailwind CSS</a:t>
            </a:r>
          </a:p>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Giao diện dashboard theo vai trò</a:t>
            </a:r>
          </a:p>
        </p:txBody>
      </p:sp>
      <p:sp>
        <p:nvSpPr>
          <p:cNvPr id="21" name="">
            <a:extLst xmlns:a="http://schemas.openxmlformats.org/drawingml/2006/main">
              <a:ext uri="{FF2B5EF4-FFF2-40B4-BE49-F238E27FC236}">
                <a16:creationId xmlns:a16="http://schemas.microsoft.com/office/drawing/2014/main" id="{86E62E70-204E-49D0-835E-E760A9783917}"/>
              </a:ext>
            </a:extLst>
          </p:cNvPr>
          <p:cNvSpPr>
            <a:spLocks xmlns:a="http://schemas.openxmlformats.org/drawingml/2006/main" noGrp="1"/>
          </p:cNvSpPr>
          <p:nvPr/>
        </p:nvSpPr>
        <p:spPr>
          <a:xfrm xmlns:a="http://schemas.openxmlformats.org/drawingml/2006/main">
            <a:off x="7924800" y="2190750"/>
            <a:ext cx="247650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2" name="">
            <a:extLst xmlns:a="http://schemas.openxmlformats.org/drawingml/2006/main">
              <a:ext uri="{FF2B5EF4-FFF2-40B4-BE49-F238E27FC236}">
                <a16:creationId xmlns:a16="http://schemas.microsoft.com/office/drawing/2014/main" id="{B89E8647-560A-4638-A1D9-50282601D820}"/>
              </a:ext>
            </a:extLst>
          </p:cNvPr>
          <p:cNvSpPr>
            <a:spLocks xmlns:a="http://schemas.openxmlformats.org/drawingml/2006/main" noGrp="1"/>
          </p:cNvSpPr>
          <p:nvPr/>
        </p:nvSpPr>
        <p:spPr>
          <a:xfrm xmlns:a="http://schemas.openxmlformats.org/drawingml/2006/main">
            <a:off x="8096250" y="2324100"/>
            <a:ext cx="2133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Backend</a:t>
            </a:r>
          </a:p>
        </p:txBody>
      </p:sp>
      <p:sp>
        <p:nvSpPr>
          <p:cNvPr id="23" name="">
            <a:extLst xmlns:a="http://schemas.openxmlformats.org/drawingml/2006/main">
              <a:ext uri="{FF2B5EF4-FFF2-40B4-BE49-F238E27FC236}">
                <a16:creationId xmlns:a16="http://schemas.microsoft.com/office/drawing/2014/main" id="{E07273F7-B151-495C-AF9F-D29CBD48BF43}"/>
              </a:ext>
            </a:extLst>
          </p:cNvPr>
          <p:cNvSpPr>
            <a:spLocks xmlns:a="http://schemas.openxmlformats.org/drawingml/2006/main" noGrp="1"/>
          </p:cNvSpPr>
          <p:nvPr/>
        </p:nvSpPr>
        <p:spPr>
          <a:xfrm xmlns:a="http://schemas.openxmlformats.org/drawingml/2006/main">
            <a:off x="8096250" y="2647950"/>
            <a:ext cx="2133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Node.js, Express, Route, Controller</a:t>
            </a:r>
          </a:p>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REST API trả dữ liệu JSON</a:t>
            </a:r>
          </a:p>
        </p:txBody>
      </p:sp>
      <p:sp>
        <p:nvSpPr>
          <p:cNvPr id="24" name="">
            <a:extLst xmlns:a="http://schemas.openxmlformats.org/drawingml/2006/main">
              <a:ext uri="{FF2B5EF4-FFF2-40B4-BE49-F238E27FC236}">
                <a16:creationId xmlns:a16="http://schemas.microsoft.com/office/drawing/2014/main" id="{5837B5DA-5A54-4E2A-B4D4-334FE0E2B98E}"/>
              </a:ext>
            </a:extLst>
          </p:cNvPr>
          <p:cNvSpPr>
            <a:spLocks xmlns:a="http://schemas.openxmlformats.org/drawingml/2006/main" noGrp="1"/>
          </p:cNvSpPr>
          <p:nvPr/>
        </p:nvSpPr>
        <p:spPr>
          <a:xfrm xmlns:a="http://schemas.openxmlformats.org/drawingml/2006/main">
            <a:off x="5143500" y="3829050"/>
            <a:ext cx="247650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5" name="">
            <a:extLst xmlns:a="http://schemas.openxmlformats.org/drawingml/2006/main">
              <a:ext uri="{FF2B5EF4-FFF2-40B4-BE49-F238E27FC236}">
                <a16:creationId xmlns:a16="http://schemas.microsoft.com/office/drawing/2014/main" id="{72E66937-DEFF-43E1-9018-710CE2FF16C5}"/>
              </a:ext>
            </a:extLst>
          </p:cNvPr>
          <p:cNvSpPr>
            <a:spLocks xmlns:a="http://schemas.openxmlformats.org/drawingml/2006/main" noGrp="1"/>
          </p:cNvSpPr>
          <p:nvPr/>
        </p:nvSpPr>
        <p:spPr>
          <a:xfrm xmlns:a="http://schemas.openxmlformats.org/drawingml/2006/main">
            <a:off x="5314950" y="3962400"/>
            <a:ext cx="2133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Cơ sở dữ liệu</a:t>
            </a:r>
          </a:p>
        </p:txBody>
      </p:sp>
      <p:sp>
        <p:nvSpPr>
          <p:cNvPr id="26" name="">
            <a:extLst xmlns:a="http://schemas.openxmlformats.org/drawingml/2006/main">
              <a:ext uri="{FF2B5EF4-FFF2-40B4-BE49-F238E27FC236}">
                <a16:creationId xmlns:a16="http://schemas.microsoft.com/office/drawing/2014/main" id="{03336F53-F25D-4D77-9D68-CB0DACE520EB}"/>
              </a:ext>
            </a:extLst>
          </p:cNvPr>
          <p:cNvSpPr>
            <a:spLocks xmlns:a="http://schemas.openxmlformats.org/drawingml/2006/main" noGrp="1"/>
          </p:cNvSpPr>
          <p:nvPr/>
        </p:nvSpPr>
        <p:spPr>
          <a:xfrm xmlns:a="http://schemas.openxmlformats.org/drawingml/2006/main">
            <a:off x="5314950" y="4286250"/>
            <a:ext cx="2133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MongoDB, Mongoose Schema/Model</a:t>
            </a:r>
          </a:p>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Lưu lớp học, điểm danh, lịch sử lương</a:t>
            </a:r>
          </a:p>
        </p:txBody>
      </p:sp>
      <p:sp>
        <p:nvSpPr>
          <p:cNvPr id="27" name="">
            <a:extLst xmlns:a="http://schemas.openxmlformats.org/drawingml/2006/main">
              <a:ext uri="{FF2B5EF4-FFF2-40B4-BE49-F238E27FC236}">
                <a16:creationId xmlns:a16="http://schemas.microsoft.com/office/drawing/2014/main" id="{17E4C182-19DA-4893-8200-ABE24CE61736}"/>
              </a:ext>
            </a:extLst>
          </p:cNvPr>
          <p:cNvSpPr>
            <a:spLocks xmlns:a="http://schemas.openxmlformats.org/drawingml/2006/main" noGrp="1"/>
          </p:cNvSpPr>
          <p:nvPr/>
        </p:nvSpPr>
        <p:spPr>
          <a:xfrm xmlns:a="http://schemas.openxmlformats.org/drawingml/2006/main">
            <a:off x="7924800" y="3829050"/>
            <a:ext cx="2476500" cy="135255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28" name="">
            <a:extLst xmlns:a="http://schemas.openxmlformats.org/drawingml/2006/main">
              <a:ext uri="{FF2B5EF4-FFF2-40B4-BE49-F238E27FC236}">
                <a16:creationId xmlns:a16="http://schemas.microsoft.com/office/drawing/2014/main" id="{CF0B760E-12DE-4DED-9EAB-CFC1FE62B488}"/>
              </a:ext>
            </a:extLst>
          </p:cNvPr>
          <p:cNvSpPr>
            <a:spLocks xmlns:a="http://schemas.openxmlformats.org/drawingml/2006/main" noGrp="1"/>
          </p:cNvSpPr>
          <p:nvPr/>
        </p:nvSpPr>
        <p:spPr>
          <a:xfrm xmlns:a="http://schemas.openxmlformats.org/drawingml/2006/main">
            <a:off x="8096250" y="3962400"/>
            <a:ext cx="2133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Giao diện &amp; kiểm thử</a:t>
            </a:r>
          </a:p>
        </p:txBody>
      </p:sp>
      <p:sp>
        <p:nvSpPr>
          <p:cNvPr id="29" name="">
            <a:extLst xmlns:a="http://schemas.openxmlformats.org/drawingml/2006/main">
              <a:ext uri="{FF2B5EF4-FFF2-40B4-BE49-F238E27FC236}">
                <a16:creationId xmlns:a16="http://schemas.microsoft.com/office/drawing/2014/main" id="{5C2B1B38-D888-467F-A8BC-D3FB863BBA00}"/>
              </a:ext>
            </a:extLst>
          </p:cNvPr>
          <p:cNvSpPr>
            <a:spLocks xmlns:a="http://schemas.openxmlformats.org/drawingml/2006/main" noGrp="1"/>
          </p:cNvSpPr>
          <p:nvPr/>
        </p:nvSpPr>
        <p:spPr>
          <a:xfrm xmlns:a="http://schemas.openxmlformats.org/drawingml/2006/main">
            <a:off x="8096250" y="4286250"/>
            <a:ext cx="2133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Ảnh minh họa được lấy từ project</a:t>
            </a:r>
          </a:p>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Kiểm thử bằng dữ liệu mẫu local</a:t>
            </a:r>
          </a:p>
        </p:txBody>
      </p:sp>
      <p:sp>
        <p:nvSpPr>
          <p:cNvPr id="30" name="">
            <a:extLst xmlns:a="http://schemas.openxmlformats.org/drawingml/2006/main">
              <a:ext uri="{FF2B5EF4-FFF2-40B4-BE49-F238E27FC236}">
                <a16:creationId xmlns:a16="http://schemas.microsoft.com/office/drawing/2014/main" id="{0256740E-4E4A-46FA-B479-6DA7ED50C8E5}"/>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31" name="">
            <a:extLst xmlns:a="http://schemas.openxmlformats.org/drawingml/2006/main">
              <a:ext uri="{FF2B5EF4-FFF2-40B4-BE49-F238E27FC236}">
                <a16:creationId xmlns:a16="http://schemas.microsoft.com/office/drawing/2014/main" id="{ECBFD01B-5EDF-4036-AA33-DE8485C95C38}"/>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02</a:t>
            </a:r>
          </a:p>
        </p:txBody>
      </p:sp>
    </p:spTree>
    <p:extLst>
      <p:ext uri="{BB962C8B-B14F-4D97-AF65-F5344CB8AC3E}">
        <p14:creationId xmlns:p14="http://schemas.microsoft.com/office/powerpoint/2010/main" val="6458588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80E76B-BDE7-4133-AEE1-CC414892FA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749703-D97E-4073-9CB5-343CDB621E89}"/>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175426-390E-4732-991F-F1A10B1B163B}"/>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ĐẶT VẤN ĐỀ</a:t>
            </a:r>
          </a:p>
        </p:txBody>
      </p:sp>
      <p:sp>
        <p:nvSpPr>
          <p:cNvPr id="4" name="">
            <a:extLst xmlns:a="http://schemas.openxmlformats.org/drawingml/2006/main">
              <a:ext uri="{FF2B5EF4-FFF2-40B4-BE49-F238E27FC236}">
                <a16:creationId xmlns:a16="http://schemas.microsoft.com/office/drawing/2014/main" id="{5D430B2A-45B8-4AF6-8C7A-C4AC0C4BEACA}"/>
              </a:ext>
            </a:extLst>
          </p:cNvPr>
          <p:cNvSpPr>
            <a:spLocks xmlns:a="http://schemas.openxmlformats.org/drawingml/2006/main" noGrp="1"/>
          </p:cNvSpPr>
          <p:nvPr/>
        </p:nvSpPr>
        <p:spPr>
          <a:xfrm xmlns:a="http://schemas.openxmlformats.org/drawingml/2006/main">
            <a:off x="609600" y="8001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71313"/>
                </a:solidFill>
                <a:latin typeface="Aptos Display"/>
                <a:ea typeface="Aptos Display"/>
                <a:cs typeface="Aptos Display"/>
              </a:defRPr>
            </a:pPr>
            <a:r>
              <a:rPr sz="3000" b="1">
                <a:solidFill>
                  <a:srgbClr val="071313"/>
                </a:solidFill>
                <a:latin typeface="Aptos Display"/>
                <a:ea typeface="Aptos Display"/>
                <a:cs typeface="Aptos Display"/>
              </a:rPr>
              <a:t>Quản lý học tập thủ công làm dữ liệu phân tán và khó đối chiếu</a:t>
            </a:r>
          </a:p>
        </p:txBody>
      </p:sp>
      <p:sp>
        <p:nvSpPr>
          <p:cNvPr id="5" name="">
            <a:extLst xmlns:a="http://schemas.openxmlformats.org/drawingml/2006/main">
              <a:ext uri="{FF2B5EF4-FFF2-40B4-BE49-F238E27FC236}">
                <a16:creationId xmlns:a16="http://schemas.microsoft.com/office/drawing/2014/main" id="{3B2381AC-447B-419F-A745-8F81820E1B5B}"/>
              </a:ext>
            </a:extLst>
          </p:cNvPr>
          <p:cNvSpPr>
            <a:spLocks xmlns:a="http://schemas.openxmlformats.org/drawingml/2006/main" noGrp="1"/>
          </p:cNvSpPr>
          <p:nvPr/>
        </p:nvSpPr>
        <p:spPr>
          <a:xfrm xmlns:a="http://schemas.openxmlformats.org/drawingml/2006/main">
            <a:off x="666750" y="21812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FE60061-6916-4B07-ADC8-0CDD2D1B04CD}"/>
              </a:ext>
            </a:extLst>
          </p:cNvPr>
          <p:cNvSpPr>
            <a:spLocks xmlns:a="http://schemas.openxmlformats.org/drawingml/2006/main" noGrp="1"/>
          </p:cNvSpPr>
          <p:nvPr/>
        </p:nvSpPr>
        <p:spPr>
          <a:xfrm xmlns:a="http://schemas.openxmlformats.org/drawingml/2006/main">
            <a:off x="895350" y="2095500"/>
            <a:ext cx="619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F2937"/>
                </a:solidFill>
                <a:latin typeface="Aptos"/>
                <a:ea typeface="Aptos"/>
                <a:cs typeface="Aptos"/>
              </a:defRPr>
            </a:pPr>
            <a:r>
              <a:rPr sz="1575" b="0">
                <a:solidFill>
                  <a:srgbClr val="1F2937"/>
                </a:solidFill>
                <a:latin typeface="Aptos"/>
                <a:ea typeface="Aptos"/>
                <a:cs typeface="Aptos"/>
              </a:rPr>
              <a:t>Quản lý lớp học, lịch học và điểm danh còn phụ thuộc Excel hoặc giấy tờ.</a:t>
            </a:r>
          </a:p>
        </p:txBody>
      </p:sp>
      <p:sp>
        <p:nvSpPr>
          <p:cNvPr id="7" name="">
            <a:extLst xmlns:a="http://schemas.openxmlformats.org/drawingml/2006/main">
              <a:ext uri="{FF2B5EF4-FFF2-40B4-BE49-F238E27FC236}">
                <a16:creationId xmlns:a16="http://schemas.microsoft.com/office/drawing/2014/main" id="{7E52D23F-1F73-46AC-827F-A76294BC6B61}"/>
              </a:ext>
            </a:extLst>
          </p:cNvPr>
          <p:cNvSpPr>
            <a:spLocks xmlns:a="http://schemas.openxmlformats.org/drawingml/2006/main" noGrp="1"/>
          </p:cNvSpPr>
          <p:nvPr/>
        </p:nvSpPr>
        <p:spPr>
          <a:xfrm xmlns:a="http://schemas.openxmlformats.org/drawingml/2006/main">
            <a:off x="666750" y="27336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EE58C7F-FA46-4FD8-B1DC-86248F4751F6}"/>
              </a:ext>
            </a:extLst>
          </p:cNvPr>
          <p:cNvSpPr>
            <a:spLocks xmlns:a="http://schemas.openxmlformats.org/drawingml/2006/main" noGrp="1"/>
          </p:cNvSpPr>
          <p:nvPr/>
        </p:nvSpPr>
        <p:spPr>
          <a:xfrm xmlns:a="http://schemas.openxmlformats.org/drawingml/2006/main">
            <a:off x="895350" y="2647950"/>
            <a:ext cx="619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F2937"/>
                </a:solidFill>
                <a:latin typeface="Aptos"/>
                <a:ea typeface="Aptos"/>
                <a:cs typeface="Aptos"/>
              </a:defRPr>
            </a:pPr>
            <a:r>
              <a:rPr sz="1575" b="0">
                <a:solidFill>
                  <a:srgbClr val="1F2937"/>
                </a:solidFill>
                <a:latin typeface="Aptos"/>
                <a:ea typeface="Aptos"/>
                <a:cs typeface="Aptos"/>
              </a:rPr>
              <a:t>Dữ liệu phân tán qua nhiều kênh khiến việc tổng hợp mất thời gian.</a:t>
            </a:r>
          </a:p>
        </p:txBody>
      </p:sp>
      <p:sp>
        <p:nvSpPr>
          <p:cNvPr id="9" name="">
            <a:extLst xmlns:a="http://schemas.openxmlformats.org/drawingml/2006/main">
              <a:ext uri="{FF2B5EF4-FFF2-40B4-BE49-F238E27FC236}">
                <a16:creationId xmlns:a16="http://schemas.microsoft.com/office/drawing/2014/main" id="{5265EAA4-7539-4404-89D0-7F6DBC983BB3}"/>
              </a:ext>
            </a:extLst>
          </p:cNvPr>
          <p:cNvSpPr>
            <a:spLocks xmlns:a="http://schemas.openxmlformats.org/drawingml/2006/main" noGrp="1"/>
          </p:cNvSpPr>
          <p:nvPr/>
        </p:nvSpPr>
        <p:spPr>
          <a:xfrm xmlns:a="http://schemas.openxmlformats.org/drawingml/2006/main">
            <a:off x="666750" y="32861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17502E2-7BF7-43EF-A3C2-4334DC7C15D4}"/>
              </a:ext>
            </a:extLst>
          </p:cNvPr>
          <p:cNvSpPr>
            <a:spLocks xmlns:a="http://schemas.openxmlformats.org/drawingml/2006/main" noGrp="1"/>
          </p:cNvSpPr>
          <p:nvPr/>
        </p:nvSpPr>
        <p:spPr>
          <a:xfrm xmlns:a="http://schemas.openxmlformats.org/drawingml/2006/main">
            <a:off x="895350" y="3200400"/>
            <a:ext cx="619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F2937"/>
                </a:solidFill>
                <a:latin typeface="Aptos"/>
                <a:ea typeface="Aptos"/>
                <a:cs typeface="Aptos"/>
              </a:defRPr>
            </a:pPr>
            <a:r>
              <a:rPr sz="1575" b="0">
                <a:solidFill>
                  <a:srgbClr val="1F2937"/>
                </a:solidFill>
                <a:latin typeface="Aptos"/>
                <a:ea typeface="Aptos"/>
                <a:cs typeface="Aptos"/>
              </a:rPr>
              <a:t>Giảng viên khó xem nhanh lịch sử điểm danh theo lớp và buổi học.</a:t>
            </a:r>
          </a:p>
        </p:txBody>
      </p:sp>
      <p:sp>
        <p:nvSpPr>
          <p:cNvPr id="11" name="">
            <a:extLst xmlns:a="http://schemas.openxmlformats.org/drawingml/2006/main">
              <a:ext uri="{FF2B5EF4-FFF2-40B4-BE49-F238E27FC236}">
                <a16:creationId xmlns:a16="http://schemas.microsoft.com/office/drawing/2014/main" id="{FF91382D-BD9B-46B5-959B-373C8C4CE3B0}"/>
              </a:ext>
            </a:extLst>
          </p:cNvPr>
          <p:cNvSpPr>
            <a:spLocks xmlns:a="http://schemas.openxmlformats.org/drawingml/2006/main" noGrp="1"/>
          </p:cNvSpPr>
          <p:nvPr/>
        </p:nvSpPr>
        <p:spPr>
          <a:xfrm xmlns:a="http://schemas.openxmlformats.org/drawingml/2006/main">
            <a:off x="666750" y="38385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7A8B15E-F541-4022-B56D-2F082EF1A108}"/>
              </a:ext>
            </a:extLst>
          </p:cNvPr>
          <p:cNvSpPr>
            <a:spLocks xmlns:a="http://schemas.openxmlformats.org/drawingml/2006/main" noGrp="1"/>
          </p:cNvSpPr>
          <p:nvPr/>
        </p:nvSpPr>
        <p:spPr>
          <a:xfrm xmlns:a="http://schemas.openxmlformats.org/drawingml/2006/main">
            <a:off x="895350" y="3752850"/>
            <a:ext cx="619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F2937"/>
                </a:solidFill>
                <a:latin typeface="Aptos"/>
                <a:ea typeface="Aptos"/>
                <a:cs typeface="Aptos"/>
              </a:defRPr>
            </a:pPr>
            <a:r>
              <a:rPr sz="1575" b="0">
                <a:solidFill>
                  <a:srgbClr val="1F2937"/>
                </a:solidFill>
                <a:latin typeface="Aptos"/>
                <a:ea typeface="Aptos"/>
                <a:cs typeface="Aptos"/>
              </a:rPr>
              <a:t>Sinh viên thiếu một nơi tập trung để theo dõi lịch học, lớp học và trạng thái tham gia.</a:t>
            </a:r>
          </a:p>
        </p:txBody>
      </p:sp>
      <p:sp>
        <p:nvSpPr>
          <p:cNvPr id="13" name="">
            <a:extLst xmlns:a="http://schemas.openxmlformats.org/drawingml/2006/main">
              <a:ext uri="{FF2B5EF4-FFF2-40B4-BE49-F238E27FC236}">
                <a16:creationId xmlns:a16="http://schemas.microsoft.com/office/drawing/2014/main" id="{2178DC0C-9AB3-43E6-9968-3CB2EAE953FE}"/>
              </a:ext>
            </a:extLst>
          </p:cNvPr>
          <p:cNvSpPr>
            <a:spLocks xmlns:a="http://schemas.openxmlformats.org/drawingml/2006/main" noGrp="1"/>
          </p:cNvSpPr>
          <p:nvPr/>
        </p:nvSpPr>
        <p:spPr>
          <a:xfrm xmlns:a="http://schemas.openxmlformats.org/drawingml/2006/main">
            <a:off x="7810500" y="1047750"/>
            <a:ext cx="2381250" cy="4476750"/>
          </a:xfrm>
          <a:prstGeom xmlns:a="http://schemas.openxmlformats.org/drawingml/2006/main" prst="rect">
            <a:avLst/>
          </a:prstGeom>
          <a:solidFill xmlns:a="http://schemas.openxmlformats.org/drawingml/2006/main">
            <a:srgbClr val="0B1F1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ED17655-2C9D-4174-B16B-D92D26751B0C}"/>
              </a:ext>
            </a:extLst>
          </p:cNvPr>
          <p:cNvSpPr>
            <a:spLocks xmlns:a="http://schemas.openxmlformats.org/drawingml/2006/main" noGrp="1"/>
          </p:cNvSpPr>
          <p:nvPr/>
        </p:nvSpPr>
        <p:spPr>
          <a:xfrm xmlns:a="http://schemas.openxmlformats.org/drawingml/2006/main">
            <a:off x="8153400" y="1428750"/>
            <a:ext cx="1809750" cy="457200"/>
          </a:xfrm>
          <a:prstGeom xmlns:a="http://schemas.openxmlformats.org/drawingml/2006/main" prst="rect">
            <a:avLst/>
          </a:prstGeom>
          <a:solidFill xmlns:a="http://schemas.openxmlformats.org/drawingml/2006/main">
            <a:srgbClr val="143228"/>
          </a:solidFill>
          <a:ln xmlns:a="http://schemas.openxmlformats.org/drawingml/2006/main" w="9525">
            <a:solidFill>
              <a:srgbClr val="225B49"/>
            </a:solidFill>
            <a:prstDash val="solid"/>
          </a:ln>
        </p:spPr>
      </p:sp>
      <p:sp>
        <p:nvSpPr>
          <p:cNvPr id="15" name="">
            <a:extLst xmlns:a="http://schemas.openxmlformats.org/drawingml/2006/main">
              <a:ext uri="{FF2B5EF4-FFF2-40B4-BE49-F238E27FC236}">
                <a16:creationId xmlns:a16="http://schemas.microsoft.com/office/drawing/2014/main" id="{9BE2AF1B-97A3-4B1B-9A1B-D609CE0B0894}"/>
              </a:ext>
            </a:extLst>
          </p:cNvPr>
          <p:cNvSpPr>
            <a:spLocks xmlns:a="http://schemas.openxmlformats.org/drawingml/2006/main" noGrp="1"/>
          </p:cNvSpPr>
          <p:nvPr/>
        </p:nvSpPr>
        <p:spPr>
          <a:xfrm xmlns:a="http://schemas.openxmlformats.org/drawingml/2006/main">
            <a:off x="8324850" y="154305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Excel</a:t>
            </a:r>
          </a:p>
        </p:txBody>
      </p:sp>
      <p:sp>
        <p:nvSpPr>
          <p:cNvPr id="16" name="">
            <a:extLst xmlns:a="http://schemas.openxmlformats.org/drawingml/2006/main">
              <a:ext uri="{FF2B5EF4-FFF2-40B4-BE49-F238E27FC236}">
                <a16:creationId xmlns:a16="http://schemas.microsoft.com/office/drawing/2014/main" id="{26EEFF97-4702-4C56-885B-99026A15B8DB}"/>
              </a:ext>
            </a:extLst>
          </p:cNvPr>
          <p:cNvSpPr>
            <a:spLocks xmlns:a="http://schemas.openxmlformats.org/drawingml/2006/main" noGrp="1"/>
          </p:cNvSpPr>
          <p:nvPr/>
        </p:nvSpPr>
        <p:spPr>
          <a:xfrm xmlns:a="http://schemas.openxmlformats.org/drawingml/2006/main">
            <a:off x="8382000" y="2171700"/>
            <a:ext cx="1809750" cy="457200"/>
          </a:xfrm>
          <a:prstGeom xmlns:a="http://schemas.openxmlformats.org/drawingml/2006/main" prst="rect">
            <a:avLst/>
          </a:prstGeom>
          <a:solidFill xmlns:a="http://schemas.openxmlformats.org/drawingml/2006/main">
            <a:srgbClr val="143228"/>
          </a:solidFill>
          <a:ln xmlns:a="http://schemas.openxmlformats.org/drawingml/2006/main" w="9525">
            <a:solidFill>
              <a:srgbClr val="225B49"/>
            </a:solidFill>
            <a:prstDash val="solid"/>
          </a:ln>
        </p:spPr>
      </p:sp>
      <p:sp>
        <p:nvSpPr>
          <p:cNvPr id="17" name="">
            <a:extLst xmlns:a="http://schemas.openxmlformats.org/drawingml/2006/main">
              <a:ext uri="{FF2B5EF4-FFF2-40B4-BE49-F238E27FC236}">
                <a16:creationId xmlns:a16="http://schemas.microsoft.com/office/drawing/2014/main" id="{69010D63-7078-4F2C-BE3E-4E460E554845}"/>
              </a:ext>
            </a:extLst>
          </p:cNvPr>
          <p:cNvSpPr>
            <a:spLocks xmlns:a="http://schemas.openxmlformats.org/drawingml/2006/main" noGrp="1"/>
          </p:cNvSpPr>
          <p:nvPr/>
        </p:nvSpPr>
        <p:spPr>
          <a:xfrm xmlns:a="http://schemas.openxmlformats.org/drawingml/2006/main">
            <a:off x="8553450" y="228600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Tin nhắn</a:t>
            </a:r>
          </a:p>
        </p:txBody>
      </p:sp>
      <p:sp>
        <p:nvSpPr>
          <p:cNvPr id="18" name="">
            <a:extLst xmlns:a="http://schemas.openxmlformats.org/drawingml/2006/main">
              <a:ext uri="{FF2B5EF4-FFF2-40B4-BE49-F238E27FC236}">
                <a16:creationId xmlns:a16="http://schemas.microsoft.com/office/drawing/2014/main" id="{C83B6CD1-BAC5-4EB4-95F3-A490B356D470}"/>
              </a:ext>
            </a:extLst>
          </p:cNvPr>
          <p:cNvSpPr>
            <a:spLocks xmlns:a="http://schemas.openxmlformats.org/drawingml/2006/main" noGrp="1"/>
          </p:cNvSpPr>
          <p:nvPr/>
        </p:nvSpPr>
        <p:spPr>
          <a:xfrm xmlns:a="http://schemas.openxmlformats.org/drawingml/2006/main">
            <a:off x="8153400" y="2914650"/>
            <a:ext cx="1809750" cy="457200"/>
          </a:xfrm>
          <a:prstGeom xmlns:a="http://schemas.openxmlformats.org/drawingml/2006/main" prst="rect">
            <a:avLst/>
          </a:prstGeom>
          <a:solidFill xmlns:a="http://schemas.openxmlformats.org/drawingml/2006/main">
            <a:srgbClr val="10B981"/>
          </a:solidFill>
          <a:ln xmlns:a="http://schemas.openxmlformats.org/drawingml/2006/main" w="9525">
            <a:solidFill>
              <a:srgbClr val="225B49"/>
            </a:solidFill>
            <a:prstDash val="solid"/>
          </a:ln>
        </p:spPr>
      </p:sp>
      <p:sp>
        <p:nvSpPr>
          <p:cNvPr id="19" name="">
            <a:extLst xmlns:a="http://schemas.openxmlformats.org/drawingml/2006/main">
              <a:ext uri="{FF2B5EF4-FFF2-40B4-BE49-F238E27FC236}">
                <a16:creationId xmlns:a16="http://schemas.microsoft.com/office/drawing/2014/main" id="{EECEE844-1171-434A-BEB5-F34972CC541B}"/>
              </a:ext>
            </a:extLst>
          </p:cNvPr>
          <p:cNvSpPr>
            <a:spLocks xmlns:a="http://schemas.openxmlformats.org/drawingml/2006/main" noGrp="1"/>
          </p:cNvSpPr>
          <p:nvPr/>
        </p:nvSpPr>
        <p:spPr>
          <a:xfrm xmlns:a="http://schemas.openxmlformats.org/drawingml/2006/main">
            <a:off x="8324850" y="302895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Giấy tờ</a:t>
            </a:r>
          </a:p>
        </p:txBody>
      </p:sp>
      <p:sp>
        <p:nvSpPr>
          <p:cNvPr id="20" name="">
            <a:extLst xmlns:a="http://schemas.openxmlformats.org/drawingml/2006/main">
              <a:ext uri="{FF2B5EF4-FFF2-40B4-BE49-F238E27FC236}">
                <a16:creationId xmlns:a16="http://schemas.microsoft.com/office/drawing/2014/main" id="{C3967A1F-E172-4A8F-B282-77A3BFEB4CB3}"/>
              </a:ext>
            </a:extLst>
          </p:cNvPr>
          <p:cNvSpPr>
            <a:spLocks xmlns:a="http://schemas.openxmlformats.org/drawingml/2006/main" noGrp="1"/>
          </p:cNvSpPr>
          <p:nvPr/>
        </p:nvSpPr>
        <p:spPr>
          <a:xfrm xmlns:a="http://schemas.openxmlformats.org/drawingml/2006/main">
            <a:off x="8382000" y="3657600"/>
            <a:ext cx="1809750" cy="457200"/>
          </a:xfrm>
          <a:prstGeom xmlns:a="http://schemas.openxmlformats.org/drawingml/2006/main" prst="rect">
            <a:avLst/>
          </a:prstGeom>
          <a:solidFill xmlns:a="http://schemas.openxmlformats.org/drawingml/2006/main">
            <a:srgbClr val="143228"/>
          </a:solidFill>
          <a:ln xmlns:a="http://schemas.openxmlformats.org/drawingml/2006/main" w="9525">
            <a:solidFill>
              <a:srgbClr val="225B49"/>
            </a:solidFill>
            <a:prstDash val="solid"/>
          </a:ln>
        </p:spPr>
      </p:sp>
      <p:sp>
        <p:nvSpPr>
          <p:cNvPr id="21" name="">
            <a:extLst xmlns:a="http://schemas.openxmlformats.org/drawingml/2006/main">
              <a:ext uri="{FF2B5EF4-FFF2-40B4-BE49-F238E27FC236}">
                <a16:creationId xmlns:a16="http://schemas.microsoft.com/office/drawing/2014/main" id="{608A2577-B175-4526-9B6A-2366208F81D0}"/>
              </a:ext>
            </a:extLst>
          </p:cNvPr>
          <p:cNvSpPr>
            <a:spLocks xmlns:a="http://schemas.openxmlformats.org/drawingml/2006/main" noGrp="1"/>
          </p:cNvSpPr>
          <p:nvPr/>
        </p:nvSpPr>
        <p:spPr>
          <a:xfrm xmlns:a="http://schemas.openxmlformats.org/drawingml/2006/main">
            <a:off x="8553450" y="377190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Lịch học</a:t>
            </a:r>
          </a:p>
        </p:txBody>
      </p:sp>
      <p:sp>
        <p:nvSpPr>
          <p:cNvPr id="22" name="">
            <a:extLst xmlns:a="http://schemas.openxmlformats.org/drawingml/2006/main">
              <a:ext uri="{FF2B5EF4-FFF2-40B4-BE49-F238E27FC236}">
                <a16:creationId xmlns:a16="http://schemas.microsoft.com/office/drawing/2014/main" id="{3974C942-EDAA-4886-9C08-323328C871DE}"/>
              </a:ext>
            </a:extLst>
          </p:cNvPr>
          <p:cNvSpPr>
            <a:spLocks xmlns:a="http://schemas.openxmlformats.org/drawingml/2006/main" noGrp="1"/>
          </p:cNvSpPr>
          <p:nvPr/>
        </p:nvSpPr>
        <p:spPr>
          <a:xfrm xmlns:a="http://schemas.openxmlformats.org/drawingml/2006/main">
            <a:off x="8153400" y="4400550"/>
            <a:ext cx="1809750" cy="457200"/>
          </a:xfrm>
          <a:prstGeom xmlns:a="http://schemas.openxmlformats.org/drawingml/2006/main" prst="rect">
            <a:avLst/>
          </a:prstGeom>
          <a:solidFill xmlns:a="http://schemas.openxmlformats.org/drawingml/2006/main">
            <a:srgbClr val="143228"/>
          </a:solidFill>
          <a:ln xmlns:a="http://schemas.openxmlformats.org/drawingml/2006/main" w="9525">
            <a:solidFill>
              <a:srgbClr val="225B49"/>
            </a:solidFill>
            <a:prstDash val="solid"/>
          </a:ln>
        </p:spPr>
      </p:sp>
      <p:sp>
        <p:nvSpPr>
          <p:cNvPr id="23" name="">
            <a:extLst xmlns:a="http://schemas.openxmlformats.org/drawingml/2006/main">
              <a:ext uri="{FF2B5EF4-FFF2-40B4-BE49-F238E27FC236}">
                <a16:creationId xmlns:a16="http://schemas.microsoft.com/office/drawing/2014/main" id="{701CFEB3-6AFC-438E-96A8-DC0F91A44B71}"/>
              </a:ext>
            </a:extLst>
          </p:cNvPr>
          <p:cNvSpPr>
            <a:spLocks xmlns:a="http://schemas.openxmlformats.org/drawingml/2006/main" noGrp="1"/>
          </p:cNvSpPr>
          <p:nvPr/>
        </p:nvSpPr>
        <p:spPr>
          <a:xfrm xmlns:a="http://schemas.openxmlformats.org/drawingml/2006/main">
            <a:off x="8324850" y="451485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Điểm danh</a:t>
            </a:r>
          </a:p>
        </p:txBody>
      </p:sp>
      <p:sp>
        <p:nvSpPr>
          <p:cNvPr id="24" name="">
            <a:extLst xmlns:a="http://schemas.openxmlformats.org/drawingml/2006/main">
              <a:ext uri="{FF2B5EF4-FFF2-40B4-BE49-F238E27FC236}">
                <a16:creationId xmlns:a16="http://schemas.microsoft.com/office/drawing/2014/main" id="{16101998-86BF-4D07-B680-5DD7203D4987}"/>
              </a:ext>
            </a:extLst>
          </p:cNvPr>
          <p:cNvSpPr>
            <a:spLocks xmlns:a="http://schemas.openxmlformats.org/drawingml/2006/main" noGrp="1"/>
          </p:cNvSpPr>
          <p:nvPr/>
        </p:nvSpPr>
        <p:spPr>
          <a:xfrm xmlns:a="http://schemas.openxmlformats.org/drawingml/2006/main">
            <a:off x="7667625" y="5772150"/>
            <a:ext cx="266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0B981"/>
                </a:solidFill>
                <a:latin typeface="Aptos"/>
                <a:ea typeface="Aptos"/>
                <a:cs typeface="Aptos"/>
              </a:defRPr>
            </a:pPr>
            <a:r>
              <a:rPr sz="1800" b="1">
                <a:solidFill>
                  <a:srgbClr val="10B981"/>
                </a:solidFill>
                <a:latin typeface="Aptos"/>
                <a:ea typeface="Aptos"/>
                <a:cs typeface="Aptos"/>
              </a:rPr>
              <a:t>Cần một LMS tập trung</a:t>
            </a:r>
          </a:p>
        </p:txBody>
      </p:sp>
      <p:sp>
        <p:nvSpPr>
          <p:cNvPr id="25" name="">
            <a:extLst xmlns:a="http://schemas.openxmlformats.org/drawingml/2006/main">
              <a:ext uri="{FF2B5EF4-FFF2-40B4-BE49-F238E27FC236}">
                <a16:creationId xmlns:a16="http://schemas.microsoft.com/office/drawing/2014/main" id="{BB4E1368-9423-4AFE-AA67-190369C657D3}"/>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26" name="">
            <a:extLst xmlns:a="http://schemas.openxmlformats.org/drawingml/2006/main">
              <a:ext uri="{FF2B5EF4-FFF2-40B4-BE49-F238E27FC236}">
                <a16:creationId xmlns:a16="http://schemas.microsoft.com/office/drawing/2014/main" id="{B95745D3-BA96-4B2B-BB35-6724BE3E15A0}"/>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03</a:t>
            </a:r>
          </a:p>
        </p:txBody>
      </p:sp>
    </p:spTree>
    <p:extLst>
      <p:ext uri="{BB962C8B-B14F-4D97-AF65-F5344CB8AC3E}">
        <p14:creationId xmlns:p14="http://schemas.microsoft.com/office/powerpoint/2010/main" val="5923432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1E73D2-8BFE-41AB-A25A-5A42ACF637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D79AF5B-8A1C-484F-8158-8BCC0B66B8DA}"/>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8386836-B250-4D7E-B559-7810AEDEC4A9}"/>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GIẢI PHÁP ĐỀ XUẤT</a:t>
            </a:r>
          </a:p>
        </p:txBody>
      </p:sp>
      <p:sp>
        <p:nvSpPr>
          <p:cNvPr id="4" name="">
            <a:extLst xmlns:a="http://schemas.openxmlformats.org/drawingml/2006/main">
              <a:ext uri="{FF2B5EF4-FFF2-40B4-BE49-F238E27FC236}">
                <a16:creationId xmlns:a16="http://schemas.microsoft.com/office/drawing/2014/main" id="{D7DC274D-0A36-4035-8599-AFC4E98C7AFF}"/>
              </a:ext>
            </a:extLst>
          </p:cNvPr>
          <p:cNvSpPr>
            <a:spLocks xmlns:a="http://schemas.openxmlformats.org/drawingml/2006/main" noGrp="1"/>
          </p:cNvSpPr>
          <p:nvPr/>
        </p:nvSpPr>
        <p:spPr>
          <a:xfrm xmlns:a="http://schemas.openxmlformats.org/drawingml/2006/main">
            <a:off x="609600" y="800100"/>
            <a:ext cx="77152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71313"/>
                </a:solidFill>
                <a:latin typeface="Aptos Display"/>
                <a:ea typeface="Aptos Display"/>
                <a:cs typeface="Aptos Display"/>
              </a:defRPr>
            </a:pPr>
            <a:r>
              <a:rPr sz="3000" b="1">
                <a:solidFill>
                  <a:srgbClr val="071313"/>
                </a:solidFill>
                <a:latin typeface="Aptos Display"/>
                <a:ea typeface="Aptos Display"/>
                <a:cs typeface="Aptos Display"/>
              </a:rPr>
              <a:t>Xây dựng website LMS theo vai trò, tập trung dữ liệu lớp học và điểm danh</a:t>
            </a:r>
          </a:p>
        </p:txBody>
      </p:sp>
      <p:sp>
        <p:nvSpPr>
          <p:cNvPr id="5" name="">
            <a:extLst xmlns:a="http://schemas.openxmlformats.org/drawingml/2006/main">
              <a:ext uri="{FF2B5EF4-FFF2-40B4-BE49-F238E27FC236}">
                <a16:creationId xmlns:a16="http://schemas.microsoft.com/office/drawing/2014/main" id="{5A574E47-3CDB-4984-A2C3-0333FD381799}"/>
              </a:ext>
            </a:extLst>
          </p:cNvPr>
          <p:cNvSpPr>
            <a:spLocks xmlns:a="http://schemas.openxmlformats.org/drawingml/2006/main" noGrp="1"/>
          </p:cNvSpPr>
          <p:nvPr/>
        </p:nvSpPr>
        <p:spPr>
          <a:xfrm xmlns:a="http://schemas.openxmlformats.org/drawingml/2006/main">
            <a:off x="6667500" y="1181100"/>
            <a:ext cx="419100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6" name="">
            <a:extLst xmlns:a="http://schemas.openxmlformats.org/drawingml/2006/main">
              <a:ext uri="{FF2B5EF4-FFF2-40B4-BE49-F238E27FC236}">
                <a16:creationId xmlns:a16="http://schemas.microsoft.com/office/drawing/2014/main" id="{1B2E07A2-AF7E-48C0-A65D-81F972F9E20E}"/>
              </a:ext>
            </a:extLst>
          </p:cNvPr>
          <p:cNvSpPr>
            <a:spLocks xmlns:a="http://schemas.openxmlformats.org/drawingml/2006/main" noGrp="1"/>
          </p:cNvSpPr>
          <p:nvPr/>
        </p:nvSpPr>
        <p:spPr>
          <a:xfrm xmlns:a="http://schemas.openxmlformats.org/drawingml/2006/main">
            <a:off x="6667500" y="1181100"/>
            <a:ext cx="419100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59FC914-FAE4-4274-9CA0-979755450DE6}"/>
              </a:ext>
            </a:extLst>
          </p:cNvPr>
          <p:cNvSpPr>
            <a:spLocks xmlns:a="http://schemas.openxmlformats.org/drawingml/2006/main" noGrp="1"/>
          </p:cNvSpPr>
          <p:nvPr/>
        </p:nvSpPr>
        <p:spPr>
          <a:xfrm xmlns:a="http://schemas.openxmlformats.org/drawingml/2006/main">
            <a:off x="6781800" y="12668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8E4DA9F-EEAB-4165-893E-0FD01AB64D0E}"/>
              </a:ext>
            </a:extLst>
          </p:cNvPr>
          <p:cNvSpPr>
            <a:spLocks xmlns:a="http://schemas.openxmlformats.org/drawingml/2006/main" noGrp="1"/>
          </p:cNvSpPr>
          <p:nvPr/>
        </p:nvSpPr>
        <p:spPr>
          <a:xfrm xmlns:a="http://schemas.openxmlformats.org/drawingml/2006/main">
            <a:off x="6896100" y="12668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DC2A494-C2B3-40A8-B806-4B0EDAB34583}"/>
              </a:ext>
            </a:extLst>
          </p:cNvPr>
          <p:cNvSpPr>
            <a:spLocks xmlns:a="http://schemas.openxmlformats.org/drawingml/2006/main" noGrp="1"/>
          </p:cNvSpPr>
          <p:nvPr/>
        </p:nvSpPr>
        <p:spPr>
          <a:xfrm xmlns:a="http://schemas.openxmlformats.org/drawingml/2006/main">
            <a:off x="7010400" y="12668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6bdb867f7e8483c"/>
          <a:srcRect xmlns:a="http://schemas.openxmlformats.org/drawingml/2006/main" l="0" t="1758" r="0" b="1758"/>
          <a:stretch xmlns:a="http://schemas.openxmlformats.org/drawingml/2006/main">
            <a:fillRect l="0" t="0" r="0" b="0"/>
          </a:stretch>
        </p:blipFill>
        <p:spPr>
          <a:xfrm xmlns:a="http://schemas.openxmlformats.org/drawingml/2006/main">
            <a:off x="6743700" y="1485900"/>
            <a:ext cx="403860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626B2F9-9D50-4F14-BAA7-39A081D4F04C}"/>
              </a:ext>
            </a:extLst>
          </p:cNvPr>
          <p:cNvSpPr>
            <a:spLocks xmlns:a="http://schemas.openxmlformats.org/drawingml/2006/main" noGrp="1"/>
          </p:cNvSpPr>
          <p:nvPr/>
        </p:nvSpPr>
        <p:spPr>
          <a:xfrm xmlns:a="http://schemas.openxmlformats.org/drawingml/2006/main">
            <a:off x="6781800" y="3533775"/>
            <a:ext cx="3962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Website LMS</a:t>
            </a:r>
          </a:p>
        </p:txBody>
      </p:sp>
      <p:sp>
        <p:nvSpPr>
          <p:cNvPr id="12" name="">
            <a:extLst xmlns:a="http://schemas.openxmlformats.org/drawingml/2006/main">
              <a:ext uri="{FF2B5EF4-FFF2-40B4-BE49-F238E27FC236}">
                <a16:creationId xmlns:a16="http://schemas.microsoft.com/office/drawing/2014/main" id="{3D418E3B-E7CC-453E-8B01-A3D68922A717}"/>
              </a:ext>
            </a:extLst>
          </p:cNvPr>
          <p:cNvSpPr>
            <a:spLocks xmlns:a="http://schemas.openxmlformats.org/drawingml/2006/main" noGrp="1"/>
          </p:cNvSpPr>
          <p:nvPr/>
        </p:nvSpPr>
        <p:spPr>
          <a:xfrm xmlns:a="http://schemas.openxmlformats.org/drawingml/2006/main">
            <a:off x="876300" y="2324100"/>
            <a:ext cx="1238250" cy="323850"/>
          </a:xfrm>
          <a:prstGeom xmlns:a="http://schemas.openxmlformats.org/drawingml/2006/main" prst="rect">
            <a:avLst/>
          </a:prstGeom>
          <a:solidFill xmlns:a="http://schemas.openxmlformats.org/drawingml/2006/main">
            <a:srgbClr val="0B1F1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E408041-47AB-4DEA-9C77-47BE87F54DE4}"/>
              </a:ext>
            </a:extLst>
          </p:cNvPr>
          <p:cNvSpPr>
            <a:spLocks xmlns:a="http://schemas.openxmlformats.org/drawingml/2006/main" noGrp="1"/>
          </p:cNvSpPr>
          <p:nvPr/>
        </p:nvSpPr>
        <p:spPr>
          <a:xfrm xmlns:a="http://schemas.openxmlformats.org/drawingml/2006/main">
            <a:off x="1009650" y="2381250"/>
            <a:ext cx="971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Admin</a:t>
            </a:r>
          </a:p>
        </p:txBody>
      </p:sp>
      <p:sp>
        <p:nvSpPr>
          <p:cNvPr id="14" name="">
            <a:extLst xmlns:a="http://schemas.openxmlformats.org/drawingml/2006/main">
              <a:ext uri="{FF2B5EF4-FFF2-40B4-BE49-F238E27FC236}">
                <a16:creationId xmlns:a16="http://schemas.microsoft.com/office/drawing/2014/main" id="{EAC87398-E3DB-4191-99EA-707F0DDE4E4C}"/>
              </a:ext>
            </a:extLst>
          </p:cNvPr>
          <p:cNvSpPr>
            <a:spLocks xmlns:a="http://schemas.openxmlformats.org/drawingml/2006/main" noGrp="1"/>
          </p:cNvSpPr>
          <p:nvPr/>
        </p:nvSpPr>
        <p:spPr>
          <a:xfrm xmlns:a="http://schemas.openxmlformats.org/drawingml/2006/main">
            <a:off x="2476500" y="2324100"/>
            <a:ext cx="1524000" cy="3238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82E6D37-9C0B-4FBD-AB9F-9D7AB3037539}"/>
              </a:ext>
            </a:extLst>
          </p:cNvPr>
          <p:cNvSpPr>
            <a:spLocks xmlns:a="http://schemas.openxmlformats.org/drawingml/2006/main" noGrp="1"/>
          </p:cNvSpPr>
          <p:nvPr/>
        </p:nvSpPr>
        <p:spPr>
          <a:xfrm xmlns:a="http://schemas.openxmlformats.org/drawingml/2006/main">
            <a:off x="2609850" y="2381250"/>
            <a:ext cx="1257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Giảng viên</a:t>
            </a:r>
          </a:p>
        </p:txBody>
      </p:sp>
      <p:sp>
        <p:nvSpPr>
          <p:cNvPr id="16" name="">
            <a:extLst xmlns:a="http://schemas.openxmlformats.org/drawingml/2006/main">
              <a:ext uri="{FF2B5EF4-FFF2-40B4-BE49-F238E27FC236}">
                <a16:creationId xmlns:a16="http://schemas.microsoft.com/office/drawing/2014/main" id="{AC5C1C64-2CFB-41DD-BEDA-E61BEFAB5CBF}"/>
              </a:ext>
            </a:extLst>
          </p:cNvPr>
          <p:cNvSpPr>
            <a:spLocks xmlns:a="http://schemas.openxmlformats.org/drawingml/2006/main" noGrp="1"/>
          </p:cNvSpPr>
          <p:nvPr/>
        </p:nvSpPr>
        <p:spPr>
          <a:xfrm xmlns:a="http://schemas.openxmlformats.org/drawingml/2006/main">
            <a:off x="4362450" y="2324100"/>
            <a:ext cx="1428750" cy="323850"/>
          </a:xfrm>
          <a:prstGeom xmlns:a="http://schemas.openxmlformats.org/drawingml/2006/main" prst="rect">
            <a:avLst/>
          </a:prstGeom>
          <a:solidFill xmlns:a="http://schemas.openxmlformats.org/drawingml/2006/main">
            <a:srgbClr val="ECFDF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EDF829A-CFB3-4BD9-8555-36490DB0904A}"/>
              </a:ext>
            </a:extLst>
          </p:cNvPr>
          <p:cNvSpPr>
            <a:spLocks xmlns:a="http://schemas.openxmlformats.org/drawingml/2006/main" noGrp="1"/>
          </p:cNvSpPr>
          <p:nvPr/>
        </p:nvSpPr>
        <p:spPr>
          <a:xfrm xmlns:a="http://schemas.openxmlformats.org/drawingml/2006/main">
            <a:off x="4495800" y="2381250"/>
            <a:ext cx="1162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071313"/>
                </a:solidFill>
                <a:latin typeface="Aptos"/>
                <a:ea typeface="Aptos"/>
                <a:cs typeface="Aptos"/>
              </a:defRPr>
            </a:pPr>
            <a:r>
              <a:rPr sz="1050" b="1">
                <a:solidFill>
                  <a:srgbClr val="071313"/>
                </a:solidFill>
                <a:latin typeface="Aptos"/>
                <a:ea typeface="Aptos"/>
                <a:cs typeface="Aptos"/>
              </a:rPr>
              <a:t>Sinh viên</a:t>
            </a:r>
          </a:p>
        </p:txBody>
      </p:sp>
      <p:sp>
        <p:nvSpPr>
          <p:cNvPr id="18" name="">
            <a:extLst xmlns:a="http://schemas.openxmlformats.org/drawingml/2006/main">
              <a:ext uri="{FF2B5EF4-FFF2-40B4-BE49-F238E27FC236}">
                <a16:creationId xmlns:a16="http://schemas.microsoft.com/office/drawing/2014/main" id="{5DBDA2E0-B560-4D64-A241-FDB226E0A931}"/>
              </a:ext>
            </a:extLst>
          </p:cNvPr>
          <p:cNvSpPr>
            <a:spLocks xmlns:a="http://schemas.openxmlformats.org/drawingml/2006/main" noGrp="1"/>
          </p:cNvSpPr>
          <p:nvPr/>
        </p:nvSpPr>
        <p:spPr>
          <a:xfrm xmlns:a="http://schemas.openxmlformats.org/drawingml/2006/main">
            <a:off x="876300" y="33051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DC7887C-EE60-44DB-B7DF-4E7E7A2A2984}"/>
              </a:ext>
            </a:extLst>
          </p:cNvPr>
          <p:cNvSpPr>
            <a:spLocks xmlns:a="http://schemas.openxmlformats.org/drawingml/2006/main" noGrp="1"/>
          </p:cNvSpPr>
          <p:nvPr/>
        </p:nvSpPr>
        <p:spPr>
          <a:xfrm xmlns:a="http://schemas.openxmlformats.org/drawingml/2006/main">
            <a:off x="1104900" y="321945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F2937"/>
                </a:solidFill>
                <a:latin typeface="Aptos"/>
                <a:ea typeface="Aptos"/>
                <a:cs typeface="Aptos"/>
              </a:defRPr>
            </a:pPr>
            <a:r>
              <a:rPr sz="1500" b="0">
                <a:solidFill>
                  <a:srgbClr val="1F2937"/>
                </a:solidFill>
                <a:latin typeface="Aptos"/>
                <a:ea typeface="Aptos"/>
                <a:cs typeface="Aptos"/>
              </a:rPr>
              <a:t>Quản lý người dùng, chuyên ngành, môn học và lớp học.</a:t>
            </a:r>
          </a:p>
        </p:txBody>
      </p:sp>
      <p:sp>
        <p:nvSpPr>
          <p:cNvPr id="20" name="">
            <a:extLst xmlns:a="http://schemas.openxmlformats.org/drawingml/2006/main">
              <a:ext uri="{FF2B5EF4-FFF2-40B4-BE49-F238E27FC236}">
                <a16:creationId xmlns:a16="http://schemas.microsoft.com/office/drawing/2014/main" id="{49CF8B82-BC9E-4D8B-951C-106635D0582F}"/>
              </a:ext>
            </a:extLst>
          </p:cNvPr>
          <p:cNvSpPr>
            <a:spLocks xmlns:a="http://schemas.openxmlformats.org/drawingml/2006/main" noGrp="1"/>
          </p:cNvSpPr>
          <p:nvPr/>
        </p:nvSpPr>
        <p:spPr>
          <a:xfrm xmlns:a="http://schemas.openxmlformats.org/drawingml/2006/main">
            <a:off x="876300" y="38004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48E0B3B-A3C3-48DE-BDC7-11BE61CBBFAE}"/>
              </a:ext>
            </a:extLst>
          </p:cNvPr>
          <p:cNvSpPr>
            <a:spLocks xmlns:a="http://schemas.openxmlformats.org/drawingml/2006/main" noGrp="1"/>
          </p:cNvSpPr>
          <p:nvPr/>
        </p:nvSpPr>
        <p:spPr>
          <a:xfrm xmlns:a="http://schemas.openxmlformats.org/drawingml/2006/main">
            <a:off x="1104900" y="371475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F2937"/>
                </a:solidFill>
                <a:latin typeface="Aptos"/>
                <a:ea typeface="Aptos"/>
                <a:cs typeface="Aptos"/>
              </a:defRPr>
            </a:pPr>
            <a:r>
              <a:rPr sz="1500" b="0">
                <a:solidFill>
                  <a:srgbClr val="1F2937"/>
                </a:solidFill>
                <a:latin typeface="Aptos"/>
                <a:ea typeface="Aptos"/>
                <a:cs typeface="Aptos"/>
              </a:rPr>
              <a:t>Điểm danh thủ công hoặc quét QR bằng camera trình duyệt.</a:t>
            </a:r>
          </a:p>
        </p:txBody>
      </p:sp>
      <p:sp>
        <p:nvSpPr>
          <p:cNvPr id="22" name="">
            <a:extLst xmlns:a="http://schemas.openxmlformats.org/drawingml/2006/main">
              <a:ext uri="{FF2B5EF4-FFF2-40B4-BE49-F238E27FC236}">
                <a16:creationId xmlns:a16="http://schemas.microsoft.com/office/drawing/2014/main" id="{95286DE1-20A3-4D89-B6B6-2EE42B6114AF}"/>
              </a:ext>
            </a:extLst>
          </p:cNvPr>
          <p:cNvSpPr>
            <a:spLocks xmlns:a="http://schemas.openxmlformats.org/drawingml/2006/main" noGrp="1"/>
          </p:cNvSpPr>
          <p:nvPr/>
        </p:nvSpPr>
        <p:spPr>
          <a:xfrm xmlns:a="http://schemas.openxmlformats.org/drawingml/2006/main">
            <a:off x="876300" y="42957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111DC1A-1669-48CB-B786-0B584B7FCB79}"/>
              </a:ext>
            </a:extLst>
          </p:cNvPr>
          <p:cNvSpPr>
            <a:spLocks xmlns:a="http://schemas.openxmlformats.org/drawingml/2006/main" noGrp="1"/>
          </p:cNvSpPr>
          <p:nvPr/>
        </p:nvSpPr>
        <p:spPr>
          <a:xfrm xmlns:a="http://schemas.openxmlformats.org/drawingml/2006/main">
            <a:off x="1104900" y="421005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F2937"/>
                </a:solidFill>
                <a:latin typeface="Aptos"/>
                <a:ea typeface="Aptos"/>
                <a:cs typeface="Aptos"/>
              </a:defRPr>
            </a:pPr>
            <a:r>
              <a:rPr sz="1500" b="0">
                <a:solidFill>
                  <a:srgbClr val="1F2937"/>
                </a:solidFill>
                <a:latin typeface="Aptos"/>
                <a:ea typeface="Aptos"/>
                <a:cs typeface="Aptos"/>
              </a:rPr>
              <a:t>Theo dõi lịch học, lịch sử điểm danh và lịch sử lương giảng viên.</a:t>
            </a:r>
          </a:p>
        </p:txBody>
      </p:sp>
      <p:sp>
        <p:nvSpPr>
          <p:cNvPr id="24" name="">
            <a:extLst xmlns:a="http://schemas.openxmlformats.org/drawingml/2006/main">
              <a:ext uri="{FF2B5EF4-FFF2-40B4-BE49-F238E27FC236}">
                <a16:creationId xmlns:a16="http://schemas.microsoft.com/office/drawing/2014/main" id="{29DD3E92-E803-4A9E-B92C-AEA78BB45511}"/>
              </a:ext>
            </a:extLst>
          </p:cNvPr>
          <p:cNvSpPr>
            <a:spLocks xmlns:a="http://schemas.openxmlformats.org/drawingml/2006/main" noGrp="1"/>
          </p:cNvSpPr>
          <p:nvPr/>
        </p:nvSpPr>
        <p:spPr>
          <a:xfrm xmlns:a="http://schemas.openxmlformats.org/drawingml/2006/main">
            <a:off x="876300" y="47910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614F715-10C8-44ED-9888-87B1E61686F8}"/>
              </a:ext>
            </a:extLst>
          </p:cNvPr>
          <p:cNvSpPr>
            <a:spLocks xmlns:a="http://schemas.openxmlformats.org/drawingml/2006/main" noGrp="1"/>
          </p:cNvSpPr>
          <p:nvPr/>
        </p:nvSpPr>
        <p:spPr>
          <a:xfrm xmlns:a="http://schemas.openxmlformats.org/drawingml/2006/main">
            <a:off x="1104900" y="470535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F2937"/>
                </a:solidFill>
                <a:latin typeface="Aptos"/>
                <a:ea typeface="Aptos"/>
                <a:cs typeface="Aptos"/>
              </a:defRPr>
            </a:pPr>
            <a:r>
              <a:rPr sz="1500" b="0">
                <a:solidFill>
                  <a:srgbClr val="1F2937"/>
                </a:solidFill>
                <a:latin typeface="Aptos"/>
                <a:ea typeface="Aptos"/>
                <a:cs typeface="Aptos"/>
              </a:rPr>
              <a:t>Giao diện dashboard tách rõ trách nhiệm từng vai trò.</a:t>
            </a:r>
          </a:p>
        </p:txBody>
      </p:sp>
      <p:sp>
        <p:nvSpPr>
          <p:cNvPr id="26" name="">
            <a:extLst xmlns:a="http://schemas.openxmlformats.org/drawingml/2006/main">
              <a:ext uri="{FF2B5EF4-FFF2-40B4-BE49-F238E27FC236}">
                <a16:creationId xmlns:a16="http://schemas.microsoft.com/office/drawing/2014/main" id="{39AE0843-F354-4ED0-AD9D-4CA01B1D3262}"/>
              </a:ext>
            </a:extLst>
          </p:cNvPr>
          <p:cNvSpPr>
            <a:spLocks xmlns:a="http://schemas.openxmlformats.org/drawingml/2006/main" noGrp="1"/>
          </p:cNvSpPr>
          <p:nvPr/>
        </p:nvSpPr>
        <p:spPr>
          <a:xfrm xmlns:a="http://schemas.openxmlformats.org/drawingml/2006/main">
            <a:off x="6705600" y="4191000"/>
            <a:ext cx="4152900" cy="914400"/>
          </a:xfrm>
          <a:prstGeom xmlns:a="http://schemas.openxmlformats.org/drawingml/2006/main" prst="rect">
            <a:avLst/>
          </a:prstGeom>
          <a:solidFill xmlns:a="http://schemas.openxmlformats.org/drawingml/2006/main">
            <a:srgbClr val="ECFDF5"/>
          </a:solidFill>
          <a:ln xmlns:a="http://schemas.openxmlformats.org/drawingml/2006/main" w="9525">
            <a:solidFill>
              <a:srgbClr val="BCEFD4"/>
            </a:solidFill>
            <a:prstDash val="solid"/>
          </a:ln>
        </p:spPr>
      </p:sp>
      <p:sp>
        <p:nvSpPr>
          <p:cNvPr id="27" name="">
            <a:extLst xmlns:a="http://schemas.openxmlformats.org/drawingml/2006/main">
              <a:ext uri="{FF2B5EF4-FFF2-40B4-BE49-F238E27FC236}">
                <a16:creationId xmlns:a16="http://schemas.microsoft.com/office/drawing/2014/main" id="{6B03399C-0236-4B5F-BA2D-5AA5999FF765}"/>
              </a:ext>
            </a:extLst>
          </p:cNvPr>
          <p:cNvSpPr>
            <a:spLocks xmlns:a="http://schemas.openxmlformats.org/drawingml/2006/main" noGrp="1"/>
          </p:cNvSpPr>
          <p:nvPr/>
        </p:nvSpPr>
        <p:spPr>
          <a:xfrm xmlns:a="http://schemas.openxmlformats.org/drawingml/2006/main">
            <a:off x="6953250" y="4438650"/>
            <a:ext cx="3695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F2937"/>
                </a:solidFill>
                <a:latin typeface="Aptos"/>
                <a:ea typeface="Aptos"/>
                <a:cs typeface="Aptos"/>
              </a:defRPr>
            </a:pPr>
            <a:r>
              <a:rPr sz="1500" b="1">
                <a:solidFill>
                  <a:srgbClr val="1F2937"/>
                </a:solidFill>
                <a:latin typeface="Aptos"/>
                <a:ea typeface="Aptos"/>
                <a:cs typeface="Aptos"/>
              </a:rPr>
              <a:t>Luồng chính: đăng nhập → dashboard theo vai trò → thao tác dữ liệu → lưu MongoDB.</a:t>
            </a:r>
          </a:p>
        </p:txBody>
      </p:sp>
      <p:sp>
        <p:nvSpPr>
          <p:cNvPr id="28" name="">
            <a:extLst xmlns:a="http://schemas.openxmlformats.org/drawingml/2006/main">
              <a:ext uri="{FF2B5EF4-FFF2-40B4-BE49-F238E27FC236}">
                <a16:creationId xmlns:a16="http://schemas.microsoft.com/office/drawing/2014/main" id="{363029E2-8AB7-4525-9530-7F0455DDAEC1}"/>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29" name="">
            <a:extLst xmlns:a="http://schemas.openxmlformats.org/drawingml/2006/main">
              <a:ext uri="{FF2B5EF4-FFF2-40B4-BE49-F238E27FC236}">
                <a16:creationId xmlns:a16="http://schemas.microsoft.com/office/drawing/2014/main" id="{AEDDF7D9-C0CB-4B98-8EBA-6C50EC3CCC0D}"/>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04</a:t>
            </a:r>
          </a:p>
        </p:txBody>
      </p:sp>
    </p:spTree>
    <p:extLst>
      <p:ext uri="{BB962C8B-B14F-4D97-AF65-F5344CB8AC3E}">
        <p14:creationId xmlns:p14="http://schemas.microsoft.com/office/powerpoint/2010/main" val="17183681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2FD17B-A99F-4C6A-BD74-F15EAE1350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46908D6-0F23-4545-B236-12F224FFD99D}"/>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3EEF153-5AC4-4C85-AB28-3E0FB6CCFF83}"/>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CÔNG NGHỆ ÁP DỤNG</a:t>
            </a:r>
          </a:p>
        </p:txBody>
      </p:sp>
      <p:sp>
        <p:nvSpPr>
          <p:cNvPr id="4" name="">
            <a:extLst xmlns:a="http://schemas.openxmlformats.org/drawingml/2006/main">
              <a:ext uri="{FF2B5EF4-FFF2-40B4-BE49-F238E27FC236}">
                <a16:creationId xmlns:a16="http://schemas.microsoft.com/office/drawing/2014/main" id="{129EEBB7-E51C-41C4-A7D9-3B73D3364795}"/>
              </a:ext>
            </a:extLst>
          </p:cNvPr>
          <p:cNvSpPr>
            <a:spLocks xmlns:a="http://schemas.openxmlformats.org/drawingml/2006/main" noGrp="1"/>
          </p:cNvSpPr>
          <p:nvPr/>
        </p:nvSpPr>
        <p:spPr>
          <a:xfrm xmlns:a="http://schemas.openxmlformats.org/drawingml/2006/main">
            <a:off x="609600" y="800100"/>
            <a:ext cx="7810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71313"/>
                </a:solidFill>
                <a:latin typeface="Aptos Display"/>
                <a:ea typeface="Aptos Display"/>
                <a:cs typeface="Aptos Display"/>
              </a:defRPr>
            </a:pPr>
            <a:r>
              <a:rPr sz="3000" b="1">
                <a:solidFill>
                  <a:srgbClr val="071313"/>
                </a:solidFill>
                <a:latin typeface="Aptos Display"/>
                <a:ea typeface="Aptos Display"/>
                <a:cs typeface="Aptos Display"/>
              </a:rPr>
              <a:t>Stack MERN mở rộng cho giao diện, API, xác thực và tiện ích vận hành</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bb31fad87f44d4d"/>
          <a:stretch xmlns:a="http://schemas.openxmlformats.org/drawingml/2006/main"/>
        </p:blipFill>
        <p:spPr>
          <a:xfrm xmlns:a="http://schemas.openxmlformats.org/drawingml/2006/main">
            <a:off x="762000" y="1820333"/>
            <a:ext cx="4762500" cy="31220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814738-A2BF-4DF1-9A69-B03541CAB9BF}"/>
              </a:ext>
            </a:extLst>
          </p:cNvPr>
          <p:cNvSpPr>
            <a:spLocks xmlns:a="http://schemas.openxmlformats.org/drawingml/2006/main" noGrp="1"/>
          </p:cNvSpPr>
          <p:nvPr/>
        </p:nvSpPr>
        <p:spPr>
          <a:xfrm xmlns:a="http://schemas.openxmlformats.org/drawingml/2006/main">
            <a:off x="6191250" y="1714500"/>
            <a:ext cx="2476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7" name="">
            <a:extLst xmlns:a="http://schemas.openxmlformats.org/drawingml/2006/main">
              <a:ext uri="{FF2B5EF4-FFF2-40B4-BE49-F238E27FC236}">
                <a16:creationId xmlns:a16="http://schemas.microsoft.com/office/drawing/2014/main" id="{8B75C066-FC9A-420D-BB15-A60D94A0115B}"/>
              </a:ext>
            </a:extLst>
          </p:cNvPr>
          <p:cNvSpPr>
            <a:spLocks xmlns:a="http://schemas.openxmlformats.org/drawingml/2006/main" noGrp="1"/>
          </p:cNvSpPr>
          <p:nvPr/>
        </p:nvSpPr>
        <p:spPr>
          <a:xfrm xmlns:a="http://schemas.openxmlformats.org/drawingml/2006/main">
            <a:off x="6343650" y="1866900"/>
            <a:ext cx="2171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Frontend</a:t>
            </a:r>
          </a:p>
        </p:txBody>
      </p:sp>
      <p:sp>
        <p:nvSpPr>
          <p:cNvPr id="8" name="">
            <a:extLst xmlns:a="http://schemas.openxmlformats.org/drawingml/2006/main">
              <a:ext uri="{FF2B5EF4-FFF2-40B4-BE49-F238E27FC236}">
                <a16:creationId xmlns:a16="http://schemas.microsoft.com/office/drawing/2014/main" id="{2D971E09-5C82-4BDB-885B-3629FAD6D08C}"/>
              </a:ext>
            </a:extLst>
          </p:cNvPr>
          <p:cNvSpPr>
            <a:spLocks xmlns:a="http://schemas.openxmlformats.org/drawingml/2006/main" noGrp="1"/>
          </p:cNvSpPr>
          <p:nvPr/>
        </p:nvSpPr>
        <p:spPr>
          <a:xfrm xmlns:a="http://schemas.openxmlformats.org/drawingml/2006/main">
            <a:off x="6343650" y="2190750"/>
            <a:ext cx="2171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Next.js · React · TypeScript</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Tailwind CSS</a:t>
            </a:r>
          </a:p>
        </p:txBody>
      </p:sp>
      <p:sp>
        <p:nvSpPr>
          <p:cNvPr id="9" name="">
            <a:extLst xmlns:a="http://schemas.openxmlformats.org/drawingml/2006/main">
              <a:ext uri="{FF2B5EF4-FFF2-40B4-BE49-F238E27FC236}">
                <a16:creationId xmlns:a16="http://schemas.microsoft.com/office/drawing/2014/main" id="{EBC1F910-566C-4EC9-8E41-B264AD6EB9D7}"/>
              </a:ext>
            </a:extLst>
          </p:cNvPr>
          <p:cNvSpPr>
            <a:spLocks xmlns:a="http://schemas.openxmlformats.org/drawingml/2006/main" noGrp="1"/>
          </p:cNvSpPr>
          <p:nvPr/>
        </p:nvSpPr>
        <p:spPr>
          <a:xfrm xmlns:a="http://schemas.openxmlformats.org/drawingml/2006/main">
            <a:off x="8667750" y="2238375"/>
            <a:ext cx="64770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A43167F-252F-4E3D-92A8-E8E49F3BBF7E}"/>
              </a:ext>
            </a:extLst>
          </p:cNvPr>
          <p:cNvSpPr>
            <a:spLocks xmlns:a="http://schemas.openxmlformats.org/drawingml/2006/main" noGrp="1"/>
          </p:cNvSpPr>
          <p:nvPr/>
        </p:nvSpPr>
        <p:spPr>
          <a:xfrm xmlns:a="http://schemas.openxmlformats.org/drawingml/2006/main">
            <a:off x="9267825" y="2066925"/>
            <a:ext cx="22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0B981"/>
                </a:solidFill>
                <a:latin typeface="Aptos"/>
                <a:ea typeface="Aptos"/>
                <a:cs typeface="Aptos"/>
              </a:defRPr>
            </a:pPr>
            <a:r>
              <a:rPr sz="2550" b="1">
                <a:solidFill>
                  <a:srgbClr val="10B981"/>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B0292819-D69D-46EE-9C26-3E408F5DCFAF}"/>
              </a:ext>
            </a:extLst>
          </p:cNvPr>
          <p:cNvSpPr>
            <a:spLocks xmlns:a="http://schemas.openxmlformats.org/drawingml/2006/main" noGrp="1"/>
          </p:cNvSpPr>
          <p:nvPr/>
        </p:nvSpPr>
        <p:spPr>
          <a:xfrm xmlns:a="http://schemas.openxmlformats.org/drawingml/2006/main">
            <a:off x="9353550" y="1714500"/>
            <a:ext cx="2095500" cy="106680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12" name="">
            <a:extLst xmlns:a="http://schemas.openxmlformats.org/drawingml/2006/main">
              <a:ext uri="{FF2B5EF4-FFF2-40B4-BE49-F238E27FC236}">
                <a16:creationId xmlns:a16="http://schemas.microsoft.com/office/drawing/2014/main" id="{64BD7E23-3966-47CB-911C-FF41A957C782}"/>
              </a:ext>
            </a:extLst>
          </p:cNvPr>
          <p:cNvSpPr>
            <a:spLocks xmlns:a="http://schemas.openxmlformats.org/drawingml/2006/main" noGrp="1"/>
          </p:cNvSpPr>
          <p:nvPr/>
        </p:nvSpPr>
        <p:spPr>
          <a:xfrm xmlns:a="http://schemas.openxmlformats.org/drawingml/2006/main">
            <a:off x="9505950" y="1866900"/>
            <a:ext cx="179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Backend API</a:t>
            </a:r>
          </a:p>
        </p:txBody>
      </p:sp>
      <p:sp>
        <p:nvSpPr>
          <p:cNvPr id="13" name="">
            <a:extLst xmlns:a="http://schemas.openxmlformats.org/drawingml/2006/main">
              <a:ext uri="{FF2B5EF4-FFF2-40B4-BE49-F238E27FC236}">
                <a16:creationId xmlns:a16="http://schemas.microsoft.com/office/drawing/2014/main" id="{16035EF0-3E0B-47CE-B9A0-84132C7EDE96}"/>
              </a:ext>
            </a:extLst>
          </p:cNvPr>
          <p:cNvSpPr>
            <a:spLocks xmlns:a="http://schemas.openxmlformats.org/drawingml/2006/main" noGrp="1"/>
          </p:cNvSpPr>
          <p:nvPr/>
        </p:nvSpPr>
        <p:spPr>
          <a:xfrm xmlns:a="http://schemas.openxmlformats.org/drawingml/2006/main">
            <a:off x="9505950" y="2190750"/>
            <a:ext cx="1790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Node.js · Express.js</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Route · Controller</a:t>
            </a:r>
          </a:p>
        </p:txBody>
      </p:sp>
      <p:sp>
        <p:nvSpPr>
          <p:cNvPr id="14" name="">
            <a:extLst xmlns:a="http://schemas.openxmlformats.org/drawingml/2006/main">
              <a:ext uri="{FF2B5EF4-FFF2-40B4-BE49-F238E27FC236}">
                <a16:creationId xmlns:a16="http://schemas.microsoft.com/office/drawing/2014/main" id="{4C08ADB9-8B4F-4334-9937-0B4E9660BC5B}"/>
              </a:ext>
            </a:extLst>
          </p:cNvPr>
          <p:cNvSpPr>
            <a:spLocks xmlns:a="http://schemas.openxmlformats.org/drawingml/2006/main" noGrp="1"/>
          </p:cNvSpPr>
          <p:nvPr/>
        </p:nvSpPr>
        <p:spPr>
          <a:xfrm xmlns:a="http://schemas.openxmlformats.org/drawingml/2006/main">
            <a:off x="6191250" y="3429000"/>
            <a:ext cx="2476500" cy="106680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15" name="">
            <a:extLst xmlns:a="http://schemas.openxmlformats.org/drawingml/2006/main">
              <a:ext uri="{FF2B5EF4-FFF2-40B4-BE49-F238E27FC236}">
                <a16:creationId xmlns:a16="http://schemas.microsoft.com/office/drawing/2014/main" id="{B4C2D9E8-484D-423B-876E-A6A61C1847CA}"/>
              </a:ext>
            </a:extLst>
          </p:cNvPr>
          <p:cNvSpPr>
            <a:spLocks xmlns:a="http://schemas.openxmlformats.org/drawingml/2006/main" noGrp="1"/>
          </p:cNvSpPr>
          <p:nvPr/>
        </p:nvSpPr>
        <p:spPr>
          <a:xfrm xmlns:a="http://schemas.openxmlformats.org/drawingml/2006/main">
            <a:off x="6343650" y="3581400"/>
            <a:ext cx="2171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Database</a:t>
            </a:r>
          </a:p>
        </p:txBody>
      </p:sp>
      <p:sp>
        <p:nvSpPr>
          <p:cNvPr id="16" name="">
            <a:extLst xmlns:a="http://schemas.openxmlformats.org/drawingml/2006/main">
              <a:ext uri="{FF2B5EF4-FFF2-40B4-BE49-F238E27FC236}">
                <a16:creationId xmlns:a16="http://schemas.microsoft.com/office/drawing/2014/main" id="{0A5BA1AF-B295-46DF-BB97-E0AA0675F1C2}"/>
              </a:ext>
            </a:extLst>
          </p:cNvPr>
          <p:cNvSpPr>
            <a:spLocks xmlns:a="http://schemas.openxmlformats.org/drawingml/2006/main" noGrp="1"/>
          </p:cNvSpPr>
          <p:nvPr/>
        </p:nvSpPr>
        <p:spPr>
          <a:xfrm xmlns:a="http://schemas.openxmlformats.org/drawingml/2006/main">
            <a:off x="6343650" y="3905250"/>
            <a:ext cx="2171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MongoDB · Mongoose</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Schema/Model</a:t>
            </a:r>
          </a:p>
        </p:txBody>
      </p:sp>
      <p:sp>
        <p:nvSpPr>
          <p:cNvPr id="17" name="">
            <a:extLst xmlns:a="http://schemas.openxmlformats.org/drawingml/2006/main">
              <a:ext uri="{FF2B5EF4-FFF2-40B4-BE49-F238E27FC236}">
                <a16:creationId xmlns:a16="http://schemas.microsoft.com/office/drawing/2014/main" id="{5BC7AC09-DB26-4FBD-B882-91ED7F9882CE}"/>
              </a:ext>
            </a:extLst>
          </p:cNvPr>
          <p:cNvSpPr>
            <a:spLocks xmlns:a="http://schemas.openxmlformats.org/drawingml/2006/main" noGrp="1"/>
          </p:cNvSpPr>
          <p:nvPr/>
        </p:nvSpPr>
        <p:spPr>
          <a:xfrm xmlns:a="http://schemas.openxmlformats.org/drawingml/2006/main">
            <a:off x="8667750" y="3952875"/>
            <a:ext cx="64770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134E013-78F6-4F9C-8127-ED861D248402}"/>
              </a:ext>
            </a:extLst>
          </p:cNvPr>
          <p:cNvSpPr>
            <a:spLocks xmlns:a="http://schemas.openxmlformats.org/drawingml/2006/main" noGrp="1"/>
          </p:cNvSpPr>
          <p:nvPr/>
        </p:nvSpPr>
        <p:spPr>
          <a:xfrm xmlns:a="http://schemas.openxmlformats.org/drawingml/2006/main">
            <a:off x="9267825" y="3781425"/>
            <a:ext cx="22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0B981"/>
                </a:solidFill>
                <a:latin typeface="Aptos"/>
                <a:ea typeface="Aptos"/>
                <a:cs typeface="Aptos"/>
              </a:defRPr>
            </a:pPr>
            <a:r>
              <a:rPr sz="2550" b="1">
                <a:solidFill>
                  <a:srgbClr val="10B981"/>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5709C666-45DF-4E4C-83F2-BD5D8F509F43}"/>
              </a:ext>
            </a:extLst>
          </p:cNvPr>
          <p:cNvSpPr>
            <a:spLocks xmlns:a="http://schemas.openxmlformats.org/drawingml/2006/main" noGrp="1"/>
          </p:cNvSpPr>
          <p:nvPr/>
        </p:nvSpPr>
        <p:spPr>
          <a:xfrm xmlns:a="http://schemas.openxmlformats.org/drawingml/2006/main">
            <a:off x="9353550" y="3429000"/>
            <a:ext cx="2095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0" name="">
            <a:extLst xmlns:a="http://schemas.openxmlformats.org/drawingml/2006/main">
              <a:ext uri="{FF2B5EF4-FFF2-40B4-BE49-F238E27FC236}">
                <a16:creationId xmlns:a16="http://schemas.microsoft.com/office/drawing/2014/main" id="{8FD84878-C82E-4134-A35F-FFBC27D73A94}"/>
              </a:ext>
            </a:extLst>
          </p:cNvPr>
          <p:cNvSpPr>
            <a:spLocks xmlns:a="http://schemas.openxmlformats.org/drawingml/2006/main" noGrp="1"/>
          </p:cNvSpPr>
          <p:nvPr/>
        </p:nvSpPr>
        <p:spPr>
          <a:xfrm xmlns:a="http://schemas.openxmlformats.org/drawingml/2006/main">
            <a:off x="9505950" y="3581400"/>
            <a:ext cx="179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Tiện ích</a:t>
            </a:r>
          </a:p>
        </p:txBody>
      </p:sp>
      <p:sp>
        <p:nvSpPr>
          <p:cNvPr id="21" name="">
            <a:extLst xmlns:a="http://schemas.openxmlformats.org/drawingml/2006/main">
              <a:ext uri="{FF2B5EF4-FFF2-40B4-BE49-F238E27FC236}">
                <a16:creationId xmlns:a16="http://schemas.microsoft.com/office/drawing/2014/main" id="{D6A4BC1C-68D4-4FCD-8B90-F4C7F1641C1E}"/>
              </a:ext>
            </a:extLst>
          </p:cNvPr>
          <p:cNvSpPr>
            <a:spLocks xmlns:a="http://schemas.openxmlformats.org/drawingml/2006/main" noGrp="1"/>
          </p:cNvSpPr>
          <p:nvPr/>
        </p:nvSpPr>
        <p:spPr>
          <a:xfrm xmlns:a="http://schemas.openxmlformats.org/drawingml/2006/main">
            <a:off x="9505950" y="3905250"/>
            <a:ext cx="1790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JWT · Nodemailer · QR Code</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XLSX/import Excel</a:t>
            </a:r>
          </a:p>
        </p:txBody>
      </p:sp>
      <p:sp>
        <p:nvSpPr>
          <p:cNvPr id="22" name="">
            <a:extLst xmlns:a="http://schemas.openxmlformats.org/drawingml/2006/main">
              <a:ext uri="{FF2B5EF4-FFF2-40B4-BE49-F238E27FC236}">
                <a16:creationId xmlns:a16="http://schemas.microsoft.com/office/drawing/2014/main" id="{3BBDBB9C-8B27-475A-A9BF-DFD0915485E1}"/>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23" name="">
            <a:extLst xmlns:a="http://schemas.openxmlformats.org/drawingml/2006/main">
              <a:ext uri="{FF2B5EF4-FFF2-40B4-BE49-F238E27FC236}">
                <a16:creationId xmlns:a16="http://schemas.microsoft.com/office/drawing/2014/main" id="{29AAAE92-5AA4-4481-B7AC-0AA93FF907C2}"/>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05</a:t>
            </a:r>
          </a:p>
        </p:txBody>
      </p:sp>
    </p:spTree>
    <p:extLst>
      <p:ext uri="{BB962C8B-B14F-4D97-AF65-F5344CB8AC3E}">
        <p14:creationId xmlns:p14="http://schemas.microsoft.com/office/powerpoint/2010/main" val="18161639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650D1A-FB28-49BC-B329-3659CF9958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65FBC35-B20C-46AF-898C-90485F716D91}"/>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0C0E59C-521F-441A-B366-AB56959B492E}"/>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7F7D8"/>
                </a:solidFill>
                <a:latin typeface="Aptos"/>
                <a:ea typeface="Aptos"/>
                <a:cs typeface="Aptos"/>
              </a:defRPr>
            </a:pPr>
            <a:r>
              <a:rPr sz="975" b="1">
                <a:solidFill>
                  <a:srgbClr val="B7F7D8"/>
                </a:solidFill>
                <a:latin typeface="Aptos"/>
                <a:ea typeface="Aptos"/>
                <a:cs typeface="Aptos"/>
              </a:rPr>
              <a:t>KIẾN TRÚC HỆ THỐNG</a:t>
            </a:r>
          </a:p>
        </p:txBody>
      </p:sp>
      <p:sp>
        <p:nvSpPr>
          <p:cNvPr id="4" name="">
            <a:extLst xmlns:a="http://schemas.openxmlformats.org/drawingml/2006/main">
              <a:ext uri="{FF2B5EF4-FFF2-40B4-BE49-F238E27FC236}">
                <a16:creationId xmlns:a16="http://schemas.microsoft.com/office/drawing/2014/main" id="{DC253CCE-AB0C-4A6C-A395-8801ACBA1446}"/>
              </a:ext>
            </a:extLst>
          </p:cNvPr>
          <p:cNvSpPr>
            <a:spLocks xmlns:a="http://schemas.openxmlformats.org/drawingml/2006/main" noGrp="1"/>
          </p:cNvSpPr>
          <p:nvPr/>
        </p:nvSpPr>
        <p:spPr>
          <a:xfrm xmlns:a="http://schemas.openxmlformats.org/drawingml/2006/main">
            <a:off x="609600" y="781050"/>
            <a:ext cx="8191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Request đi qua UI, API nội bộ, backend service rồi lưu ở data layer</a:t>
            </a:r>
          </a:p>
        </p:txBody>
      </p:sp>
      <p:sp>
        <p:nvSpPr>
          <p:cNvPr id="5" name="">
            <a:extLst xmlns:a="http://schemas.openxmlformats.org/drawingml/2006/main">
              <a:ext uri="{FF2B5EF4-FFF2-40B4-BE49-F238E27FC236}">
                <a16:creationId xmlns:a16="http://schemas.microsoft.com/office/drawing/2014/main" id="{BC229241-9D87-4816-834F-ABAAB7CD5F74}"/>
              </a:ext>
            </a:extLst>
          </p:cNvPr>
          <p:cNvSpPr>
            <a:spLocks xmlns:a="http://schemas.openxmlformats.org/drawingml/2006/main" noGrp="1"/>
          </p:cNvSpPr>
          <p:nvPr/>
        </p:nvSpPr>
        <p:spPr>
          <a:xfrm xmlns:a="http://schemas.openxmlformats.org/drawingml/2006/main">
            <a:off x="704850" y="2552700"/>
            <a:ext cx="18097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6" name="">
            <a:extLst xmlns:a="http://schemas.openxmlformats.org/drawingml/2006/main">
              <a:ext uri="{FF2B5EF4-FFF2-40B4-BE49-F238E27FC236}">
                <a16:creationId xmlns:a16="http://schemas.microsoft.com/office/drawing/2014/main" id="{69625C04-DAD8-430E-BA76-F9ED5C51CB8A}"/>
              </a:ext>
            </a:extLst>
          </p:cNvPr>
          <p:cNvSpPr>
            <a:spLocks xmlns:a="http://schemas.openxmlformats.org/drawingml/2006/main" noGrp="1"/>
          </p:cNvSpPr>
          <p:nvPr/>
        </p:nvSpPr>
        <p:spPr>
          <a:xfrm xmlns:a="http://schemas.openxmlformats.org/drawingml/2006/main">
            <a:off x="857250" y="2705100"/>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Client/UI</a:t>
            </a:r>
          </a:p>
        </p:txBody>
      </p:sp>
      <p:sp>
        <p:nvSpPr>
          <p:cNvPr id="7" name="">
            <a:extLst xmlns:a="http://schemas.openxmlformats.org/drawingml/2006/main">
              <a:ext uri="{FF2B5EF4-FFF2-40B4-BE49-F238E27FC236}">
                <a16:creationId xmlns:a16="http://schemas.microsoft.com/office/drawing/2014/main" id="{55CC280F-36A7-4438-9C32-40CB8B179984}"/>
              </a:ext>
            </a:extLst>
          </p:cNvPr>
          <p:cNvSpPr>
            <a:spLocks xmlns:a="http://schemas.openxmlformats.org/drawingml/2006/main" noGrp="1"/>
          </p:cNvSpPr>
          <p:nvPr/>
        </p:nvSpPr>
        <p:spPr>
          <a:xfrm xmlns:a="http://schemas.openxmlformats.org/drawingml/2006/main">
            <a:off x="857250" y="3028950"/>
            <a:ext cx="1504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Next.js, React</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Tailwind CSS</a:t>
            </a:r>
          </a:p>
        </p:txBody>
      </p:sp>
      <p:sp>
        <p:nvSpPr>
          <p:cNvPr id="8" name="">
            <a:extLst xmlns:a="http://schemas.openxmlformats.org/drawingml/2006/main">
              <a:ext uri="{FF2B5EF4-FFF2-40B4-BE49-F238E27FC236}">
                <a16:creationId xmlns:a16="http://schemas.microsoft.com/office/drawing/2014/main" id="{D2164AE7-9E98-421C-8625-3F4D909ED206}"/>
              </a:ext>
            </a:extLst>
          </p:cNvPr>
          <p:cNvSpPr>
            <a:spLocks xmlns:a="http://schemas.openxmlformats.org/drawingml/2006/main" noGrp="1"/>
          </p:cNvSpPr>
          <p:nvPr/>
        </p:nvSpPr>
        <p:spPr>
          <a:xfrm xmlns:a="http://schemas.openxmlformats.org/drawingml/2006/main">
            <a:off x="2647950" y="3086100"/>
            <a:ext cx="68580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845A343-7278-4B21-A8E9-3396579949F9}"/>
              </a:ext>
            </a:extLst>
          </p:cNvPr>
          <p:cNvSpPr>
            <a:spLocks xmlns:a="http://schemas.openxmlformats.org/drawingml/2006/main" noGrp="1"/>
          </p:cNvSpPr>
          <p:nvPr/>
        </p:nvSpPr>
        <p:spPr>
          <a:xfrm xmlns:a="http://schemas.openxmlformats.org/drawingml/2006/main">
            <a:off x="3286125" y="2914650"/>
            <a:ext cx="22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0B981"/>
                </a:solidFill>
                <a:latin typeface="Aptos"/>
                <a:ea typeface="Aptos"/>
                <a:cs typeface="Aptos"/>
              </a:defRPr>
            </a:pPr>
            <a:r>
              <a:rPr sz="2550" b="1">
                <a:solidFill>
                  <a:srgbClr val="10B981"/>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3F65D42E-EEF3-41BC-91C7-97E47B71C091}"/>
              </a:ext>
            </a:extLst>
          </p:cNvPr>
          <p:cNvSpPr>
            <a:spLocks xmlns:a="http://schemas.openxmlformats.org/drawingml/2006/main" noGrp="1"/>
          </p:cNvSpPr>
          <p:nvPr/>
        </p:nvSpPr>
        <p:spPr>
          <a:xfrm xmlns:a="http://schemas.openxmlformats.org/drawingml/2006/main">
            <a:off x="3429000" y="2552700"/>
            <a:ext cx="1905000" cy="106680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11" name="">
            <a:extLst xmlns:a="http://schemas.openxmlformats.org/drawingml/2006/main">
              <a:ext uri="{FF2B5EF4-FFF2-40B4-BE49-F238E27FC236}">
                <a16:creationId xmlns:a16="http://schemas.microsoft.com/office/drawing/2014/main" id="{9453E8AE-504A-4C21-9BCD-34188CE104E4}"/>
              </a:ext>
            </a:extLst>
          </p:cNvPr>
          <p:cNvSpPr>
            <a:spLocks xmlns:a="http://schemas.openxmlformats.org/drawingml/2006/main" noGrp="1"/>
          </p:cNvSpPr>
          <p:nvPr/>
        </p:nvSpPr>
        <p:spPr>
          <a:xfrm xmlns:a="http://schemas.openxmlformats.org/drawingml/2006/main">
            <a:off x="3581400" y="2705100"/>
            <a:ext cx="1600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API Gateway</a:t>
            </a:r>
          </a:p>
        </p:txBody>
      </p:sp>
      <p:sp>
        <p:nvSpPr>
          <p:cNvPr id="12" name="">
            <a:extLst xmlns:a="http://schemas.openxmlformats.org/drawingml/2006/main">
              <a:ext uri="{FF2B5EF4-FFF2-40B4-BE49-F238E27FC236}">
                <a16:creationId xmlns:a16="http://schemas.microsoft.com/office/drawing/2014/main" id="{8FCBC564-FCCA-4CAB-B5D9-A07E52F4ADDC}"/>
              </a:ext>
            </a:extLst>
          </p:cNvPr>
          <p:cNvSpPr>
            <a:spLocks xmlns:a="http://schemas.openxmlformats.org/drawingml/2006/main" noGrp="1"/>
          </p:cNvSpPr>
          <p:nvPr/>
        </p:nvSpPr>
        <p:spPr>
          <a:xfrm xmlns:a="http://schemas.openxmlformats.org/drawingml/2006/main">
            <a:off x="3581400" y="3028950"/>
            <a:ext cx="16002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Next.js rewrites</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/api/:path*</a:t>
            </a:r>
          </a:p>
        </p:txBody>
      </p:sp>
      <p:sp>
        <p:nvSpPr>
          <p:cNvPr id="13" name="">
            <a:extLst xmlns:a="http://schemas.openxmlformats.org/drawingml/2006/main">
              <a:ext uri="{FF2B5EF4-FFF2-40B4-BE49-F238E27FC236}">
                <a16:creationId xmlns:a16="http://schemas.microsoft.com/office/drawing/2014/main" id="{C5067E00-B270-4B50-8A4B-D18DB5EFB7AB}"/>
              </a:ext>
            </a:extLst>
          </p:cNvPr>
          <p:cNvSpPr>
            <a:spLocks xmlns:a="http://schemas.openxmlformats.org/drawingml/2006/main" noGrp="1"/>
          </p:cNvSpPr>
          <p:nvPr/>
        </p:nvSpPr>
        <p:spPr>
          <a:xfrm xmlns:a="http://schemas.openxmlformats.org/drawingml/2006/main">
            <a:off x="5467350" y="3086100"/>
            <a:ext cx="68580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14FE4A7-3D4C-4BB1-81B4-9ECE7B576CEA}"/>
              </a:ext>
            </a:extLst>
          </p:cNvPr>
          <p:cNvSpPr>
            <a:spLocks xmlns:a="http://schemas.openxmlformats.org/drawingml/2006/main" noGrp="1"/>
          </p:cNvSpPr>
          <p:nvPr/>
        </p:nvSpPr>
        <p:spPr>
          <a:xfrm xmlns:a="http://schemas.openxmlformats.org/drawingml/2006/main">
            <a:off x="6105525" y="2914650"/>
            <a:ext cx="22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0B981"/>
                </a:solidFill>
                <a:latin typeface="Aptos"/>
                <a:ea typeface="Aptos"/>
                <a:cs typeface="Aptos"/>
              </a:defRPr>
            </a:pPr>
            <a:r>
              <a:rPr sz="2550" b="1">
                <a:solidFill>
                  <a:srgbClr val="10B981"/>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70C3CEA4-9F5A-4C4A-9011-CA4D31CF2567}"/>
              </a:ext>
            </a:extLst>
          </p:cNvPr>
          <p:cNvSpPr>
            <a:spLocks xmlns:a="http://schemas.openxmlformats.org/drawingml/2006/main" noGrp="1"/>
          </p:cNvSpPr>
          <p:nvPr/>
        </p:nvSpPr>
        <p:spPr>
          <a:xfrm xmlns:a="http://schemas.openxmlformats.org/drawingml/2006/main">
            <a:off x="6248400" y="2552700"/>
            <a:ext cx="2000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16" name="">
            <a:extLst xmlns:a="http://schemas.openxmlformats.org/drawingml/2006/main">
              <a:ext uri="{FF2B5EF4-FFF2-40B4-BE49-F238E27FC236}">
                <a16:creationId xmlns:a16="http://schemas.microsoft.com/office/drawing/2014/main" id="{EA12F9F0-7A8E-4E2E-8295-141E17F6606A}"/>
              </a:ext>
            </a:extLst>
          </p:cNvPr>
          <p:cNvSpPr>
            <a:spLocks xmlns:a="http://schemas.openxmlformats.org/drawingml/2006/main" noGrp="1"/>
          </p:cNvSpPr>
          <p:nvPr/>
        </p:nvSpPr>
        <p:spPr>
          <a:xfrm xmlns:a="http://schemas.openxmlformats.org/drawingml/2006/main">
            <a:off x="6400800" y="2705100"/>
            <a:ext cx="1695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Backend</a:t>
            </a:r>
          </a:p>
        </p:txBody>
      </p:sp>
      <p:sp>
        <p:nvSpPr>
          <p:cNvPr id="17" name="">
            <a:extLst xmlns:a="http://schemas.openxmlformats.org/drawingml/2006/main">
              <a:ext uri="{FF2B5EF4-FFF2-40B4-BE49-F238E27FC236}">
                <a16:creationId xmlns:a16="http://schemas.microsoft.com/office/drawing/2014/main" id="{D31700E4-3CD5-499D-B20D-9FEE72836EAF}"/>
              </a:ext>
            </a:extLst>
          </p:cNvPr>
          <p:cNvSpPr>
            <a:spLocks xmlns:a="http://schemas.openxmlformats.org/drawingml/2006/main" noGrp="1"/>
          </p:cNvSpPr>
          <p:nvPr/>
        </p:nvSpPr>
        <p:spPr>
          <a:xfrm xmlns:a="http://schemas.openxmlformats.org/drawingml/2006/main">
            <a:off x="6400800" y="3028950"/>
            <a:ext cx="16954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Node.js, Express</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Route/Controller</a:t>
            </a:r>
          </a:p>
        </p:txBody>
      </p:sp>
      <p:sp>
        <p:nvSpPr>
          <p:cNvPr id="18" name="">
            <a:extLst xmlns:a="http://schemas.openxmlformats.org/drawingml/2006/main">
              <a:ext uri="{FF2B5EF4-FFF2-40B4-BE49-F238E27FC236}">
                <a16:creationId xmlns:a16="http://schemas.microsoft.com/office/drawing/2014/main" id="{339D533E-4F0A-4298-B5EE-8A255AAC6C76}"/>
              </a:ext>
            </a:extLst>
          </p:cNvPr>
          <p:cNvSpPr>
            <a:spLocks xmlns:a="http://schemas.openxmlformats.org/drawingml/2006/main" noGrp="1"/>
          </p:cNvSpPr>
          <p:nvPr/>
        </p:nvSpPr>
        <p:spPr>
          <a:xfrm xmlns:a="http://schemas.openxmlformats.org/drawingml/2006/main">
            <a:off x="8382000" y="3086100"/>
            <a:ext cx="68580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FA1B53D-0BF6-44E1-8BC9-E09CFAC48806}"/>
              </a:ext>
            </a:extLst>
          </p:cNvPr>
          <p:cNvSpPr>
            <a:spLocks xmlns:a="http://schemas.openxmlformats.org/drawingml/2006/main" noGrp="1"/>
          </p:cNvSpPr>
          <p:nvPr/>
        </p:nvSpPr>
        <p:spPr>
          <a:xfrm xmlns:a="http://schemas.openxmlformats.org/drawingml/2006/main">
            <a:off x="9020175" y="2914650"/>
            <a:ext cx="22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0B981"/>
                </a:solidFill>
                <a:latin typeface="Aptos"/>
                <a:ea typeface="Aptos"/>
                <a:cs typeface="Aptos"/>
              </a:defRPr>
            </a:pPr>
            <a:r>
              <a:rPr sz="2550" b="1">
                <a:solidFill>
                  <a:srgbClr val="10B981"/>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2F54A0CE-0705-4512-B193-A4917964AFED}"/>
              </a:ext>
            </a:extLst>
          </p:cNvPr>
          <p:cNvSpPr>
            <a:spLocks xmlns:a="http://schemas.openxmlformats.org/drawingml/2006/main" noGrp="1"/>
          </p:cNvSpPr>
          <p:nvPr/>
        </p:nvSpPr>
        <p:spPr>
          <a:xfrm xmlns:a="http://schemas.openxmlformats.org/drawingml/2006/main">
            <a:off x="9163050" y="2552700"/>
            <a:ext cx="1809750" cy="1066800"/>
          </a:xfrm>
          <a:prstGeom xmlns:a="http://schemas.openxmlformats.org/drawingml/2006/main" prst="rect">
            <a:avLst/>
          </a:prstGeom>
          <a:solidFill xmlns:a="http://schemas.openxmlformats.org/drawingml/2006/main">
            <a:srgbClr val="ECFDF5"/>
          </a:solidFill>
          <a:ln xmlns:a="http://schemas.openxmlformats.org/drawingml/2006/main" w="9525">
            <a:solidFill>
              <a:srgbClr val="D7E4DD"/>
            </a:solidFill>
            <a:prstDash val="solid"/>
          </a:ln>
        </p:spPr>
      </p:sp>
      <p:sp>
        <p:nvSpPr>
          <p:cNvPr id="21" name="">
            <a:extLst xmlns:a="http://schemas.openxmlformats.org/drawingml/2006/main">
              <a:ext uri="{FF2B5EF4-FFF2-40B4-BE49-F238E27FC236}">
                <a16:creationId xmlns:a16="http://schemas.microsoft.com/office/drawing/2014/main" id="{9C728C70-1FAE-41ED-AFC3-E364598E6B02}"/>
              </a:ext>
            </a:extLst>
          </p:cNvPr>
          <p:cNvSpPr>
            <a:spLocks xmlns:a="http://schemas.openxmlformats.org/drawingml/2006/main" noGrp="1"/>
          </p:cNvSpPr>
          <p:nvPr/>
        </p:nvSpPr>
        <p:spPr>
          <a:xfrm xmlns:a="http://schemas.openxmlformats.org/drawingml/2006/main">
            <a:off x="9315450" y="2705100"/>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313"/>
                </a:solidFill>
                <a:latin typeface="Aptos"/>
                <a:ea typeface="Aptos"/>
                <a:cs typeface="Aptos"/>
              </a:defRPr>
            </a:pPr>
            <a:r>
              <a:rPr sz="1500" b="1">
                <a:solidFill>
                  <a:srgbClr val="071313"/>
                </a:solidFill>
                <a:latin typeface="Aptos"/>
                <a:ea typeface="Aptos"/>
                <a:cs typeface="Aptos"/>
              </a:rPr>
              <a:t>Data layer</a:t>
            </a:r>
          </a:p>
        </p:txBody>
      </p:sp>
      <p:sp>
        <p:nvSpPr>
          <p:cNvPr id="22" name="">
            <a:extLst xmlns:a="http://schemas.openxmlformats.org/drawingml/2006/main">
              <a:ext uri="{FF2B5EF4-FFF2-40B4-BE49-F238E27FC236}">
                <a16:creationId xmlns:a16="http://schemas.microsoft.com/office/drawing/2014/main" id="{E31193EA-7574-4F35-93F4-0DFAC379C3E9}"/>
              </a:ext>
            </a:extLst>
          </p:cNvPr>
          <p:cNvSpPr>
            <a:spLocks xmlns:a="http://schemas.openxmlformats.org/drawingml/2006/main" noGrp="1"/>
          </p:cNvSpPr>
          <p:nvPr/>
        </p:nvSpPr>
        <p:spPr>
          <a:xfrm xmlns:a="http://schemas.openxmlformats.org/drawingml/2006/main">
            <a:off x="9315450" y="3028950"/>
            <a:ext cx="1504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MongoDB</a:t>
            </a:r>
          </a:p>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Mongoose Model</a:t>
            </a:r>
          </a:p>
        </p:txBody>
      </p:sp>
      <p:sp>
        <p:nvSpPr>
          <p:cNvPr id="23" name="">
            <a:extLst xmlns:a="http://schemas.openxmlformats.org/drawingml/2006/main">
              <a:ext uri="{FF2B5EF4-FFF2-40B4-BE49-F238E27FC236}">
                <a16:creationId xmlns:a16="http://schemas.microsoft.com/office/drawing/2014/main" id="{EC2C412B-FCED-445B-9CEE-5EFBC587D81D}"/>
              </a:ext>
            </a:extLst>
          </p:cNvPr>
          <p:cNvSpPr>
            <a:spLocks xmlns:a="http://schemas.openxmlformats.org/drawingml/2006/main" noGrp="1"/>
          </p:cNvSpPr>
          <p:nvPr/>
        </p:nvSpPr>
        <p:spPr>
          <a:xfrm xmlns:a="http://schemas.openxmlformats.org/drawingml/2006/main">
            <a:off x="6400800" y="4343400"/>
            <a:ext cx="2667000" cy="819150"/>
          </a:xfrm>
          <a:prstGeom xmlns:a="http://schemas.openxmlformats.org/drawingml/2006/main" prst="rect">
            <a:avLst/>
          </a:prstGeom>
          <a:solidFill xmlns:a="http://schemas.openxmlformats.org/drawingml/2006/main">
            <a:srgbClr val="0E2A23"/>
          </a:solidFill>
          <a:ln xmlns:a="http://schemas.openxmlformats.org/drawingml/2006/main" w="9525">
            <a:solidFill>
              <a:srgbClr val="164B3A"/>
            </a:solidFill>
            <a:prstDash val="solid"/>
          </a:ln>
        </p:spPr>
      </p:sp>
      <p:sp>
        <p:nvSpPr>
          <p:cNvPr id="24" name="">
            <a:extLst xmlns:a="http://schemas.openxmlformats.org/drawingml/2006/main">
              <a:ext uri="{FF2B5EF4-FFF2-40B4-BE49-F238E27FC236}">
                <a16:creationId xmlns:a16="http://schemas.microsoft.com/office/drawing/2014/main" id="{CDBDE028-4B80-42BF-B9D6-3083C64D396F}"/>
              </a:ext>
            </a:extLst>
          </p:cNvPr>
          <p:cNvSpPr>
            <a:spLocks xmlns:a="http://schemas.openxmlformats.org/drawingml/2006/main" noGrp="1"/>
          </p:cNvSpPr>
          <p:nvPr/>
        </p:nvSpPr>
        <p:spPr>
          <a:xfrm xmlns:a="http://schemas.openxmlformats.org/drawingml/2006/main">
            <a:off x="6610350" y="451485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External service</a:t>
            </a:r>
          </a:p>
        </p:txBody>
      </p:sp>
      <p:sp>
        <p:nvSpPr>
          <p:cNvPr id="25" name="">
            <a:extLst xmlns:a="http://schemas.openxmlformats.org/drawingml/2006/main">
              <a:ext uri="{FF2B5EF4-FFF2-40B4-BE49-F238E27FC236}">
                <a16:creationId xmlns:a16="http://schemas.microsoft.com/office/drawing/2014/main" id="{9F3271BA-15A2-4D48-9E30-A7F94C10236C}"/>
              </a:ext>
            </a:extLst>
          </p:cNvPr>
          <p:cNvSpPr>
            <a:spLocks xmlns:a="http://schemas.openxmlformats.org/drawingml/2006/main" noGrp="1"/>
          </p:cNvSpPr>
          <p:nvPr/>
        </p:nvSpPr>
        <p:spPr>
          <a:xfrm xmlns:a="http://schemas.openxmlformats.org/drawingml/2006/main">
            <a:off x="6610350" y="481965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9F6DD"/>
                </a:solidFill>
                <a:latin typeface="Aptos"/>
                <a:ea typeface="Aptos"/>
                <a:cs typeface="Aptos"/>
              </a:defRPr>
            </a:pPr>
            <a:r>
              <a:rPr sz="1050" b="0">
                <a:solidFill>
                  <a:srgbClr val="C9F6DD"/>
                </a:solidFill>
                <a:latin typeface="Aptos"/>
                <a:ea typeface="Aptos"/>
                <a:cs typeface="Aptos"/>
              </a:rPr>
              <a:t>SMTP/Nodemailer gửi OTP khôi phục mật khẩu</a:t>
            </a:r>
          </a:p>
        </p:txBody>
      </p:sp>
      <p:sp>
        <p:nvSpPr>
          <p:cNvPr id="26" name="">
            <a:extLst xmlns:a="http://schemas.openxmlformats.org/drawingml/2006/main">
              <a:ext uri="{FF2B5EF4-FFF2-40B4-BE49-F238E27FC236}">
                <a16:creationId xmlns:a16="http://schemas.microsoft.com/office/drawing/2014/main" id="{A7908787-D320-423E-9E4C-37E91F4AE439}"/>
              </a:ext>
            </a:extLst>
          </p:cNvPr>
          <p:cNvSpPr>
            <a:spLocks xmlns:a="http://schemas.openxmlformats.org/drawingml/2006/main" noGrp="1"/>
          </p:cNvSpPr>
          <p:nvPr/>
        </p:nvSpPr>
        <p:spPr>
          <a:xfrm xmlns:a="http://schemas.openxmlformats.org/drawingml/2006/main">
            <a:off x="7239000" y="3619500"/>
            <a:ext cx="28575" cy="7239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E486D3E-B1CD-429A-BE31-76DB324EC80F}"/>
              </a:ext>
            </a:extLst>
          </p:cNvPr>
          <p:cNvSpPr>
            <a:spLocks xmlns:a="http://schemas.openxmlformats.org/drawingml/2006/main" noGrp="1"/>
          </p:cNvSpPr>
          <p:nvPr/>
        </p:nvSpPr>
        <p:spPr>
          <a:xfrm xmlns:a="http://schemas.openxmlformats.org/drawingml/2006/main">
            <a:off x="704850" y="5353050"/>
            <a:ext cx="9334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D8FBE8"/>
                </a:solidFill>
                <a:latin typeface="Aptos"/>
                <a:ea typeface="Aptos"/>
                <a:cs typeface="Aptos"/>
              </a:defRPr>
            </a:pPr>
            <a:r>
              <a:rPr sz="1575" b="0">
                <a:solidFill>
                  <a:srgbClr val="D8FBE8"/>
                </a:solidFill>
                <a:latin typeface="Aptos"/>
                <a:ea typeface="Aptos"/>
                <a:cs typeface="Aptos"/>
              </a:rPr>
              <a:t>Kiến trúc tách lớp giúp frontend tập trung trải nghiệm, backend xử lý nghiệp vụ, database lưu lịch sử học tập và điểm danh.</a:t>
            </a:r>
          </a:p>
        </p:txBody>
      </p:sp>
      <p:sp>
        <p:nvSpPr>
          <p:cNvPr id="28" name="">
            <a:extLst xmlns:a="http://schemas.openxmlformats.org/drawingml/2006/main">
              <a:ext uri="{FF2B5EF4-FFF2-40B4-BE49-F238E27FC236}">
                <a16:creationId xmlns:a16="http://schemas.microsoft.com/office/drawing/2014/main" id="{BE53D84A-ACA4-4A4E-847B-BDE92EC4FE5C}"/>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7F7D8"/>
                </a:solidFill>
                <a:latin typeface="Aptos"/>
                <a:ea typeface="Aptos"/>
                <a:cs typeface="Aptos"/>
              </a:defRPr>
            </a:pPr>
            <a:r>
              <a:rPr sz="900" b="0">
                <a:solidFill>
                  <a:srgbClr val="B7F7D8"/>
                </a:solidFill>
                <a:latin typeface="Aptos"/>
                <a:ea typeface="Aptos"/>
                <a:cs typeface="Aptos"/>
              </a:rPr>
              <a:t>Hệ thống quản lý học tập trực tuyến LMS</a:t>
            </a:r>
          </a:p>
        </p:txBody>
      </p:sp>
      <p:sp>
        <p:nvSpPr>
          <p:cNvPr id="29" name="">
            <a:extLst xmlns:a="http://schemas.openxmlformats.org/drawingml/2006/main">
              <a:ext uri="{FF2B5EF4-FFF2-40B4-BE49-F238E27FC236}">
                <a16:creationId xmlns:a16="http://schemas.microsoft.com/office/drawing/2014/main" id="{F62BECA8-7274-446C-A415-B733F2B7720B}"/>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FFFFF"/>
                </a:solidFill>
                <a:latin typeface="Aptos"/>
                <a:ea typeface="Aptos"/>
                <a:cs typeface="Aptos"/>
              </a:defRPr>
            </a:pPr>
            <a:r>
              <a:rPr sz="975" b="1">
                <a:solidFill>
                  <a:srgbClr val="FFFFFF"/>
                </a:solidFill>
                <a:latin typeface="Aptos"/>
                <a:ea typeface="Aptos"/>
                <a:cs typeface="Aptos"/>
              </a:rPr>
              <a:t>06</a:t>
            </a:r>
          </a:p>
        </p:txBody>
      </p:sp>
    </p:spTree>
    <p:extLst>
      <p:ext uri="{BB962C8B-B14F-4D97-AF65-F5344CB8AC3E}">
        <p14:creationId xmlns:p14="http://schemas.microsoft.com/office/powerpoint/2010/main" val="5643541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3FFD04-BB4B-4FA3-9D02-933286CBC0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2D33ECD-23E7-41BE-A6ED-E2C6D816778D}"/>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27D3DF5-6642-47ED-A56A-723C3C368007}"/>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CÁC CHỨC NĂNG CHÍNH</a:t>
            </a:r>
          </a:p>
        </p:txBody>
      </p:sp>
      <p:sp>
        <p:nvSpPr>
          <p:cNvPr id="4" name="">
            <a:extLst xmlns:a="http://schemas.openxmlformats.org/drawingml/2006/main">
              <a:ext uri="{FF2B5EF4-FFF2-40B4-BE49-F238E27FC236}">
                <a16:creationId xmlns:a16="http://schemas.microsoft.com/office/drawing/2014/main" id="{DBED02E8-5BB3-421D-88C0-67CCF8DFFDF1}"/>
              </a:ext>
            </a:extLst>
          </p:cNvPr>
          <p:cNvSpPr>
            <a:spLocks xmlns:a="http://schemas.openxmlformats.org/drawingml/2006/main" noGrp="1"/>
          </p:cNvSpPr>
          <p:nvPr/>
        </p:nvSpPr>
        <p:spPr>
          <a:xfrm xmlns:a="http://schemas.openxmlformats.org/drawingml/2006/main">
            <a:off x="609600" y="8001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71313"/>
                </a:solidFill>
                <a:latin typeface="Aptos Display"/>
                <a:ea typeface="Aptos Display"/>
                <a:cs typeface="Aptos Display"/>
              </a:defRPr>
            </a:pPr>
            <a:r>
              <a:rPr sz="3000" b="1">
                <a:solidFill>
                  <a:srgbClr val="071313"/>
                </a:solidFill>
                <a:latin typeface="Aptos Display"/>
                <a:ea typeface="Aptos Display"/>
                <a:cs typeface="Aptos Display"/>
              </a:rPr>
              <a:t>Ba vai trò sử dụng chung nền tảng nhưng khác luồng nghiệp vụ</a:t>
            </a:r>
          </a:p>
        </p:txBody>
      </p:sp>
      <p:sp>
        <p:nvSpPr>
          <p:cNvPr id="5" name="">
            <a:extLst xmlns:a="http://schemas.openxmlformats.org/drawingml/2006/main">
              <a:ext uri="{FF2B5EF4-FFF2-40B4-BE49-F238E27FC236}">
                <a16:creationId xmlns:a16="http://schemas.microsoft.com/office/drawing/2014/main" id="{CAD05468-BD95-40D2-8F50-B7D25CC522CA}"/>
              </a:ext>
            </a:extLst>
          </p:cNvPr>
          <p:cNvSpPr>
            <a:spLocks xmlns:a="http://schemas.openxmlformats.org/drawingml/2006/main" noGrp="1"/>
          </p:cNvSpPr>
          <p:nvPr/>
        </p:nvSpPr>
        <p:spPr>
          <a:xfrm xmlns:a="http://schemas.openxmlformats.org/drawingml/2006/main">
            <a:off x="609600" y="1885950"/>
            <a:ext cx="23241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6" name="">
            <a:extLst xmlns:a="http://schemas.openxmlformats.org/drawingml/2006/main">
              <a:ext uri="{FF2B5EF4-FFF2-40B4-BE49-F238E27FC236}">
                <a16:creationId xmlns:a16="http://schemas.microsoft.com/office/drawing/2014/main" id="{C5F9A18F-199D-4F68-829E-D3CEF10AC3EF}"/>
              </a:ext>
            </a:extLst>
          </p:cNvPr>
          <p:cNvSpPr>
            <a:spLocks xmlns:a="http://schemas.openxmlformats.org/drawingml/2006/main" noGrp="1"/>
          </p:cNvSpPr>
          <p:nvPr/>
        </p:nvSpPr>
        <p:spPr>
          <a:xfrm xmlns:a="http://schemas.openxmlformats.org/drawingml/2006/main">
            <a:off x="609600" y="1885950"/>
            <a:ext cx="2324100" cy="762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67D4102-AA0E-47FC-877D-E05B2719E234}"/>
              </a:ext>
            </a:extLst>
          </p:cNvPr>
          <p:cNvSpPr>
            <a:spLocks xmlns:a="http://schemas.openxmlformats.org/drawingml/2006/main" noGrp="1"/>
          </p:cNvSpPr>
          <p:nvPr/>
        </p:nvSpPr>
        <p:spPr>
          <a:xfrm xmlns:a="http://schemas.openxmlformats.org/drawingml/2006/main">
            <a:off x="781050" y="2133600"/>
            <a:ext cx="1981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Admin</a:t>
            </a:r>
          </a:p>
        </p:txBody>
      </p:sp>
      <p:sp>
        <p:nvSpPr>
          <p:cNvPr id="8" name="">
            <a:extLst xmlns:a="http://schemas.openxmlformats.org/drawingml/2006/main">
              <a:ext uri="{FF2B5EF4-FFF2-40B4-BE49-F238E27FC236}">
                <a16:creationId xmlns:a16="http://schemas.microsoft.com/office/drawing/2014/main" id="{C4DC9341-004F-484B-BA30-1A9895C19018}"/>
              </a:ext>
            </a:extLst>
          </p:cNvPr>
          <p:cNvSpPr>
            <a:spLocks xmlns:a="http://schemas.openxmlformats.org/drawingml/2006/main" noGrp="1"/>
          </p:cNvSpPr>
          <p:nvPr/>
        </p:nvSpPr>
        <p:spPr>
          <a:xfrm xmlns:a="http://schemas.openxmlformats.org/drawingml/2006/main">
            <a:off x="781050" y="2714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47A1A54-3393-462A-8F11-00FDB2674002}"/>
              </a:ext>
            </a:extLst>
          </p:cNvPr>
          <p:cNvSpPr>
            <a:spLocks xmlns:a="http://schemas.openxmlformats.org/drawingml/2006/main" noGrp="1"/>
          </p:cNvSpPr>
          <p:nvPr/>
        </p:nvSpPr>
        <p:spPr>
          <a:xfrm xmlns:a="http://schemas.openxmlformats.org/drawingml/2006/main">
            <a:off x="1009650" y="26289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Người dùng</a:t>
            </a:r>
          </a:p>
        </p:txBody>
      </p:sp>
      <p:sp>
        <p:nvSpPr>
          <p:cNvPr id="10" name="">
            <a:extLst xmlns:a="http://schemas.openxmlformats.org/drawingml/2006/main">
              <a:ext uri="{FF2B5EF4-FFF2-40B4-BE49-F238E27FC236}">
                <a16:creationId xmlns:a16="http://schemas.microsoft.com/office/drawing/2014/main" id="{65396CA9-8FA6-475F-A3E0-5811E18E5150}"/>
              </a:ext>
            </a:extLst>
          </p:cNvPr>
          <p:cNvSpPr>
            <a:spLocks xmlns:a="http://schemas.openxmlformats.org/drawingml/2006/main" noGrp="1"/>
          </p:cNvSpPr>
          <p:nvPr/>
        </p:nvSpPr>
        <p:spPr>
          <a:xfrm xmlns:a="http://schemas.openxmlformats.org/drawingml/2006/main">
            <a:off x="781050" y="31337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305487F-857D-4852-BDE5-61DFA25140C6}"/>
              </a:ext>
            </a:extLst>
          </p:cNvPr>
          <p:cNvSpPr>
            <a:spLocks xmlns:a="http://schemas.openxmlformats.org/drawingml/2006/main" noGrp="1"/>
          </p:cNvSpPr>
          <p:nvPr/>
        </p:nvSpPr>
        <p:spPr>
          <a:xfrm xmlns:a="http://schemas.openxmlformats.org/drawingml/2006/main">
            <a:off x="1009650" y="30480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Chuyên ngành</a:t>
            </a:r>
          </a:p>
        </p:txBody>
      </p:sp>
      <p:sp>
        <p:nvSpPr>
          <p:cNvPr id="12" name="">
            <a:extLst xmlns:a="http://schemas.openxmlformats.org/drawingml/2006/main">
              <a:ext uri="{FF2B5EF4-FFF2-40B4-BE49-F238E27FC236}">
                <a16:creationId xmlns:a16="http://schemas.microsoft.com/office/drawing/2014/main" id="{21EC212F-3C7E-406A-85C9-D4649359BDBE}"/>
              </a:ext>
            </a:extLst>
          </p:cNvPr>
          <p:cNvSpPr>
            <a:spLocks xmlns:a="http://schemas.openxmlformats.org/drawingml/2006/main" noGrp="1"/>
          </p:cNvSpPr>
          <p:nvPr/>
        </p:nvSpPr>
        <p:spPr>
          <a:xfrm xmlns:a="http://schemas.openxmlformats.org/drawingml/2006/main">
            <a:off x="781050" y="35528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9E9F370-6108-43B2-AD05-50FDFCF03E1B}"/>
              </a:ext>
            </a:extLst>
          </p:cNvPr>
          <p:cNvSpPr>
            <a:spLocks xmlns:a="http://schemas.openxmlformats.org/drawingml/2006/main" noGrp="1"/>
          </p:cNvSpPr>
          <p:nvPr/>
        </p:nvSpPr>
        <p:spPr>
          <a:xfrm xmlns:a="http://schemas.openxmlformats.org/drawingml/2006/main">
            <a:off x="1009650" y="34671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Môn học</a:t>
            </a:r>
          </a:p>
        </p:txBody>
      </p:sp>
      <p:sp>
        <p:nvSpPr>
          <p:cNvPr id="14" name="">
            <a:extLst xmlns:a="http://schemas.openxmlformats.org/drawingml/2006/main">
              <a:ext uri="{FF2B5EF4-FFF2-40B4-BE49-F238E27FC236}">
                <a16:creationId xmlns:a16="http://schemas.microsoft.com/office/drawing/2014/main" id="{F6792444-3CCB-485C-B755-6D9A0227FC09}"/>
              </a:ext>
            </a:extLst>
          </p:cNvPr>
          <p:cNvSpPr>
            <a:spLocks xmlns:a="http://schemas.openxmlformats.org/drawingml/2006/main" noGrp="1"/>
          </p:cNvSpPr>
          <p:nvPr/>
        </p:nvSpPr>
        <p:spPr>
          <a:xfrm xmlns:a="http://schemas.openxmlformats.org/drawingml/2006/main">
            <a:off x="781050" y="39719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2F28F8C-AFD8-4EB7-BAE5-75A2157183E6}"/>
              </a:ext>
            </a:extLst>
          </p:cNvPr>
          <p:cNvSpPr>
            <a:spLocks xmlns:a="http://schemas.openxmlformats.org/drawingml/2006/main" noGrp="1"/>
          </p:cNvSpPr>
          <p:nvPr/>
        </p:nvSpPr>
        <p:spPr>
          <a:xfrm xmlns:a="http://schemas.openxmlformats.org/drawingml/2006/main">
            <a:off x="1009650" y="38862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Lớp học</a:t>
            </a:r>
          </a:p>
        </p:txBody>
      </p:sp>
      <p:sp>
        <p:nvSpPr>
          <p:cNvPr id="16" name="">
            <a:extLst xmlns:a="http://schemas.openxmlformats.org/drawingml/2006/main">
              <a:ext uri="{FF2B5EF4-FFF2-40B4-BE49-F238E27FC236}">
                <a16:creationId xmlns:a16="http://schemas.microsoft.com/office/drawing/2014/main" id="{3B1A9141-2EB1-4DEF-975E-DDDC04302B01}"/>
              </a:ext>
            </a:extLst>
          </p:cNvPr>
          <p:cNvSpPr>
            <a:spLocks xmlns:a="http://schemas.openxmlformats.org/drawingml/2006/main" noGrp="1"/>
          </p:cNvSpPr>
          <p:nvPr/>
        </p:nvSpPr>
        <p:spPr>
          <a:xfrm xmlns:a="http://schemas.openxmlformats.org/drawingml/2006/main">
            <a:off x="3143250" y="1885950"/>
            <a:ext cx="23241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17" name="">
            <a:extLst xmlns:a="http://schemas.openxmlformats.org/drawingml/2006/main">
              <a:ext uri="{FF2B5EF4-FFF2-40B4-BE49-F238E27FC236}">
                <a16:creationId xmlns:a16="http://schemas.microsoft.com/office/drawing/2014/main" id="{073318DE-FB5E-47D6-AC8B-AE85A98D0CDD}"/>
              </a:ext>
            </a:extLst>
          </p:cNvPr>
          <p:cNvSpPr>
            <a:spLocks xmlns:a="http://schemas.openxmlformats.org/drawingml/2006/main" noGrp="1"/>
          </p:cNvSpPr>
          <p:nvPr/>
        </p:nvSpPr>
        <p:spPr>
          <a:xfrm xmlns:a="http://schemas.openxmlformats.org/drawingml/2006/main">
            <a:off x="3143250" y="1885950"/>
            <a:ext cx="2324100" cy="762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E603D27-375E-43AC-9827-D7EE6A665267}"/>
              </a:ext>
            </a:extLst>
          </p:cNvPr>
          <p:cNvSpPr>
            <a:spLocks xmlns:a="http://schemas.openxmlformats.org/drawingml/2006/main" noGrp="1"/>
          </p:cNvSpPr>
          <p:nvPr/>
        </p:nvSpPr>
        <p:spPr>
          <a:xfrm xmlns:a="http://schemas.openxmlformats.org/drawingml/2006/main">
            <a:off x="3314700" y="2133600"/>
            <a:ext cx="1981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Giảng viên</a:t>
            </a:r>
          </a:p>
        </p:txBody>
      </p:sp>
      <p:sp>
        <p:nvSpPr>
          <p:cNvPr id="19" name="">
            <a:extLst xmlns:a="http://schemas.openxmlformats.org/drawingml/2006/main">
              <a:ext uri="{FF2B5EF4-FFF2-40B4-BE49-F238E27FC236}">
                <a16:creationId xmlns:a16="http://schemas.microsoft.com/office/drawing/2014/main" id="{C1CFB184-B48E-40F6-A16F-3A12C25A41F9}"/>
              </a:ext>
            </a:extLst>
          </p:cNvPr>
          <p:cNvSpPr>
            <a:spLocks xmlns:a="http://schemas.openxmlformats.org/drawingml/2006/main" noGrp="1"/>
          </p:cNvSpPr>
          <p:nvPr/>
        </p:nvSpPr>
        <p:spPr>
          <a:xfrm xmlns:a="http://schemas.openxmlformats.org/drawingml/2006/main">
            <a:off x="3314700" y="2714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7A0445A-5FC2-4D5D-A354-8440D3AAA5DA}"/>
              </a:ext>
            </a:extLst>
          </p:cNvPr>
          <p:cNvSpPr>
            <a:spLocks xmlns:a="http://schemas.openxmlformats.org/drawingml/2006/main" noGrp="1"/>
          </p:cNvSpPr>
          <p:nvPr/>
        </p:nvSpPr>
        <p:spPr>
          <a:xfrm xmlns:a="http://schemas.openxmlformats.org/drawingml/2006/main">
            <a:off x="3543300" y="26289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Lịch dạy</a:t>
            </a:r>
          </a:p>
        </p:txBody>
      </p:sp>
      <p:sp>
        <p:nvSpPr>
          <p:cNvPr id="21" name="">
            <a:extLst xmlns:a="http://schemas.openxmlformats.org/drawingml/2006/main">
              <a:ext uri="{FF2B5EF4-FFF2-40B4-BE49-F238E27FC236}">
                <a16:creationId xmlns:a16="http://schemas.microsoft.com/office/drawing/2014/main" id="{CC540289-1D43-43D8-9BA2-4DD78C556F54}"/>
              </a:ext>
            </a:extLst>
          </p:cNvPr>
          <p:cNvSpPr>
            <a:spLocks xmlns:a="http://schemas.openxmlformats.org/drawingml/2006/main" noGrp="1"/>
          </p:cNvSpPr>
          <p:nvPr/>
        </p:nvSpPr>
        <p:spPr>
          <a:xfrm xmlns:a="http://schemas.openxmlformats.org/drawingml/2006/main">
            <a:off x="3314700" y="31337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06E1980-A369-42FF-98C3-7500C219AFAA}"/>
              </a:ext>
            </a:extLst>
          </p:cNvPr>
          <p:cNvSpPr>
            <a:spLocks xmlns:a="http://schemas.openxmlformats.org/drawingml/2006/main" noGrp="1"/>
          </p:cNvSpPr>
          <p:nvPr/>
        </p:nvSpPr>
        <p:spPr>
          <a:xfrm xmlns:a="http://schemas.openxmlformats.org/drawingml/2006/main">
            <a:off x="3543300" y="30480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Quản lý lớp</a:t>
            </a:r>
          </a:p>
        </p:txBody>
      </p:sp>
      <p:sp>
        <p:nvSpPr>
          <p:cNvPr id="23" name="">
            <a:extLst xmlns:a="http://schemas.openxmlformats.org/drawingml/2006/main">
              <a:ext uri="{FF2B5EF4-FFF2-40B4-BE49-F238E27FC236}">
                <a16:creationId xmlns:a16="http://schemas.microsoft.com/office/drawing/2014/main" id="{D188ABB3-A1B1-484D-A741-4B6CA86D98B4}"/>
              </a:ext>
            </a:extLst>
          </p:cNvPr>
          <p:cNvSpPr>
            <a:spLocks xmlns:a="http://schemas.openxmlformats.org/drawingml/2006/main" noGrp="1"/>
          </p:cNvSpPr>
          <p:nvPr/>
        </p:nvSpPr>
        <p:spPr>
          <a:xfrm xmlns:a="http://schemas.openxmlformats.org/drawingml/2006/main">
            <a:off x="3314700" y="35528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F374047-8383-4F03-80FC-417324C08831}"/>
              </a:ext>
            </a:extLst>
          </p:cNvPr>
          <p:cNvSpPr>
            <a:spLocks xmlns:a="http://schemas.openxmlformats.org/drawingml/2006/main" noGrp="1"/>
          </p:cNvSpPr>
          <p:nvPr/>
        </p:nvSpPr>
        <p:spPr>
          <a:xfrm xmlns:a="http://schemas.openxmlformats.org/drawingml/2006/main">
            <a:off x="3543300" y="34671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Điểm danh</a:t>
            </a:r>
          </a:p>
        </p:txBody>
      </p:sp>
      <p:sp>
        <p:nvSpPr>
          <p:cNvPr id="25" name="">
            <a:extLst xmlns:a="http://schemas.openxmlformats.org/drawingml/2006/main">
              <a:ext uri="{FF2B5EF4-FFF2-40B4-BE49-F238E27FC236}">
                <a16:creationId xmlns:a16="http://schemas.microsoft.com/office/drawing/2014/main" id="{05997B59-CE4E-4205-8DB0-AA9E754819E7}"/>
              </a:ext>
            </a:extLst>
          </p:cNvPr>
          <p:cNvSpPr>
            <a:spLocks xmlns:a="http://schemas.openxmlformats.org/drawingml/2006/main" noGrp="1"/>
          </p:cNvSpPr>
          <p:nvPr/>
        </p:nvSpPr>
        <p:spPr>
          <a:xfrm xmlns:a="http://schemas.openxmlformats.org/drawingml/2006/main">
            <a:off x="3314700" y="39719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3BDD2DA7-CF0C-4032-A914-2A8F345723B0}"/>
              </a:ext>
            </a:extLst>
          </p:cNvPr>
          <p:cNvSpPr>
            <a:spLocks xmlns:a="http://schemas.openxmlformats.org/drawingml/2006/main" noGrp="1"/>
          </p:cNvSpPr>
          <p:nvPr/>
        </p:nvSpPr>
        <p:spPr>
          <a:xfrm xmlns:a="http://schemas.openxmlformats.org/drawingml/2006/main">
            <a:off x="3543300" y="38862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Lịch sử lương</a:t>
            </a:r>
          </a:p>
        </p:txBody>
      </p:sp>
      <p:sp>
        <p:nvSpPr>
          <p:cNvPr id="27" name="">
            <a:extLst xmlns:a="http://schemas.openxmlformats.org/drawingml/2006/main">
              <a:ext uri="{FF2B5EF4-FFF2-40B4-BE49-F238E27FC236}">
                <a16:creationId xmlns:a16="http://schemas.microsoft.com/office/drawing/2014/main" id="{1122D3F2-0677-4F7F-9798-6D91521CBAD1}"/>
              </a:ext>
            </a:extLst>
          </p:cNvPr>
          <p:cNvSpPr>
            <a:spLocks xmlns:a="http://schemas.openxmlformats.org/drawingml/2006/main" noGrp="1"/>
          </p:cNvSpPr>
          <p:nvPr/>
        </p:nvSpPr>
        <p:spPr>
          <a:xfrm xmlns:a="http://schemas.openxmlformats.org/drawingml/2006/main">
            <a:off x="5676900" y="1885950"/>
            <a:ext cx="23241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8" name="">
            <a:extLst xmlns:a="http://schemas.openxmlformats.org/drawingml/2006/main">
              <a:ext uri="{FF2B5EF4-FFF2-40B4-BE49-F238E27FC236}">
                <a16:creationId xmlns:a16="http://schemas.microsoft.com/office/drawing/2014/main" id="{A1C8109A-2482-4F17-A1A6-C0B9D7D92E4F}"/>
              </a:ext>
            </a:extLst>
          </p:cNvPr>
          <p:cNvSpPr>
            <a:spLocks xmlns:a="http://schemas.openxmlformats.org/drawingml/2006/main" noGrp="1"/>
          </p:cNvSpPr>
          <p:nvPr/>
        </p:nvSpPr>
        <p:spPr>
          <a:xfrm xmlns:a="http://schemas.openxmlformats.org/drawingml/2006/main">
            <a:off x="5676900" y="1885950"/>
            <a:ext cx="2324100" cy="76200"/>
          </a:xfrm>
          <a:prstGeom xmlns:a="http://schemas.openxmlformats.org/drawingml/2006/main" prst="rect">
            <a:avLst/>
          </a:prstGeom>
          <a:solidFill xmlns:a="http://schemas.openxmlformats.org/drawingml/2006/main">
            <a:srgbClr val="34D39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D9764C6-428E-44E9-94CE-75CDD554D68E}"/>
              </a:ext>
            </a:extLst>
          </p:cNvPr>
          <p:cNvSpPr>
            <a:spLocks xmlns:a="http://schemas.openxmlformats.org/drawingml/2006/main" noGrp="1"/>
          </p:cNvSpPr>
          <p:nvPr/>
        </p:nvSpPr>
        <p:spPr>
          <a:xfrm xmlns:a="http://schemas.openxmlformats.org/drawingml/2006/main">
            <a:off x="5848350" y="2133600"/>
            <a:ext cx="1981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Sinh viên</a:t>
            </a:r>
          </a:p>
        </p:txBody>
      </p:sp>
      <p:sp>
        <p:nvSpPr>
          <p:cNvPr id="30" name="">
            <a:extLst xmlns:a="http://schemas.openxmlformats.org/drawingml/2006/main">
              <a:ext uri="{FF2B5EF4-FFF2-40B4-BE49-F238E27FC236}">
                <a16:creationId xmlns:a16="http://schemas.microsoft.com/office/drawing/2014/main" id="{5CB2FEA8-EA9E-42AD-BC81-7122BA83CE0D}"/>
              </a:ext>
            </a:extLst>
          </p:cNvPr>
          <p:cNvSpPr>
            <a:spLocks xmlns:a="http://schemas.openxmlformats.org/drawingml/2006/main" noGrp="1"/>
          </p:cNvSpPr>
          <p:nvPr/>
        </p:nvSpPr>
        <p:spPr>
          <a:xfrm xmlns:a="http://schemas.openxmlformats.org/drawingml/2006/main">
            <a:off x="5848350" y="2714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0B7BC69-0567-412E-8917-A4ACC5293F5E}"/>
              </a:ext>
            </a:extLst>
          </p:cNvPr>
          <p:cNvSpPr>
            <a:spLocks xmlns:a="http://schemas.openxmlformats.org/drawingml/2006/main" noGrp="1"/>
          </p:cNvSpPr>
          <p:nvPr/>
        </p:nvSpPr>
        <p:spPr>
          <a:xfrm xmlns:a="http://schemas.openxmlformats.org/drawingml/2006/main">
            <a:off x="6076950" y="26289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Lớp học</a:t>
            </a:r>
          </a:p>
        </p:txBody>
      </p:sp>
      <p:sp>
        <p:nvSpPr>
          <p:cNvPr id="32" name="">
            <a:extLst xmlns:a="http://schemas.openxmlformats.org/drawingml/2006/main">
              <a:ext uri="{FF2B5EF4-FFF2-40B4-BE49-F238E27FC236}">
                <a16:creationId xmlns:a16="http://schemas.microsoft.com/office/drawing/2014/main" id="{FF329845-8FE9-4098-9847-E87CF9A7CC72}"/>
              </a:ext>
            </a:extLst>
          </p:cNvPr>
          <p:cNvSpPr>
            <a:spLocks xmlns:a="http://schemas.openxmlformats.org/drawingml/2006/main" noGrp="1"/>
          </p:cNvSpPr>
          <p:nvPr/>
        </p:nvSpPr>
        <p:spPr>
          <a:xfrm xmlns:a="http://schemas.openxmlformats.org/drawingml/2006/main">
            <a:off x="5848350" y="31337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687FB493-4FA0-4533-B090-B568925C3829}"/>
              </a:ext>
            </a:extLst>
          </p:cNvPr>
          <p:cNvSpPr>
            <a:spLocks xmlns:a="http://schemas.openxmlformats.org/drawingml/2006/main" noGrp="1"/>
          </p:cNvSpPr>
          <p:nvPr/>
        </p:nvSpPr>
        <p:spPr>
          <a:xfrm xmlns:a="http://schemas.openxmlformats.org/drawingml/2006/main">
            <a:off x="6076950" y="30480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Lịch học</a:t>
            </a:r>
          </a:p>
        </p:txBody>
      </p:sp>
      <p:sp>
        <p:nvSpPr>
          <p:cNvPr id="34" name="">
            <a:extLst xmlns:a="http://schemas.openxmlformats.org/drawingml/2006/main">
              <a:ext uri="{FF2B5EF4-FFF2-40B4-BE49-F238E27FC236}">
                <a16:creationId xmlns:a16="http://schemas.microsoft.com/office/drawing/2014/main" id="{4A712432-22C8-438F-A26A-96D55D4B102B}"/>
              </a:ext>
            </a:extLst>
          </p:cNvPr>
          <p:cNvSpPr>
            <a:spLocks xmlns:a="http://schemas.openxmlformats.org/drawingml/2006/main" noGrp="1"/>
          </p:cNvSpPr>
          <p:nvPr/>
        </p:nvSpPr>
        <p:spPr>
          <a:xfrm xmlns:a="http://schemas.openxmlformats.org/drawingml/2006/main">
            <a:off x="5848350" y="35528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75142FF-F87C-4CC9-98E1-871F4E7507DC}"/>
              </a:ext>
            </a:extLst>
          </p:cNvPr>
          <p:cNvSpPr>
            <a:spLocks xmlns:a="http://schemas.openxmlformats.org/drawingml/2006/main" noGrp="1"/>
          </p:cNvSpPr>
          <p:nvPr/>
        </p:nvSpPr>
        <p:spPr>
          <a:xfrm xmlns:a="http://schemas.openxmlformats.org/drawingml/2006/main">
            <a:off x="6076950" y="34671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Quét QR</a:t>
            </a:r>
          </a:p>
        </p:txBody>
      </p:sp>
      <p:sp>
        <p:nvSpPr>
          <p:cNvPr id="36" name="">
            <a:extLst xmlns:a="http://schemas.openxmlformats.org/drawingml/2006/main">
              <a:ext uri="{FF2B5EF4-FFF2-40B4-BE49-F238E27FC236}">
                <a16:creationId xmlns:a16="http://schemas.microsoft.com/office/drawing/2014/main" id="{D7092CBF-C9B7-49B2-924B-2EC4BC720BF3}"/>
              </a:ext>
            </a:extLst>
          </p:cNvPr>
          <p:cNvSpPr>
            <a:spLocks xmlns:a="http://schemas.openxmlformats.org/drawingml/2006/main" noGrp="1"/>
          </p:cNvSpPr>
          <p:nvPr/>
        </p:nvSpPr>
        <p:spPr>
          <a:xfrm xmlns:a="http://schemas.openxmlformats.org/drawingml/2006/main">
            <a:off x="5848350" y="39719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12BD58A4-37BB-4F60-A554-A10344B03612}"/>
              </a:ext>
            </a:extLst>
          </p:cNvPr>
          <p:cNvSpPr>
            <a:spLocks xmlns:a="http://schemas.openxmlformats.org/drawingml/2006/main" noGrp="1"/>
          </p:cNvSpPr>
          <p:nvPr/>
        </p:nvSpPr>
        <p:spPr>
          <a:xfrm xmlns:a="http://schemas.openxmlformats.org/drawingml/2006/main">
            <a:off x="6076950" y="3886200"/>
            <a:ext cx="18478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Aptos"/>
                <a:ea typeface="Aptos"/>
                <a:cs typeface="Aptos"/>
              </a:defRPr>
            </a:pPr>
            <a:r>
              <a:rPr sz="1275" b="0">
                <a:solidFill>
                  <a:srgbClr val="1F2937"/>
                </a:solidFill>
                <a:latin typeface="Aptos"/>
                <a:ea typeface="Aptos"/>
                <a:cs typeface="Aptos"/>
              </a:rPr>
              <a:t>Lịch sử điểm danh</a:t>
            </a:r>
          </a:p>
        </p:txBody>
      </p:sp>
      <p:sp>
        <p:nvSpPr>
          <p:cNvPr id="38" name="">
            <a:extLst xmlns:a="http://schemas.openxmlformats.org/drawingml/2006/main">
              <a:ext uri="{FF2B5EF4-FFF2-40B4-BE49-F238E27FC236}">
                <a16:creationId xmlns:a16="http://schemas.microsoft.com/office/drawing/2014/main" id="{D72C23FD-3FC1-4051-BDCB-F2963B72B011}"/>
              </a:ext>
            </a:extLst>
          </p:cNvPr>
          <p:cNvSpPr>
            <a:spLocks xmlns:a="http://schemas.openxmlformats.org/drawingml/2006/main" noGrp="1"/>
          </p:cNvSpPr>
          <p:nvPr/>
        </p:nvSpPr>
        <p:spPr>
          <a:xfrm xmlns:a="http://schemas.openxmlformats.org/drawingml/2006/main">
            <a:off x="8420100" y="1352550"/>
            <a:ext cx="2762250" cy="44577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39" name="">
            <a:extLst xmlns:a="http://schemas.openxmlformats.org/drawingml/2006/main">
              <a:ext uri="{FF2B5EF4-FFF2-40B4-BE49-F238E27FC236}">
                <a16:creationId xmlns:a16="http://schemas.microsoft.com/office/drawing/2014/main" id="{BD652579-FD9A-439B-ACA9-2FC03F2D37C4}"/>
              </a:ext>
            </a:extLst>
          </p:cNvPr>
          <p:cNvSpPr>
            <a:spLocks xmlns:a="http://schemas.openxmlformats.org/drawingml/2006/main" noGrp="1"/>
          </p:cNvSpPr>
          <p:nvPr/>
        </p:nvSpPr>
        <p:spPr>
          <a:xfrm xmlns:a="http://schemas.openxmlformats.org/drawingml/2006/main">
            <a:off x="8420100" y="1352550"/>
            <a:ext cx="276225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3BF1AF75-9F63-495A-8950-6E4B65A796BE}"/>
              </a:ext>
            </a:extLst>
          </p:cNvPr>
          <p:cNvSpPr>
            <a:spLocks xmlns:a="http://schemas.openxmlformats.org/drawingml/2006/main" noGrp="1"/>
          </p:cNvSpPr>
          <p:nvPr/>
        </p:nvSpPr>
        <p:spPr>
          <a:xfrm xmlns:a="http://schemas.openxmlformats.org/drawingml/2006/main">
            <a:off x="8534400" y="14382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CF3A53FB-73E2-4D1F-9A9A-6FF1236E6AA6}"/>
              </a:ext>
            </a:extLst>
          </p:cNvPr>
          <p:cNvSpPr>
            <a:spLocks xmlns:a="http://schemas.openxmlformats.org/drawingml/2006/main" noGrp="1"/>
          </p:cNvSpPr>
          <p:nvPr/>
        </p:nvSpPr>
        <p:spPr>
          <a:xfrm xmlns:a="http://schemas.openxmlformats.org/drawingml/2006/main">
            <a:off x="8648700" y="14382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3D90214-9D14-400C-B989-07714448A63A}"/>
              </a:ext>
            </a:extLst>
          </p:cNvPr>
          <p:cNvSpPr>
            <a:spLocks xmlns:a="http://schemas.openxmlformats.org/drawingml/2006/main" noGrp="1"/>
          </p:cNvSpPr>
          <p:nvPr/>
        </p:nvSpPr>
        <p:spPr>
          <a:xfrm xmlns:a="http://schemas.openxmlformats.org/drawingml/2006/main">
            <a:off x="8763000" y="14382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fc951f6e09e4625"/>
          <a:stretch xmlns:a="http://schemas.openxmlformats.org/drawingml/2006/main"/>
        </p:blipFill>
        <p:spPr>
          <a:xfrm xmlns:a="http://schemas.openxmlformats.org/drawingml/2006/main">
            <a:off x="8496300" y="2351938"/>
            <a:ext cx="2609850" cy="2687524"/>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7FEBB053-B7B0-49BA-A5B2-DD3A41073060}"/>
              </a:ext>
            </a:extLst>
          </p:cNvPr>
          <p:cNvSpPr>
            <a:spLocks xmlns:a="http://schemas.openxmlformats.org/drawingml/2006/main" noGrp="1"/>
          </p:cNvSpPr>
          <p:nvPr/>
        </p:nvSpPr>
        <p:spPr>
          <a:xfrm xmlns:a="http://schemas.openxmlformats.org/drawingml/2006/main">
            <a:off x="8534400" y="5591175"/>
            <a:ext cx="2533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Use case tổng quát</a:t>
            </a:r>
          </a:p>
        </p:txBody>
      </p:sp>
      <p:sp>
        <p:nvSpPr>
          <p:cNvPr id="45" name="">
            <a:extLst xmlns:a="http://schemas.openxmlformats.org/drawingml/2006/main">
              <a:ext uri="{FF2B5EF4-FFF2-40B4-BE49-F238E27FC236}">
                <a16:creationId xmlns:a16="http://schemas.microsoft.com/office/drawing/2014/main" id="{26F810D0-AE63-4DCB-8D9C-5C03D74E3018}"/>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46" name="">
            <a:extLst xmlns:a="http://schemas.openxmlformats.org/drawingml/2006/main">
              <a:ext uri="{FF2B5EF4-FFF2-40B4-BE49-F238E27FC236}">
                <a16:creationId xmlns:a16="http://schemas.microsoft.com/office/drawing/2014/main" id="{32ED356C-EDA2-43A9-9251-9853E9F9750E}"/>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07</a:t>
            </a:r>
          </a:p>
        </p:txBody>
      </p:sp>
    </p:spTree>
    <p:extLst>
      <p:ext uri="{BB962C8B-B14F-4D97-AF65-F5344CB8AC3E}">
        <p14:creationId xmlns:p14="http://schemas.microsoft.com/office/powerpoint/2010/main" val="4048288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0C6AFE-DD0D-4263-8336-FC067D8B1D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354EDCF-CCBD-453B-BD53-7F7B9083EF3A}"/>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4E00649-E3E6-497B-AF37-A3241E84082E}"/>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7F7D8"/>
                </a:solidFill>
                <a:latin typeface="Aptos"/>
                <a:ea typeface="Aptos"/>
                <a:cs typeface="Aptos"/>
              </a:defRPr>
            </a:pPr>
            <a:r>
              <a:rPr sz="975" b="1">
                <a:solidFill>
                  <a:srgbClr val="B7F7D8"/>
                </a:solidFill>
                <a:latin typeface="Aptos"/>
                <a:ea typeface="Aptos"/>
                <a:cs typeface="Aptos"/>
              </a:rPr>
              <a:t>DEMO GIAO DIỆN ADMIN</a:t>
            </a:r>
          </a:p>
        </p:txBody>
      </p:sp>
      <p:sp>
        <p:nvSpPr>
          <p:cNvPr id="4" name="">
            <a:extLst xmlns:a="http://schemas.openxmlformats.org/drawingml/2006/main">
              <a:ext uri="{FF2B5EF4-FFF2-40B4-BE49-F238E27FC236}">
                <a16:creationId xmlns:a16="http://schemas.microsoft.com/office/drawing/2014/main" id="{AD9CA483-FDD7-4461-8325-CC1D7FCCFFD6}"/>
              </a:ext>
            </a:extLst>
          </p:cNvPr>
          <p:cNvSpPr>
            <a:spLocks xmlns:a="http://schemas.openxmlformats.org/drawingml/2006/main" noGrp="1"/>
          </p:cNvSpPr>
          <p:nvPr/>
        </p:nvSpPr>
        <p:spPr>
          <a:xfrm xmlns:a="http://schemas.openxmlformats.org/drawingml/2006/main">
            <a:off x="609600" y="781050"/>
            <a:ext cx="7429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Dashboard Admin gom các thao tác quản trị dữ liệu nền</a:t>
            </a:r>
          </a:p>
        </p:txBody>
      </p:sp>
      <p:sp>
        <p:nvSpPr>
          <p:cNvPr id="5" name="">
            <a:extLst xmlns:a="http://schemas.openxmlformats.org/drawingml/2006/main">
              <a:ext uri="{FF2B5EF4-FFF2-40B4-BE49-F238E27FC236}">
                <a16:creationId xmlns:a16="http://schemas.microsoft.com/office/drawing/2014/main" id="{57FA625A-2328-4EF1-B5A3-488AC0F8F6A9}"/>
              </a:ext>
            </a:extLst>
          </p:cNvPr>
          <p:cNvSpPr>
            <a:spLocks xmlns:a="http://schemas.openxmlformats.org/drawingml/2006/main" noGrp="1"/>
          </p:cNvSpPr>
          <p:nvPr/>
        </p:nvSpPr>
        <p:spPr>
          <a:xfrm xmlns:a="http://schemas.openxmlformats.org/drawingml/2006/main">
            <a:off x="609600" y="1790700"/>
            <a:ext cx="6096000" cy="342900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6" name="">
            <a:extLst xmlns:a="http://schemas.openxmlformats.org/drawingml/2006/main">
              <a:ext uri="{FF2B5EF4-FFF2-40B4-BE49-F238E27FC236}">
                <a16:creationId xmlns:a16="http://schemas.microsoft.com/office/drawing/2014/main" id="{78C3BD24-A4B6-4612-8DDA-A251298BDF99}"/>
              </a:ext>
            </a:extLst>
          </p:cNvPr>
          <p:cNvSpPr>
            <a:spLocks xmlns:a="http://schemas.openxmlformats.org/drawingml/2006/main" noGrp="1"/>
          </p:cNvSpPr>
          <p:nvPr/>
        </p:nvSpPr>
        <p:spPr>
          <a:xfrm xmlns:a="http://schemas.openxmlformats.org/drawingml/2006/main">
            <a:off x="609600" y="1790700"/>
            <a:ext cx="609600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D460A21-DE1E-4E9E-8784-F948FE0DFE63}"/>
              </a:ext>
            </a:extLst>
          </p:cNvPr>
          <p:cNvSpPr>
            <a:spLocks xmlns:a="http://schemas.openxmlformats.org/drawingml/2006/main" noGrp="1"/>
          </p:cNvSpPr>
          <p:nvPr/>
        </p:nvSpPr>
        <p:spPr>
          <a:xfrm xmlns:a="http://schemas.openxmlformats.org/drawingml/2006/main">
            <a:off x="723900" y="18764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0D8E6E0-41F9-4C99-8F51-18037A7B9809}"/>
              </a:ext>
            </a:extLst>
          </p:cNvPr>
          <p:cNvSpPr>
            <a:spLocks xmlns:a="http://schemas.openxmlformats.org/drawingml/2006/main" noGrp="1"/>
          </p:cNvSpPr>
          <p:nvPr/>
        </p:nvSpPr>
        <p:spPr>
          <a:xfrm xmlns:a="http://schemas.openxmlformats.org/drawingml/2006/main">
            <a:off x="838200" y="18764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5F22309-BE19-4091-8418-A7E7A9502BE3}"/>
              </a:ext>
            </a:extLst>
          </p:cNvPr>
          <p:cNvSpPr>
            <a:spLocks xmlns:a="http://schemas.openxmlformats.org/drawingml/2006/main" noGrp="1"/>
          </p:cNvSpPr>
          <p:nvPr/>
        </p:nvSpPr>
        <p:spPr>
          <a:xfrm xmlns:a="http://schemas.openxmlformats.org/drawingml/2006/main">
            <a:off x="952500" y="18764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f9bf998fd244ce"/>
          <a:srcRect xmlns:a="http://schemas.openxmlformats.org/drawingml/2006/main" l="0" t="3315" r="0" b="3315"/>
          <a:stretch xmlns:a="http://schemas.openxmlformats.org/drawingml/2006/main">
            <a:fillRect l="0" t="0" r="0" b="0"/>
          </a:stretch>
        </p:blipFill>
        <p:spPr>
          <a:xfrm xmlns:a="http://schemas.openxmlformats.org/drawingml/2006/main">
            <a:off x="685800" y="2095500"/>
            <a:ext cx="59436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14F4BE2-D715-4979-8F72-BE3F21706924}"/>
              </a:ext>
            </a:extLst>
          </p:cNvPr>
          <p:cNvSpPr>
            <a:spLocks xmlns:a="http://schemas.openxmlformats.org/drawingml/2006/main" noGrp="1"/>
          </p:cNvSpPr>
          <p:nvPr/>
        </p:nvSpPr>
        <p:spPr>
          <a:xfrm xmlns:a="http://schemas.openxmlformats.org/drawingml/2006/main">
            <a:off x="723900" y="5000625"/>
            <a:ext cx="5867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Quản lý người dùng</a:t>
            </a:r>
          </a:p>
        </p:txBody>
      </p:sp>
      <p:sp>
        <p:nvSpPr>
          <p:cNvPr id="12" name="">
            <a:extLst xmlns:a="http://schemas.openxmlformats.org/drawingml/2006/main">
              <a:ext uri="{FF2B5EF4-FFF2-40B4-BE49-F238E27FC236}">
                <a16:creationId xmlns:a16="http://schemas.microsoft.com/office/drawing/2014/main" id="{664DD4D5-C06D-4515-82AC-4756C399EDAF}"/>
              </a:ext>
            </a:extLst>
          </p:cNvPr>
          <p:cNvSpPr>
            <a:spLocks xmlns:a="http://schemas.openxmlformats.org/drawingml/2006/main" noGrp="1"/>
          </p:cNvSpPr>
          <p:nvPr/>
        </p:nvSpPr>
        <p:spPr>
          <a:xfrm xmlns:a="http://schemas.openxmlformats.org/drawingml/2006/main">
            <a:off x="7048500" y="1676400"/>
            <a:ext cx="3714750" cy="14287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13" name="">
            <a:extLst xmlns:a="http://schemas.openxmlformats.org/drawingml/2006/main">
              <a:ext uri="{FF2B5EF4-FFF2-40B4-BE49-F238E27FC236}">
                <a16:creationId xmlns:a16="http://schemas.microsoft.com/office/drawing/2014/main" id="{7C5921D7-EDF8-4440-8F98-5F1A9ADBB1C7}"/>
              </a:ext>
            </a:extLst>
          </p:cNvPr>
          <p:cNvSpPr>
            <a:spLocks xmlns:a="http://schemas.openxmlformats.org/drawingml/2006/main" noGrp="1"/>
          </p:cNvSpPr>
          <p:nvPr/>
        </p:nvSpPr>
        <p:spPr>
          <a:xfrm xmlns:a="http://schemas.openxmlformats.org/drawingml/2006/main">
            <a:off x="7048500" y="1676400"/>
            <a:ext cx="371475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676D198-EB0A-4BEA-9DF2-9A8462D6F8F9}"/>
              </a:ext>
            </a:extLst>
          </p:cNvPr>
          <p:cNvSpPr>
            <a:spLocks xmlns:a="http://schemas.openxmlformats.org/drawingml/2006/main" noGrp="1"/>
          </p:cNvSpPr>
          <p:nvPr/>
        </p:nvSpPr>
        <p:spPr>
          <a:xfrm xmlns:a="http://schemas.openxmlformats.org/drawingml/2006/main">
            <a:off x="7162800" y="17621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07E1B8F-7FEB-4809-B9A6-1E747BA84130}"/>
              </a:ext>
            </a:extLst>
          </p:cNvPr>
          <p:cNvSpPr>
            <a:spLocks xmlns:a="http://schemas.openxmlformats.org/drawingml/2006/main" noGrp="1"/>
          </p:cNvSpPr>
          <p:nvPr/>
        </p:nvSpPr>
        <p:spPr>
          <a:xfrm xmlns:a="http://schemas.openxmlformats.org/drawingml/2006/main">
            <a:off x="7277100" y="17621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BCB4931-D83A-4A4A-BB2F-AC071BF16ACB}"/>
              </a:ext>
            </a:extLst>
          </p:cNvPr>
          <p:cNvSpPr>
            <a:spLocks xmlns:a="http://schemas.openxmlformats.org/drawingml/2006/main" noGrp="1"/>
          </p:cNvSpPr>
          <p:nvPr/>
        </p:nvSpPr>
        <p:spPr>
          <a:xfrm xmlns:a="http://schemas.openxmlformats.org/drawingml/2006/main">
            <a:off x="7391400" y="17621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fa3cebdbbbe4726"/>
          <a:srcRect xmlns:a="http://schemas.openxmlformats.org/drawingml/2006/main" l="0" t="23252" r="0" b="23252"/>
          <a:stretch xmlns:a="http://schemas.openxmlformats.org/drawingml/2006/main">
            <a:fillRect l="0" t="0" r="0" b="0"/>
          </a:stretch>
        </p:blipFill>
        <p:spPr>
          <a:xfrm xmlns:a="http://schemas.openxmlformats.org/drawingml/2006/main">
            <a:off x="7124700" y="1981200"/>
            <a:ext cx="3562350" cy="10477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34DE101-D321-4A27-A873-7F5CD00B6EA0}"/>
              </a:ext>
            </a:extLst>
          </p:cNvPr>
          <p:cNvSpPr>
            <a:spLocks xmlns:a="http://schemas.openxmlformats.org/drawingml/2006/main" noGrp="1"/>
          </p:cNvSpPr>
          <p:nvPr/>
        </p:nvSpPr>
        <p:spPr>
          <a:xfrm xmlns:a="http://schemas.openxmlformats.org/drawingml/2006/main">
            <a:off x="7162800" y="2886075"/>
            <a:ext cx="3486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Quản lý chuyên ngành</a:t>
            </a:r>
          </a:p>
        </p:txBody>
      </p:sp>
      <p:sp>
        <p:nvSpPr>
          <p:cNvPr id="19" name="">
            <a:extLst xmlns:a="http://schemas.openxmlformats.org/drawingml/2006/main">
              <a:ext uri="{FF2B5EF4-FFF2-40B4-BE49-F238E27FC236}">
                <a16:creationId xmlns:a16="http://schemas.microsoft.com/office/drawing/2014/main" id="{96BEB829-A10E-427A-959F-B5599BE83648}"/>
              </a:ext>
            </a:extLst>
          </p:cNvPr>
          <p:cNvSpPr>
            <a:spLocks xmlns:a="http://schemas.openxmlformats.org/drawingml/2006/main" noGrp="1"/>
          </p:cNvSpPr>
          <p:nvPr/>
        </p:nvSpPr>
        <p:spPr>
          <a:xfrm xmlns:a="http://schemas.openxmlformats.org/drawingml/2006/main">
            <a:off x="7048500" y="3352800"/>
            <a:ext cx="3714750" cy="14287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20" name="">
            <a:extLst xmlns:a="http://schemas.openxmlformats.org/drawingml/2006/main">
              <a:ext uri="{FF2B5EF4-FFF2-40B4-BE49-F238E27FC236}">
                <a16:creationId xmlns:a16="http://schemas.microsoft.com/office/drawing/2014/main" id="{95C20F12-0588-4D87-981F-1FD94AE40E1B}"/>
              </a:ext>
            </a:extLst>
          </p:cNvPr>
          <p:cNvSpPr>
            <a:spLocks xmlns:a="http://schemas.openxmlformats.org/drawingml/2006/main" noGrp="1"/>
          </p:cNvSpPr>
          <p:nvPr/>
        </p:nvSpPr>
        <p:spPr>
          <a:xfrm xmlns:a="http://schemas.openxmlformats.org/drawingml/2006/main">
            <a:off x="7048500" y="3352800"/>
            <a:ext cx="371475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9828658-61BA-4DEB-A2AD-30AC34FD2698}"/>
              </a:ext>
            </a:extLst>
          </p:cNvPr>
          <p:cNvSpPr>
            <a:spLocks xmlns:a="http://schemas.openxmlformats.org/drawingml/2006/main" noGrp="1"/>
          </p:cNvSpPr>
          <p:nvPr/>
        </p:nvSpPr>
        <p:spPr>
          <a:xfrm xmlns:a="http://schemas.openxmlformats.org/drawingml/2006/main">
            <a:off x="7162800" y="34385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C41C9CF-7B8F-4870-98DD-41ACAFC0A94F}"/>
              </a:ext>
            </a:extLst>
          </p:cNvPr>
          <p:cNvSpPr>
            <a:spLocks xmlns:a="http://schemas.openxmlformats.org/drawingml/2006/main" noGrp="1"/>
          </p:cNvSpPr>
          <p:nvPr/>
        </p:nvSpPr>
        <p:spPr>
          <a:xfrm xmlns:a="http://schemas.openxmlformats.org/drawingml/2006/main">
            <a:off x="7277100" y="34385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77945ED-F5AB-4E08-BFB6-B971EDE9C3C5}"/>
              </a:ext>
            </a:extLst>
          </p:cNvPr>
          <p:cNvSpPr>
            <a:spLocks xmlns:a="http://schemas.openxmlformats.org/drawingml/2006/main" noGrp="1"/>
          </p:cNvSpPr>
          <p:nvPr/>
        </p:nvSpPr>
        <p:spPr>
          <a:xfrm xmlns:a="http://schemas.openxmlformats.org/drawingml/2006/main">
            <a:off x="7391400" y="34385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3c1887ce6984ad8"/>
          <a:srcRect xmlns:a="http://schemas.openxmlformats.org/drawingml/2006/main" l="0" t="23218" r="0" b="23218"/>
          <a:stretch xmlns:a="http://schemas.openxmlformats.org/drawingml/2006/main">
            <a:fillRect l="0" t="0" r="0" b="0"/>
          </a:stretch>
        </p:blipFill>
        <p:spPr>
          <a:xfrm xmlns:a="http://schemas.openxmlformats.org/drawingml/2006/main">
            <a:off x="7124700" y="3657600"/>
            <a:ext cx="3562350" cy="10477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B412C808-96E4-4AE8-A051-1C75FE347BD2}"/>
              </a:ext>
            </a:extLst>
          </p:cNvPr>
          <p:cNvSpPr>
            <a:spLocks xmlns:a="http://schemas.openxmlformats.org/drawingml/2006/main" noGrp="1"/>
          </p:cNvSpPr>
          <p:nvPr/>
        </p:nvSpPr>
        <p:spPr>
          <a:xfrm xmlns:a="http://schemas.openxmlformats.org/drawingml/2006/main">
            <a:off x="7162800" y="4562475"/>
            <a:ext cx="3486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Quản lý môn học</a:t>
            </a:r>
          </a:p>
        </p:txBody>
      </p:sp>
      <p:sp>
        <p:nvSpPr>
          <p:cNvPr id="26" name="">
            <a:extLst xmlns:a="http://schemas.openxmlformats.org/drawingml/2006/main">
              <a:ext uri="{FF2B5EF4-FFF2-40B4-BE49-F238E27FC236}">
                <a16:creationId xmlns:a16="http://schemas.microsoft.com/office/drawing/2014/main" id="{174FBF6D-477D-40CD-87D8-76D23E22A2EB}"/>
              </a:ext>
            </a:extLst>
          </p:cNvPr>
          <p:cNvSpPr>
            <a:spLocks xmlns:a="http://schemas.openxmlformats.org/drawingml/2006/main" noGrp="1"/>
          </p:cNvSpPr>
          <p:nvPr/>
        </p:nvSpPr>
        <p:spPr>
          <a:xfrm xmlns:a="http://schemas.openxmlformats.org/drawingml/2006/main">
            <a:off x="7048500" y="5029200"/>
            <a:ext cx="3714750" cy="114300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27" name="">
            <a:extLst xmlns:a="http://schemas.openxmlformats.org/drawingml/2006/main">
              <a:ext uri="{FF2B5EF4-FFF2-40B4-BE49-F238E27FC236}">
                <a16:creationId xmlns:a16="http://schemas.microsoft.com/office/drawing/2014/main" id="{FCC46729-9600-48F4-8E13-06EC7F00DD3C}"/>
              </a:ext>
            </a:extLst>
          </p:cNvPr>
          <p:cNvSpPr>
            <a:spLocks xmlns:a="http://schemas.openxmlformats.org/drawingml/2006/main" noGrp="1"/>
          </p:cNvSpPr>
          <p:nvPr/>
        </p:nvSpPr>
        <p:spPr>
          <a:xfrm xmlns:a="http://schemas.openxmlformats.org/drawingml/2006/main">
            <a:off x="7048500" y="5029200"/>
            <a:ext cx="371475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CB0F9A4-FADE-48DF-AB78-24DF88B1E497}"/>
              </a:ext>
            </a:extLst>
          </p:cNvPr>
          <p:cNvSpPr>
            <a:spLocks xmlns:a="http://schemas.openxmlformats.org/drawingml/2006/main" noGrp="1"/>
          </p:cNvSpPr>
          <p:nvPr/>
        </p:nvSpPr>
        <p:spPr>
          <a:xfrm xmlns:a="http://schemas.openxmlformats.org/drawingml/2006/main">
            <a:off x="7162800" y="51149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5E1EE70-B130-4751-ABF5-19B2B9F2CFB9}"/>
              </a:ext>
            </a:extLst>
          </p:cNvPr>
          <p:cNvSpPr>
            <a:spLocks xmlns:a="http://schemas.openxmlformats.org/drawingml/2006/main" noGrp="1"/>
          </p:cNvSpPr>
          <p:nvPr/>
        </p:nvSpPr>
        <p:spPr>
          <a:xfrm xmlns:a="http://schemas.openxmlformats.org/drawingml/2006/main">
            <a:off x="7277100" y="51149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807F35DF-1B27-4495-9D61-724861F1FADA}"/>
              </a:ext>
            </a:extLst>
          </p:cNvPr>
          <p:cNvSpPr>
            <a:spLocks xmlns:a="http://schemas.openxmlformats.org/drawingml/2006/main" noGrp="1"/>
          </p:cNvSpPr>
          <p:nvPr/>
        </p:nvSpPr>
        <p:spPr>
          <a:xfrm xmlns:a="http://schemas.openxmlformats.org/drawingml/2006/main">
            <a:off x="7391400" y="51149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437fe2afd264522"/>
          <a:srcRect xmlns:a="http://schemas.openxmlformats.org/drawingml/2006/main" l="0" t="34285" r="0" b="34285"/>
          <a:stretch xmlns:a="http://schemas.openxmlformats.org/drawingml/2006/main">
            <a:fillRect l="0" t="0" r="0" b="0"/>
          </a:stretch>
        </p:blipFill>
        <p:spPr>
          <a:xfrm xmlns:a="http://schemas.openxmlformats.org/drawingml/2006/main">
            <a:off x="7124700" y="5334000"/>
            <a:ext cx="3562350" cy="7620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0A32561-7042-4B2D-AB12-983C0CBDA8DB}"/>
              </a:ext>
            </a:extLst>
          </p:cNvPr>
          <p:cNvSpPr>
            <a:spLocks xmlns:a="http://schemas.openxmlformats.org/drawingml/2006/main" noGrp="1"/>
          </p:cNvSpPr>
          <p:nvPr/>
        </p:nvSpPr>
        <p:spPr>
          <a:xfrm xmlns:a="http://schemas.openxmlformats.org/drawingml/2006/main">
            <a:off x="7162800" y="5953125"/>
            <a:ext cx="3486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Quản lý lớp học</a:t>
            </a:r>
          </a:p>
        </p:txBody>
      </p:sp>
      <p:sp>
        <p:nvSpPr>
          <p:cNvPr id="33" name="">
            <a:extLst xmlns:a="http://schemas.openxmlformats.org/drawingml/2006/main">
              <a:ext uri="{FF2B5EF4-FFF2-40B4-BE49-F238E27FC236}">
                <a16:creationId xmlns:a16="http://schemas.microsoft.com/office/drawing/2014/main" id="{A811E41D-D49E-4492-8CCC-14162C9564C3}"/>
              </a:ext>
            </a:extLst>
          </p:cNvPr>
          <p:cNvSpPr>
            <a:spLocks xmlns:a="http://schemas.openxmlformats.org/drawingml/2006/main" noGrp="1"/>
          </p:cNvSpPr>
          <p:nvPr/>
        </p:nvSpPr>
        <p:spPr>
          <a:xfrm xmlns:a="http://schemas.openxmlformats.org/drawingml/2006/main">
            <a:off x="704850" y="55721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0DD3745-0B1F-4E9F-96C8-C976EF1C2E51}"/>
              </a:ext>
            </a:extLst>
          </p:cNvPr>
          <p:cNvSpPr>
            <a:spLocks xmlns:a="http://schemas.openxmlformats.org/drawingml/2006/main" noGrp="1"/>
          </p:cNvSpPr>
          <p:nvPr/>
        </p:nvSpPr>
        <p:spPr>
          <a:xfrm xmlns:a="http://schemas.openxmlformats.org/drawingml/2006/main">
            <a:off x="933450" y="54864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CRUD tài khoản và vai trò</a:t>
            </a:r>
          </a:p>
        </p:txBody>
      </p:sp>
      <p:sp>
        <p:nvSpPr>
          <p:cNvPr id="35" name="">
            <a:extLst xmlns:a="http://schemas.openxmlformats.org/drawingml/2006/main">
              <a:ext uri="{FF2B5EF4-FFF2-40B4-BE49-F238E27FC236}">
                <a16:creationId xmlns:a16="http://schemas.microsoft.com/office/drawing/2014/main" id="{DBEDC329-FDAC-4D94-9D50-A068712C27B0}"/>
              </a:ext>
            </a:extLst>
          </p:cNvPr>
          <p:cNvSpPr>
            <a:spLocks xmlns:a="http://schemas.openxmlformats.org/drawingml/2006/main" noGrp="1"/>
          </p:cNvSpPr>
          <p:nvPr/>
        </p:nvSpPr>
        <p:spPr>
          <a:xfrm xmlns:a="http://schemas.openxmlformats.org/drawingml/2006/main">
            <a:off x="704850" y="58959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9F371FD-22AE-478B-8266-C78EFBC8F2B8}"/>
              </a:ext>
            </a:extLst>
          </p:cNvPr>
          <p:cNvSpPr>
            <a:spLocks xmlns:a="http://schemas.openxmlformats.org/drawingml/2006/main" noGrp="1"/>
          </p:cNvSpPr>
          <p:nvPr/>
        </p:nvSpPr>
        <p:spPr>
          <a:xfrm xmlns:a="http://schemas.openxmlformats.org/drawingml/2006/main">
            <a:off x="933450" y="58102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Quản trị danh mục ngành/môn/lớp</a:t>
            </a:r>
          </a:p>
        </p:txBody>
      </p:sp>
      <p:sp>
        <p:nvSpPr>
          <p:cNvPr id="37" name="">
            <a:extLst xmlns:a="http://schemas.openxmlformats.org/drawingml/2006/main">
              <a:ext uri="{FF2B5EF4-FFF2-40B4-BE49-F238E27FC236}">
                <a16:creationId xmlns:a16="http://schemas.microsoft.com/office/drawing/2014/main" id="{5A4B5986-736C-4F2E-8410-958FA4F19538}"/>
              </a:ext>
            </a:extLst>
          </p:cNvPr>
          <p:cNvSpPr>
            <a:spLocks xmlns:a="http://schemas.openxmlformats.org/drawingml/2006/main" noGrp="1"/>
          </p:cNvSpPr>
          <p:nvPr/>
        </p:nvSpPr>
        <p:spPr>
          <a:xfrm xmlns:a="http://schemas.openxmlformats.org/drawingml/2006/main">
            <a:off x="704850" y="62198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9B92FBE-E5C7-49A6-A020-6BB6B76CC808}"/>
              </a:ext>
            </a:extLst>
          </p:cNvPr>
          <p:cNvSpPr>
            <a:spLocks xmlns:a="http://schemas.openxmlformats.org/drawingml/2006/main" noGrp="1"/>
          </p:cNvSpPr>
          <p:nvPr/>
        </p:nvSpPr>
        <p:spPr>
          <a:xfrm xmlns:a="http://schemas.openxmlformats.org/drawingml/2006/main">
            <a:off x="933450" y="61341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7FFF1"/>
                </a:solidFill>
                <a:latin typeface="Aptos"/>
                <a:ea typeface="Aptos"/>
                <a:cs typeface="Aptos"/>
              </a:defRPr>
            </a:pPr>
            <a:r>
              <a:rPr sz="1275" b="0">
                <a:solidFill>
                  <a:srgbClr val="E7FFF1"/>
                </a:solidFill>
                <a:latin typeface="Aptos"/>
                <a:ea typeface="Aptos"/>
                <a:cs typeface="Aptos"/>
              </a:rPr>
              <a:t>Sidebar cố định giúp thao tác nhanh</a:t>
            </a:r>
          </a:p>
        </p:txBody>
      </p:sp>
      <p:sp>
        <p:nvSpPr>
          <p:cNvPr id="39" name="">
            <a:extLst xmlns:a="http://schemas.openxmlformats.org/drawingml/2006/main">
              <a:ext uri="{FF2B5EF4-FFF2-40B4-BE49-F238E27FC236}">
                <a16:creationId xmlns:a16="http://schemas.microsoft.com/office/drawing/2014/main" id="{49136D35-49AD-488D-808E-5ED575078646}"/>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7F7D8"/>
                </a:solidFill>
                <a:latin typeface="Aptos"/>
                <a:ea typeface="Aptos"/>
                <a:cs typeface="Aptos"/>
              </a:defRPr>
            </a:pPr>
            <a:r>
              <a:rPr sz="900" b="0">
                <a:solidFill>
                  <a:srgbClr val="B7F7D8"/>
                </a:solidFill>
                <a:latin typeface="Aptos"/>
                <a:ea typeface="Aptos"/>
                <a:cs typeface="Aptos"/>
              </a:rPr>
              <a:t>Hệ thống quản lý học tập trực tuyến LMS</a:t>
            </a:r>
          </a:p>
        </p:txBody>
      </p:sp>
      <p:sp>
        <p:nvSpPr>
          <p:cNvPr id="40" name="">
            <a:extLst xmlns:a="http://schemas.openxmlformats.org/drawingml/2006/main">
              <a:ext uri="{FF2B5EF4-FFF2-40B4-BE49-F238E27FC236}">
                <a16:creationId xmlns:a16="http://schemas.microsoft.com/office/drawing/2014/main" id="{C9E830EC-FE27-4241-BD48-133E869C6BC2}"/>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FFFFF"/>
                </a:solidFill>
                <a:latin typeface="Aptos"/>
                <a:ea typeface="Aptos"/>
                <a:cs typeface="Aptos"/>
              </a:defRPr>
            </a:pPr>
            <a:r>
              <a:rPr sz="975" b="1">
                <a:solidFill>
                  <a:srgbClr val="FFFFFF"/>
                </a:solidFill>
                <a:latin typeface="Aptos"/>
                <a:ea typeface="Aptos"/>
                <a:cs typeface="Aptos"/>
              </a:rPr>
              <a:t>08</a:t>
            </a:r>
          </a:p>
        </p:txBody>
      </p:sp>
    </p:spTree>
    <p:extLst>
      <p:ext uri="{BB962C8B-B14F-4D97-AF65-F5344CB8AC3E}">
        <p14:creationId xmlns:p14="http://schemas.microsoft.com/office/powerpoint/2010/main" val="9309542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E49526-FEC6-4135-BC9C-45D15AD5E6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5BE4F3-000C-44B1-88F7-F6F753C74C5E}"/>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0EC15E3-9D0C-470A-9960-889BF7B47F9A}"/>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DEMO GIAO DIỆN GIẢNG VIÊN</a:t>
            </a:r>
          </a:p>
        </p:txBody>
      </p:sp>
      <p:sp>
        <p:nvSpPr>
          <p:cNvPr id="4" name="">
            <a:extLst xmlns:a="http://schemas.openxmlformats.org/drawingml/2006/main">
              <a:ext uri="{FF2B5EF4-FFF2-40B4-BE49-F238E27FC236}">
                <a16:creationId xmlns:a16="http://schemas.microsoft.com/office/drawing/2014/main" id="{96969B8C-391B-444C-A286-8769D0257CA7}"/>
              </a:ext>
            </a:extLst>
          </p:cNvPr>
          <p:cNvSpPr>
            <a:spLocks xmlns:a="http://schemas.openxmlformats.org/drawingml/2006/main" noGrp="1"/>
          </p:cNvSpPr>
          <p:nvPr/>
        </p:nvSpPr>
        <p:spPr>
          <a:xfrm xmlns:a="http://schemas.openxmlformats.org/drawingml/2006/main">
            <a:off x="609600" y="800100"/>
            <a:ext cx="7620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71313"/>
                </a:solidFill>
                <a:latin typeface="Aptos Display"/>
                <a:ea typeface="Aptos Display"/>
                <a:cs typeface="Aptos Display"/>
              </a:defRPr>
            </a:pPr>
            <a:r>
              <a:rPr sz="3000" b="1">
                <a:solidFill>
                  <a:srgbClr val="071313"/>
                </a:solidFill>
                <a:latin typeface="Aptos Display"/>
                <a:ea typeface="Aptos Display"/>
                <a:cs typeface="Aptos Display"/>
              </a:rPr>
              <a:t>Giảng viên tập trung vào lịch dạy, điểm danh và theo dõi lịch sử</a:t>
            </a:r>
          </a:p>
        </p:txBody>
      </p:sp>
      <p:sp>
        <p:nvSpPr>
          <p:cNvPr id="5" name="">
            <a:extLst xmlns:a="http://schemas.openxmlformats.org/drawingml/2006/main">
              <a:ext uri="{FF2B5EF4-FFF2-40B4-BE49-F238E27FC236}">
                <a16:creationId xmlns:a16="http://schemas.microsoft.com/office/drawing/2014/main" id="{1E9179C2-7C4E-4155-8834-EFCCC9C7D14C}"/>
              </a:ext>
            </a:extLst>
          </p:cNvPr>
          <p:cNvSpPr>
            <a:spLocks xmlns:a="http://schemas.openxmlformats.org/drawingml/2006/main" noGrp="1"/>
          </p:cNvSpPr>
          <p:nvPr/>
        </p:nvSpPr>
        <p:spPr>
          <a:xfrm xmlns:a="http://schemas.openxmlformats.org/drawingml/2006/main">
            <a:off x="609600" y="1657350"/>
            <a:ext cx="44767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6" name="">
            <a:extLst xmlns:a="http://schemas.openxmlformats.org/drawingml/2006/main">
              <a:ext uri="{FF2B5EF4-FFF2-40B4-BE49-F238E27FC236}">
                <a16:creationId xmlns:a16="http://schemas.microsoft.com/office/drawing/2014/main" id="{BD24B434-9E70-41EF-A578-8FD695811D0F}"/>
              </a:ext>
            </a:extLst>
          </p:cNvPr>
          <p:cNvSpPr>
            <a:spLocks xmlns:a="http://schemas.openxmlformats.org/drawingml/2006/main" noGrp="1"/>
          </p:cNvSpPr>
          <p:nvPr/>
        </p:nvSpPr>
        <p:spPr>
          <a:xfrm xmlns:a="http://schemas.openxmlformats.org/drawingml/2006/main">
            <a:off x="609600" y="1657350"/>
            <a:ext cx="447675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D460E5D-9475-4E9D-B33B-0394109C7A00}"/>
              </a:ext>
            </a:extLst>
          </p:cNvPr>
          <p:cNvSpPr>
            <a:spLocks xmlns:a="http://schemas.openxmlformats.org/drawingml/2006/main" noGrp="1"/>
          </p:cNvSpPr>
          <p:nvPr/>
        </p:nvSpPr>
        <p:spPr>
          <a:xfrm xmlns:a="http://schemas.openxmlformats.org/drawingml/2006/main">
            <a:off x="723900" y="17430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9BEC18F-BD91-4E74-8BA9-17ADD0DC4D22}"/>
              </a:ext>
            </a:extLst>
          </p:cNvPr>
          <p:cNvSpPr>
            <a:spLocks xmlns:a="http://schemas.openxmlformats.org/drawingml/2006/main" noGrp="1"/>
          </p:cNvSpPr>
          <p:nvPr/>
        </p:nvSpPr>
        <p:spPr>
          <a:xfrm xmlns:a="http://schemas.openxmlformats.org/drawingml/2006/main">
            <a:off x="838200" y="17430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1D77154-CB6F-4311-8FCB-D6E97E722D5A}"/>
              </a:ext>
            </a:extLst>
          </p:cNvPr>
          <p:cNvSpPr>
            <a:spLocks xmlns:a="http://schemas.openxmlformats.org/drawingml/2006/main" noGrp="1"/>
          </p:cNvSpPr>
          <p:nvPr/>
        </p:nvSpPr>
        <p:spPr>
          <a:xfrm xmlns:a="http://schemas.openxmlformats.org/drawingml/2006/main">
            <a:off x="952500" y="17430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33436a07363488c"/>
          <a:srcRect xmlns:a="http://schemas.openxmlformats.org/drawingml/2006/main" l="0" t="7630" r="0" b="7630"/>
          <a:stretch xmlns:a="http://schemas.openxmlformats.org/drawingml/2006/main">
            <a:fillRect l="0" t="0" r="0" b="0"/>
          </a:stretch>
        </p:blipFill>
        <p:spPr>
          <a:xfrm xmlns:a="http://schemas.openxmlformats.org/drawingml/2006/main">
            <a:off x="685800" y="1962150"/>
            <a:ext cx="4324350" cy="2000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463A55D-80E0-4449-A08C-90EC7549CA73}"/>
              </a:ext>
            </a:extLst>
          </p:cNvPr>
          <p:cNvSpPr>
            <a:spLocks xmlns:a="http://schemas.openxmlformats.org/drawingml/2006/main" noGrp="1"/>
          </p:cNvSpPr>
          <p:nvPr/>
        </p:nvSpPr>
        <p:spPr>
          <a:xfrm xmlns:a="http://schemas.openxmlformats.org/drawingml/2006/main">
            <a:off x="723900" y="3819525"/>
            <a:ext cx="424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Lịch giảng dạy</a:t>
            </a:r>
          </a:p>
        </p:txBody>
      </p:sp>
      <p:sp>
        <p:nvSpPr>
          <p:cNvPr id="12" name="">
            <a:extLst xmlns:a="http://schemas.openxmlformats.org/drawingml/2006/main">
              <a:ext uri="{FF2B5EF4-FFF2-40B4-BE49-F238E27FC236}">
                <a16:creationId xmlns:a16="http://schemas.microsoft.com/office/drawing/2014/main" id="{EB48254A-D0D2-4FE0-89A5-EBFA0E79C4E2}"/>
              </a:ext>
            </a:extLst>
          </p:cNvPr>
          <p:cNvSpPr>
            <a:spLocks xmlns:a="http://schemas.openxmlformats.org/drawingml/2006/main" noGrp="1"/>
          </p:cNvSpPr>
          <p:nvPr/>
        </p:nvSpPr>
        <p:spPr>
          <a:xfrm xmlns:a="http://schemas.openxmlformats.org/drawingml/2006/main">
            <a:off x="5295900" y="1657350"/>
            <a:ext cx="44767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13" name="">
            <a:extLst xmlns:a="http://schemas.openxmlformats.org/drawingml/2006/main">
              <a:ext uri="{FF2B5EF4-FFF2-40B4-BE49-F238E27FC236}">
                <a16:creationId xmlns:a16="http://schemas.microsoft.com/office/drawing/2014/main" id="{71EFA575-661E-4154-AC9C-E863B2583F06}"/>
              </a:ext>
            </a:extLst>
          </p:cNvPr>
          <p:cNvSpPr>
            <a:spLocks xmlns:a="http://schemas.openxmlformats.org/drawingml/2006/main" noGrp="1"/>
          </p:cNvSpPr>
          <p:nvPr/>
        </p:nvSpPr>
        <p:spPr>
          <a:xfrm xmlns:a="http://schemas.openxmlformats.org/drawingml/2006/main">
            <a:off x="5295900" y="1657350"/>
            <a:ext cx="447675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066BC1D-0072-45A9-B54B-100439DC96EA}"/>
              </a:ext>
            </a:extLst>
          </p:cNvPr>
          <p:cNvSpPr>
            <a:spLocks xmlns:a="http://schemas.openxmlformats.org/drawingml/2006/main" noGrp="1"/>
          </p:cNvSpPr>
          <p:nvPr/>
        </p:nvSpPr>
        <p:spPr>
          <a:xfrm xmlns:a="http://schemas.openxmlformats.org/drawingml/2006/main">
            <a:off x="5410200" y="17430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EFCEE38-D821-4E82-BBFB-A75E8A9693DB}"/>
              </a:ext>
            </a:extLst>
          </p:cNvPr>
          <p:cNvSpPr>
            <a:spLocks xmlns:a="http://schemas.openxmlformats.org/drawingml/2006/main" noGrp="1"/>
          </p:cNvSpPr>
          <p:nvPr/>
        </p:nvSpPr>
        <p:spPr>
          <a:xfrm xmlns:a="http://schemas.openxmlformats.org/drawingml/2006/main">
            <a:off x="5524500" y="17430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62EE260-6D89-49FB-A8F0-714FA8E531C3}"/>
              </a:ext>
            </a:extLst>
          </p:cNvPr>
          <p:cNvSpPr>
            <a:spLocks xmlns:a="http://schemas.openxmlformats.org/drawingml/2006/main" noGrp="1"/>
          </p:cNvSpPr>
          <p:nvPr/>
        </p:nvSpPr>
        <p:spPr>
          <a:xfrm xmlns:a="http://schemas.openxmlformats.org/drawingml/2006/main">
            <a:off x="5638800" y="17430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d2360f7eec24f53"/>
          <a:srcRect xmlns:a="http://schemas.openxmlformats.org/drawingml/2006/main" l="0" t="16016" r="0" b="16016"/>
          <a:stretch xmlns:a="http://schemas.openxmlformats.org/drawingml/2006/main">
            <a:fillRect l="0" t="0" r="0" b="0"/>
          </a:stretch>
        </p:blipFill>
        <p:spPr>
          <a:xfrm xmlns:a="http://schemas.openxmlformats.org/drawingml/2006/main">
            <a:off x="5372100" y="1962150"/>
            <a:ext cx="4324350" cy="2000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57F87F4-470C-4874-8629-BD4CCD009066}"/>
              </a:ext>
            </a:extLst>
          </p:cNvPr>
          <p:cNvSpPr>
            <a:spLocks xmlns:a="http://schemas.openxmlformats.org/drawingml/2006/main" noGrp="1"/>
          </p:cNvSpPr>
          <p:nvPr/>
        </p:nvSpPr>
        <p:spPr>
          <a:xfrm xmlns:a="http://schemas.openxmlformats.org/drawingml/2006/main">
            <a:off x="5410200" y="3819525"/>
            <a:ext cx="424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Điểm danh chi tiết</a:t>
            </a:r>
          </a:p>
        </p:txBody>
      </p:sp>
      <p:sp>
        <p:nvSpPr>
          <p:cNvPr id="19" name="">
            <a:extLst xmlns:a="http://schemas.openxmlformats.org/drawingml/2006/main">
              <a:ext uri="{FF2B5EF4-FFF2-40B4-BE49-F238E27FC236}">
                <a16:creationId xmlns:a16="http://schemas.microsoft.com/office/drawing/2014/main" id="{B5FF44FE-D0CE-4678-957B-CDFEA4CF3F6F}"/>
              </a:ext>
            </a:extLst>
          </p:cNvPr>
          <p:cNvSpPr>
            <a:spLocks xmlns:a="http://schemas.openxmlformats.org/drawingml/2006/main" noGrp="1"/>
          </p:cNvSpPr>
          <p:nvPr/>
        </p:nvSpPr>
        <p:spPr>
          <a:xfrm xmlns:a="http://schemas.openxmlformats.org/drawingml/2006/main">
            <a:off x="609600" y="4286250"/>
            <a:ext cx="28575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0" name="">
            <a:extLst xmlns:a="http://schemas.openxmlformats.org/drawingml/2006/main">
              <a:ext uri="{FF2B5EF4-FFF2-40B4-BE49-F238E27FC236}">
                <a16:creationId xmlns:a16="http://schemas.microsoft.com/office/drawing/2014/main" id="{E9FDD053-8B85-4D95-B674-CB6CDE290CFA}"/>
              </a:ext>
            </a:extLst>
          </p:cNvPr>
          <p:cNvSpPr>
            <a:spLocks xmlns:a="http://schemas.openxmlformats.org/drawingml/2006/main" noGrp="1"/>
          </p:cNvSpPr>
          <p:nvPr/>
        </p:nvSpPr>
        <p:spPr>
          <a:xfrm xmlns:a="http://schemas.openxmlformats.org/drawingml/2006/main">
            <a:off x="609600" y="4286250"/>
            <a:ext cx="285750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3349572-10B0-49C6-BCC6-965A908695DE}"/>
              </a:ext>
            </a:extLst>
          </p:cNvPr>
          <p:cNvSpPr>
            <a:spLocks xmlns:a="http://schemas.openxmlformats.org/drawingml/2006/main" noGrp="1"/>
          </p:cNvSpPr>
          <p:nvPr/>
        </p:nvSpPr>
        <p:spPr>
          <a:xfrm xmlns:a="http://schemas.openxmlformats.org/drawingml/2006/main">
            <a:off x="723900" y="43719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9E812EC-9B2B-46A9-B214-4BDC0416F942}"/>
              </a:ext>
            </a:extLst>
          </p:cNvPr>
          <p:cNvSpPr>
            <a:spLocks xmlns:a="http://schemas.openxmlformats.org/drawingml/2006/main" noGrp="1"/>
          </p:cNvSpPr>
          <p:nvPr/>
        </p:nvSpPr>
        <p:spPr>
          <a:xfrm xmlns:a="http://schemas.openxmlformats.org/drawingml/2006/main">
            <a:off x="838200" y="43719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4827D6A-3152-40D1-A7CB-4C7FAF3F3E63}"/>
              </a:ext>
            </a:extLst>
          </p:cNvPr>
          <p:cNvSpPr>
            <a:spLocks xmlns:a="http://schemas.openxmlformats.org/drawingml/2006/main" noGrp="1"/>
          </p:cNvSpPr>
          <p:nvPr/>
        </p:nvSpPr>
        <p:spPr>
          <a:xfrm xmlns:a="http://schemas.openxmlformats.org/drawingml/2006/main">
            <a:off x="952500" y="43719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195c36bf2eb4ac9"/>
          <a:srcRect xmlns:a="http://schemas.openxmlformats.org/drawingml/2006/main" l="0" t="14133" r="0" b="14133"/>
          <a:stretch xmlns:a="http://schemas.openxmlformats.org/drawingml/2006/main">
            <a:fillRect l="0" t="0" r="0" b="0"/>
          </a:stretch>
        </p:blipFill>
        <p:spPr>
          <a:xfrm xmlns:a="http://schemas.openxmlformats.org/drawingml/2006/main">
            <a:off x="685800" y="4591050"/>
            <a:ext cx="2705100" cy="1066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AE76A4E0-C445-4286-BE95-CC720B20DFFD}"/>
              </a:ext>
            </a:extLst>
          </p:cNvPr>
          <p:cNvSpPr>
            <a:spLocks xmlns:a="http://schemas.openxmlformats.org/drawingml/2006/main" noGrp="1"/>
          </p:cNvSpPr>
          <p:nvPr/>
        </p:nvSpPr>
        <p:spPr>
          <a:xfrm xmlns:a="http://schemas.openxmlformats.org/drawingml/2006/main">
            <a:off x="723900" y="5514975"/>
            <a:ext cx="2628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Tạo mã QR</a:t>
            </a:r>
          </a:p>
        </p:txBody>
      </p:sp>
      <p:sp>
        <p:nvSpPr>
          <p:cNvPr id="26" name="">
            <a:extLst xmlns:a="http://schemas.openxmlformats.org/drawingml/2006/main">
              <a:ext uri="{FF2B5EF4-FFF2-40B4-BE49-F238E27FC236}">
                <a16:creationId xmlns:a16="http://schemas.microsoft.com/office/drawing/2014/main" id="{1E1D6857-C900-4DB8-A63B-F18D050BDFC5}"/>
              </a:ext>
            </a:extLst>
          </p:cNvPr>
          <p:cNvSpPr>
            <a:spLocks xmlns:a="http://schemas.openxmlformats.org/drawingml/2006/main" noGrp="1"/>
          </p:cNvSpPr>
          <p:nvPr/>
        </p:nvSpPr>
        <p:spPr>
          <a:xfrm xmlns:a="http://schemas.openxmlformats.org/drawingml/2006/main">
            <a:off x="3676650" y="4286250"/>
            <a:ext cx="28575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7" name="">
            <a:extLst xmlns:a="http://schemas.openxmlformats.org/drawingml/2006/main">
              <a:ext uri="{FF2B5EF4-FFF2-40B4-BE49-F238E27FC236}">
                <a16:creationId xmlns:a16="http://schemas.microsoft.com/office/drawing/2014/main" id="{D502612C-294F-4ACB-B201-B5235E4AACEE}"/>
              </a:ext>
            </a:extLst>
          </p:cNvPr>
          <p:cNvSpPr>
            <a:spLocks xmlns:a="http://schemas.openxmlformats.org/drawingml/2006/main" noGrp="1"/>
          </p:cNvSpPr>
          <p:nvPr/>
        </p:nvSpPr>
        <p:spPr>
          <a:xfrm xmlns:a="http://schemas.openxmlformats.org/drawingml/2006/main">
            <a:off x="3676650" y="4286250"/>
            <a:ext cx="285750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0BA9D17-4823-4181-BD7D-D8BE417EB2FA}"/>
              </a:ext>
            </a:extLst>
          </p:cNvPr>
          <p:cNvSpPr>
            <a:spLocks xmlns:a="http://schemas.openxmlformats.org/drawingml/2006/main" noGrp="1"/>
          </p:cNvSpPr>
          <p:nvPr/>
        </p:nvSpPr>
        <p:spPr>
          <a:xfrm xmlns:a="http://schemas.openxmlformats.org/drawingml/2006/main">
            <a:off x="3790950" y="437197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8BE3202-F9C9-49D2-A2D1-0549FF555835}"/>
              </a:ext>
            </a:extLst>
          </p:cNvPr>
          <p:cNvSpPr>
            <a:spLocks xmlns:a="http://schemas.openxmlformats.org/drawingml/2006/main" noGrp="1"/>
          </p:cNvSpPr>
          <p:nvPr/>
        </p:nvSpPr>
        <p:spPr>
          <a:xfrm xmlns:a="http://schemas.openxmlformats.org/drawingml/2006/main">
            <a:off x="3905250" y="437197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5D8AC81-B266-4CA4-8F32-F8CF9D54365F}"/>
              </a:ext>
            </a:extLst>
          </p:cNvPr>
          <p:cNvSpPr>
            <a:spLocks xmlns:a="http://schemas.openxmlformats.org/drawingml/2006/main" noGrp="1"/>
          </p:cNvSpPr>
          <p:nvPr/>
        </p:nvSpPr>
        <p:spPr>
          <a:xfrm xmlns:a="http://schemas.openxmlformats.org/drawingml/2006/main">
            <a:off x="4019550" y="437197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03b14b1caba4bf8"/>
          <a:srcRect xmlns:a="http://schemas.openxmlformats.org/drawingml/2006/main" l="0" t="13982" r="0" b="13982"/>
          <a:stretch xmlns:a="http://schemas.openxmlformats.org/drawingml/2006/main">
            <a:fillRect l="0" t="0" r="0" b="0"/>
          </a:stretch>
        </p:blipFill>
        <p:spPr>
          <a:xfrm xmlns:a="http://schemas.openxmlformats.org/drawingml/2006/main">
            <a:off x="3752850" y="4591050"/>
            <a:ext cx="2705100" cy="10668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DA94623D-DF72-4BA4-9948-A58E34D4F43B}"/>
              </a:ext>
            </a:extLst>
          </p:cNvPr>
          <p:cNvSpPr>
            <a:spLocks xmlns:a="http://schemas.openxmlformats.org/drawingml/2006/main" noGrp="1"/>
          </p:cNvSpPr>
          <p:nvPr/>
        </p:nvSpPr>
        <p:spPr>
          <a:xfrm xmlns:a="http://schemas.openxmlformats.org/drawingml/2006/main">
            <a:off x="3790950" y="5514975"/>
            <a:ext cx="2628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Lịch sử lương</a:t>
            </a:r>
          </a:p>
        </p:txBody>
      </p:sp>
      <p:sp>
        <p:nvSpPr>
          <p:cNvPr id="33" name="">
            <a:extLst xmlns:a="http://schemas.openxmlformats.org/drawingml/2006/main">
              <a:ext uri="{FF2B5EF4-FFF2-40B4-BE49-F238E27FC236}">
                <a16:creationId xmlns:a16="http://schemas.microsoft.com/office/drawing/2014/main" id="{6CAC13CA-5261-49FA-B255-EA8A02AB27D0}"/>
              </a:ext>
            </a:extLst>
          </p:cNvPr>
          <p:cNvSpPr>
            <a:spLocks xmlns:a="http://schemas.openxmlformats.org/drawingml/2006/main" noGrp="1"/>
          </p:cNvSpPr>
          <p:nvPr/>
        </p:nvSpPr>
        <p:spPr>
          <a:xfrm xmlns:a="http://schemas.openxmlformats.org/drawingml/2006/main">
            <a:off x="6896100" y="4324350"/>
            <a:ext cx="2857500" cy="1381125"/>
          </a:xfrm>
          <a:prstGeom xmlns:a="http://schemas.openxmlformats.org/drawingml/2006/main" prst="rect">
            <a:avLst/>
          </a:prstGeom>
          <a:solidFill xmlns:a="http://schemas.openxmlformats.org/drawingml/2006/main">
            <a:srgbClr val="ECFDF5"/>
          </a:solidFill>
          <a:ln xmlns:a="http://schemas.openxmlformats.org/drawingml/2006/main" w="9525">
            <a:solidFill>
              <a:srgbClr val="BCEFD4"/>
            </a:solidFill>
            <a:prstDash val="solid"/>
          </a:ln>
        </p:spPr>
      </p:sp>
      <p:sp>
        <p:nvSpPr>
          <p:cNvPr id="34" name="">
            <a:extLst xmlns:a="http://schemas.openxmlformats.org/drawingml/2006/main">
              <a:ext uri="{FF2B5EF4-FFF2-40B4-BE49-F238E27FC236}">
                <a16:creationId xmlns:a16="http://schemas.microsoft.com/office/drawing/2014/main" id="{855E4A90-2992-4C4A-BBDB-4CEF378C224D}"/>
              </a:ext>
            </a:extLst>
          </p:cNvPr>
          <p:cNvSpPr>
            <a:spLocks xmlns:a="http://schemas.openxmlformats.org/drawingml/2006/main" noGrp="1"/>
          </p:cNvSpPr>
          <p:nvPr/>
        </p:nvSpPr>
        <p:spPr>
          <a:xfrm xmlns:a="http://schemas.openxmlformats.org/drawingml/2006/main">
            <a:off x="7105650" y="46767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8E96108F-42CD-487E-992B-916C4A8227D2}"/>
              </a:ext>
            </a:extLst>
          </p:cNvPr>
          <p:cNvSpPr>
            <a:spLocks xmlns:a="http://schemas.openxmlformats.org/drawingml/2006/main" noGrp="1"/>
          </p:cNvSpPr>
          <p:nvPr/>
        </p:nvSpPr>
        <p:spPr>
          <a:xfrm xmlns:a="http://schemas.openxmlformats.org/drawingml/2006/main">
            <a:off x="7334250" y="45910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2937"/>
                </a:solidFill>
                <a:latin typeface="Aptos"/>
                <a:ea typeface="Aptos"/>
                <a:cs typeface="Aptos"/>
              </a:defRPr>
            </a:pPr>
            <a:r>
              <a:rPr sz="1200" b="0">
                <a:solidFill>
                  <a:srgbClr val="1F2937"/>
                </a:solidFill>
                <a:latin typeface="Aptos"/>
                <a:ea typeface="Aptos"/>
                <a:cs typeface="Aptos"/>
              </a:rPr>
              <a:t>Chọn lớp và buổi học</a:t>
            </a:r>
          </a:p>
        </p:txBody>
      </p:sp>
      <p:sp>
        <p:nvSpPr>
          <p:cNvPr id="36" name="">
            <a:extLst xmlns:a="http://schemas.openxmlformats.org/drawingml/2006/main">
              <a:ext uri="{FF2B5EF4-FFF2-40B4-BE49-F238E27FC236}">
                <a16:creationId xmlns:a16="http://schemas.microsoft.com/office/drawing/2014/main" id="{F0E81223-3608-4F16-88A7-D28D0A8B2302}"/>
              </a:ext>
            </a:extLst>
          </p:cNvPr>
          <p:cNvSpPr>
            <a:spLocks xmlns:a="http://schemas.openxmlformats.org/drawingml/2006/main" noGrp="1"/>
          </p:cNvSpPr>
          <p:nvPr/>
        </p:nvSpPr>
        <p:spPr>
          <a:xfrm xmlns:a="http://schemas.openxmlformats.org/drawingml/2006/main">
            <a:off x="7105650" y="5000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08915F08-05A8-4C35-8610-03656DB2D231}"/>
              </a:ext>
            </a:extLst>
          </p:cNvPr>
          <p:cNvSpPr>
            <a:spLocks xmlns:a="http://schemas.openxmlformats.org/drawingml/2006/main" noGrp="1"/>
          </p:cNvSpPr>
          <p:nvPr/>
        </p:nvSpPr>
        <p:spPr>
          <a:xfrm xmlns:a="http://schemas.openxmlformats.org/drawingml/2006/main">
            <a:off x="7334250" y="491490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2937"/>
                </a:solidFill>
                <a:latin typeface="Aptos"/>
                <a:ea typeface="Aptos"/>
                <a:cs typeface="Aptos"/>
              </a:defRPr>
            </a:pPr>
            <a:r>
              <a:rPr sz="1200" b="0">
                <a:solidFill>
                  <a:srgbClr val="1F2937"/>
                </a:solidFill>
                <a:latin typeface="Aptos"/>
                <a:ea typeface="Aptos"/>
                <a:cs typeface="Aptos"/>
              </a:rPr>
              <a:t>Cập nhật trạng thái sinh viên</a:t>
            </a:r>
          </a:p>
        </p:txBody>
      </p:sp>
      <p:sp>
        <p:nvSpPr>
          <p:cNvPr id="38" name="">
            <a:extLst xmlns:a="http://schemas.openxmlformats.org/drawingml/2006/main">
              <a:ext uri="{FF2B5EF4-FFF2-40B4-BE49-F238E27FC236}">
                <a16:creationId xmlns:a16="http://schemas.microsoft.com/office/drawing/2014/main" id="{68FAABE7-D475-4B45-8373-67CAC719F09A}"/>
              </a:ext>
            </a:extLst>
          </p:cNvPr>
          <p:cNvSpPr>
            <a:spLocks xmlns:a="http://schemas.openxmlformats.org/drawingml/2006/main" noGrp="1"/>
          </p:cNvSpPr>
          <p:nvPr/>
        </p:nvSpPr>
        <p:spPr>
          <a:xfrm xmlns:a="http://schemas.openxmlformats.org/drawingml/2006/main">
            <a:off x="7105650" y="532447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6764839-BA5E-4CE1-8E6F-FB8706EB2855}"/>
              </a:ext>
            </a:extLst>
          </p:cNvPr>
          <p:cNvSpPr>
            <a:spLocks xmlns:a="http://schemas.openxmlformats.org/drawingml/2006/main" noGrp="1"/>
          </p:cNvSpPr>
          <p:nvPr/>
        </p:nvSpPr>
        <p:spPr>
          <a:xfrm xmlns:a="http://schemas.openxmlformats.org/drawingml/2006/main">
            <a:off x="7334250" y="52387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2937"/>
                </a:solidFill>
                <a:latin typeface="Aptos"/>
                <a:ea typeface="Aptos"/>
                <a:cs typeface="Aptos"/>
              </a:defRPr>
            </a:pPr>
            <a:r>
              <a:rPr sz="1200" b="0">
                <a:solidFill>
                  <a:srgbClr val="1F2937"/>
                </a:solidFill>
                <a:latin typeface="Aptos"/>
                <a:ea typeface="Aptos"/>
                <a:cs typeface="Aptos"/>
              </a:rPr>
              <a:t>Tạo QR token và lưu điểm danh</a:t>
            </a:r>
          </a:p>
        </p:txBody>
      </p:sp>
      <p:sp>
        <p:nvSpPr>
          <p:cNvPr id="40" name="">
            <a:extLst xmlns:a="http://schemas.openxmlformats.org/drawingml/2006/main">
              <a:ext uri="{FF2B5EF4-FFF2-40B4-BE49-F238E27FC236}">
                <a16:creationId xmlns:a16="http://schemas.microsoft.com/office/drawing/2014/main" id="{DBA1F6D4-2D1F-4A88-859E-1630A97E624E}"/>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41" name="">
            <a:extLst xmlns:a="http://schemas.openxmlformats.org/drawingml/2006/main">
              <a:ext uri="{FF2B5EF4-FFF2-40B4-BE49-F238E27FC236}">
                <a16:creationId xmlns:a16="http://schemas.microsoft.com/office/drawing/2014/main" id="{4BA1B4EA-C345-4F9A-9C55-6A1012BC6FE5}"/>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09</a:t>
            </a:r>
          </a:p>
        </p:txBody>
      </p:sp>
    </p:spTree>
    <p:extLst>
      <p:ext uri="{BB962C8B-B14F-4D97-AF65-F5344CB8AC3E}">
        <p14:creationId xmlns:p14="http://schemas.microsoft.com/office/powerpoint/2010/main" val="17700893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F1482B-CBC0-4630-BA64-7806F25C8A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C228679-FBD8-48BC-9584-CA3452CE128F}"/>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CEB965A-2E72-4575-B29D-1D783F47C57F}"/>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7F7D8"/>
                </a:solidFill>
                <a:latin typeface="Aptos"/>
                <a:ea typeface="Aptos"/>
                <a:cs typeface="Aptos"/>
              </a:defRPr>
            </a:pPr>
            <a:r>
              <a:rPr sz="975" b="1">
                <a:solidFill>
                  <a:srgbClr val="B7F7D8"/>
                </a:solidFill>
                <a:latin typeface="Aptos"/>
                <a:ea typeface="Aptos"/>
                <a:cs typeface="Aptos"/>
              </a:rPr>
              <a:t>DEMO GIAO DIỆN SINH VIÊN</a:t>
            </a:r>
          </a:p>
        </p:txBody>
      </p:sp>
      <p:sp>
        <p:nvSpPr>
          <p:cNvPr id="4" name="">
            <a:extLst xmlns:a="http://schemas.openxmlformats.org/drawingml/2006/main">
              <a:ext uri="{FF2B5EF4-FFF2-40B4-BE49-F238E27FC236}">
                <a16:creationId xmlns:a16="http://schemas.microsoft.com/office/drawing/2014/main" id="{B2773ED8-6A1A-4E78-BD47-A4A90664EBC9}"/>
              </a:ext>
            </a:extLst>
          </p:cNvPr>
          <p:cNvSpPr>
            <a:spLocks xmlns:a="http://schemas.openxmlformats.org/drawingml/2006/main" noGrp="1"/>
          </p:cNvSpPr>
          <p:nvPr/>
        </p:nvSpPr>
        <p:spPr>
          <a:xfrm xmlns:a="http://schemas.openxmlformats.org/drawingml/2006/main">
            <a:off x="609600" y="781050"/>
            <a:ext cx="7810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Sinh viên theo dõi học tập và điểm danh QR ngay trên dashboard</a:t>
            </a:r>
          </a:p>
        </p:txBody>
      </p:sp>
      <p:sp>
        <p:nvSpPr>
          <p:cNvPr id="5" name="">
            <a:extLst xmlns:a="http://schemas.openxmlformats.org/drawingml/2006/main">
              <a:ext uri="{FF2B5EF4-FFF2-40B4-BE49-F238E27FC236}">
                <a16:creationId xmlns:a16="http://schemas.microsoft.com/office/drawing/2014/main" id="{CD699954-FA50-4733-BBB7-402959DF056F}"/>
              </a:ext>
            </a:extLst>
          </p:cNvPr>
          <p:cNvSpPr>
            <a:spLocks xmlns:a="http://schemas.openxmlformats.org/drawingml/2006/main" noGrp="1"/>
          </p:cNvSpPr>
          <p:nvPr/>
        </p:nvSpPr>
        <p:spPr>
          <a:xfrm xmlns:a="http://schemas.openxmlformats.org/drawingml/2006/main">
            <a:off x="609600" y="1676400"/>
            <a:ext cx="4381500" cy="285750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6" name="">
            <a:extLst xmlns:a="http://schemas.openxmlformats.org/drawingml/2006/main">
              <a:ext uri="{FF2B5EF4-FFF2-40B4-BE49-F238E27FC236}">
                <a16:creationId xmlns:a16="http://schemas.microsoft.com/office/drawing/2014/main" id="{32670F36-938F-4133-9AB3-22F622FC4D14}"/>
              </a:ext>
            </a:extLst>
          </p:cNvPr>
          <p:cNvSpPr>
            <a:spLocks xmlns:a="http://schemas.openxmlformats.org/drawingml/2006/main" noGrp="1"/>
          </p:cNvSpPr>
          <p:nvPr/>
        </p:nvSpPr>
        <p:spPr>
          <a:xfrm xmlns:a="http://schemas.openxmlformats.org/drawingml/2006/main">
            <a:off x="609600" y="1676400"/>
            <a:ext cx="438150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9992FD5-B4A3-4BC9-B00A-A2B5794903D0}"/>
              </a:ext>
            </a:extLst>
          </p:cNvPr>
          <p:cNvSpPr>
            <a:spLocks xmlns:a="http://schemas.openxmlformats.org/drawingml/2006/main" noGrp="1"/>
          </p:cNvSpPr>
          <p:nvPr/>
        </p:nvSpPr>
        <p:spPr>
          <a:xfrm xmlns:a="http://schemas.openxmlformats.org/drawingml/2006/main">
            <a:off x="723900" y="17621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95E4AD4-91EB-4FBC-94F0-06231868BF79}"/>
              </a:ext>
            </a:extLst>
          </p:cNvPr>
          <p:cNvSpPr>
            <a:spLocks xmlns:a="http://schemas.openxmlformats.org/drawingml/2006/main" noGrp="1"/>
          </p:cNvSpPr>
          <p:nvPr/>
        </p:nvSpPr>
        <p:spPr>
          <a:xfrm xmlns:a="http://schemas.openxmlformats.org/drawingml/2006/main">
            <a:off x="838200" y="17621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CE1D822-7FDA-479C-8EDB-EEC3BFDDC745}"/>
              </a:ext>
            </a:extLst>
          </p:cNvPr>
          <p:cNvSpPr>
            <a:spLocks xmlns:a="http://schemas.openxmlformats.org/drawingml/2006/main" noGrp="1"/>
          </p:cNvSpPr>
          <p:nvPr/>
        </p:nvSpPr>
        <p:spPr>
          <a:xfrm xmlns:a="http://schemas.openxmlformats.org/drawingml/2006/main">
            <a:off x="952500" y="17621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c336a93215249b0"/>
          <a:srcRect xmlns:a="http://schemas.openxmlformats.org/drawingml/2006/main" l="0" t="6977" r="0" b="6977"/>
          <a:stretch xmlns:a="http://schemas.openxmlformats.org/drawingml/2006/main">
            <a:fillRect l="0" t="0" r="0" b="0"/>
          </a:stretch>
        </p:blipFill>
        <p:spPr>
          <a:xfrm xmlns:a="http://schemas.openxmlformats.org/drawingml/2006/main">
            <a:off x="685800" y="1981200"/>
            <a:ext cx="4229100" cy="2476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C301596-426B-43A6-9CBA-9405D05B54DB}"/>
              </a:ext>
            </a:extLst>
          </p:cNvPr>
          <p:cNvSpPr>
            <a:spLocks xmlns:a="http://schemas.openxmlformats.org/drawingml/2006/main" noGrp="1"/>
          </p:cNvSpPr>
          <p:nvPr/>
        </p:nvSpPr>
        <p:spPr>
          <a:xfrm xmlns:a="http://schemas.openxmlformats.org/drawingml/2006/main">
            <a:off x="723900" y="4314825"/>
            <a:ext cx="415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Tổng quan học tập</a:t>
            </a:r>
          </a:p>
        </p:txBody>
      </p:sp>
      <p:sp>
        <p:nvSpPr>
          <p:cNvPr id="12" name="">
            <a:extLst xmlns:a="http://schemas.openxmlformats.org/drawingml/2006/main">
              <a:ext uri="{FF2B5EF4-FFF2-40B4-BE49-F238E27FC236}">
                <a16:creationId xmlns:a16="http://schemas.microsoft.com/office/drawing/2014/main" id="{65BE6769-5F21-468E-8D51-2A2AB5B48302}"/>
              </a:ext>
            </a:extLst>
          </p:cNvPr>
          <p:cNvSpPr>
            <a:spLocks xmlns:a="http://schemas.openxmlformats.org/drawingml/2006/main" noGrp="1"/>
          </p:cNvSpPr>
          <p:nvPr/>
        </p:nvSpPr>
        <p:spPr>
          <a:xfrm xmlns:a="http://schemas.openxmlformats.org/drawingml/2006/main">
            <a:off x="5257800" y="1676400"/>
            <a:ext cx="3048000" cy="285750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13" name="">
            <a:extLst xmlns:a="http://schemas.openxmlformats.org/drawingml/2006/main">
              <a:ext uri="{FF2B5EF4-FFF2-40B4-BE49-F238E27FC236}">
                <a16:creationId xmlns:a16="http://schemas.microsoft.com/office/drawing/2014/main" id="{877BC626-BB94-4763-9555-20F2A5D5F922}"/>
              </a:ext>
            </a:extLst>
          </p:cNvPr>
          <p:cNvSpPr>
            <a:spLocks xmlns:a="http://schemas.openxmlformats.org/drawingml/2006/main" noGrp="1"/>
          </p:cNvSpPr>
          <p:nvPr/>
        </p:nvSpPr>
        <p:spPr>
          <a:xfrm xmlns:a="http://schemas.openxmlformats.org/drawingml/2006/main">
            <a:off x="5257800" y="1676400"/>
            <a:ext cx="304800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1C7B15D-AD25-4A55-88C6-B36A659E100F}"/>
              </a:ext>
            </a:extLst>
          </p:cNvPr>
          <p:cNvSpPr>
            <a:spLocks xmlns:a="http://schemas.openxmlformats.org/drawingml/2006/main" noGrp="1"/>
          </p:cNvSpPr>
          <p:nvPr/>
        </p:nvSpPr>
        <p:spPr>
          <a:xfrm xmlns:a="http://schemas.openxmlformats.org/drawingml/2006/main">
            <a:off x="5372100" y="17621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0C053D0-E29C-4A28-91F1-1186B85E2881}"/>
              </a:ext>
            </a:extLst>
          </p:cNvPr>
          <p:cNvSpPr>
            <a:spLocks xmlns:a="http://schemas.openxmlformats.org/drawingml/2006/main" noGrp="1"/>
          </p:cNvSpPr>
          <p:nvPr/>
        </p:nvSpPr>
        <p:spPr>
          <a:xfrm xmlns:a="http://schemas.openxmlformats.org/drawingml/2006/main">
            <a:off x="5486400" y="17621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73ADC14-AF8B-409E-8E7A-6163388CEF23}"/>
              </a:ext>
            </a:extLst>
          </p:cNvPr>
          <p:cNvSpPr>
            <a:spLocks xmlns:a="http://schemas.openxmlformats.org/drawingml/2006/main" noGrp="1"/>
          </p:cNvSpPr>
          <p:nvPr/>
        </p:nvSpPr>
        <p:spPr>
          <a:xfrm xmlns:a="http://schemas.openxmlformats.org/drawingml/2006/main">
            <a:off x="5600700" y="17621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5886c6b8463486c"/>
          <a:srcRect xmlns:a="http://schemas.openxmlformats.org/drawingml/2006/main" l="17860" t="0" r="17860" b="0"/>
          <a:stretch xmlns:a="http://schemas.openxmlformats.org/drawingml/2006/main">
            <a:fillRect l="0" t="0" r="0" b="0"/>
          </a:stretch>
        </p:blipFill>
        <p:spPr>
          <a:xfrm xmlns:a="http://schemas.openxmlformats.org/drawingml/2006/main">
            <a:off x="5334000" y="1981200"/>
            <a:ext cx="2895600" cy="2476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9FFF33E3-10C6-43F6-A34B-317CF3CB4509}"/>
              </a:ext>
            </a:extLst>
          </p:cNvPr>
          <p:cNvSpPr>
            <a:spLocks xmlns:a="http://schemas.openxmlformats.org/drawingml/2006/main" noGrp="1"/>
          </p:cNvSpPr>
          <p:nvPr/>
        </p:nvSpPr>
        <p:spPr>
          <a:xfrm xmlns:a="http://schemas.openxmlformats.org/drawingml/2006/main">
            <a:off x="5372100" y="4314825"/>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Quét mã QR</a:t>
            </a:r>
          </a:p>
        </p:txBody>
      </p:sp>
      <p:sp>
        <p:nvSpPr>
          <p:cNvPr id="19" name="">
            <a:extLst xmlns:a="http://schemas.openxmlformats.org/drawingml/2006/main">
              <a:ext uri="{FF2B5EF4-FFF2-40B4-BE49-F238E27FC236}">
                <a16:creationId xmlns:a16="http://schemas.microsoft.com/office/drawing/2014/main" id="{311FBD2E-0366-4C4E-A878-B17343D9B200}"/>
              </a:ext>
            </a:extLst>
          </p:cNvPr>
          <p:cNvSpPr>
            <a:spLocks xmlns:a="http://schemas.openxmlformats.org/drawingml/2006/main" noGrp="1"/>
          </p:cNvSpPr>
          <p:nvPr/>
        </p:nvSpPr>
        <p:spPr>
          <a:xfrm xmlns:a="http://schemas.openxmlformats.org/drawingml/2006/main">
            <a:off x="8534400" y="1676400"/>
            <a:ext cx="2762250" cy="13144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20" name="">
            <a:extLst xmlns:a="http://schemas.openxmlformats.org/drawingml/2006/main">
              <a:ext uri="{FF2B5EF4-FFF2-40B4-BE49-F238E27FC236}">
                <a16:creationId xmlns:a16="http://schemas.microsoft.com/office/drawing/2014/main" id="{1B813BFC-840D-4A4D-8D2C-76995FC27E51}"/>
              </a:ext>
            </a:extLst>
          </p:cNvPr>
          <p:cNvSpPr>
            <a:spLocks xmlns:a="http://schemas.openxmlformats.org/drawingml/2006/main" noGrp="1"/>
          </p:cNvSpPr>
          <p:nvPr/>
        </p:nvSpPr>
        <p:spPr>
          <a:xfrm xmlns:a="http://schemas.openxmlformats.org/drawingml/2006/main">
            <a:off x="8534400" y="1676400"/>
            <a:ext cx="276225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B38C473-FC69-4D47-A94F-5542985B8926}"/>
              </a:ext>
            </a:extLst>
          </p:cNvPr>
          <p:cNvSpPr>
            <a:spLocks xmlns:a="http://schemas.openxmlformats.org/drawingml/2006/main" noGrp="1"/>
          </p:cNvSpPr>
          <p:nvPr/>
        </p:nvSpPr>
        <p:spPr>
          <a:xfrm xmlns:a="http://schemas.openxmlformats.org/drawingml/2006/main">
            <a:off x="8648700" y="17621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786CF19-114B-4C17-A82C-A3150950BA13}"/>
              </a:ext>
            </a:extLst>
          </p:cNvPr>
          <p:cNvSpPr>
            <a:spLocks xmlns:a="http://schemas.openxmlformats.org/drawingml/2006/main" noGrp="1"/>
          </p:cNvSpPr>
          <p:nvPr/>
        </p:nvSpPr>
        <p:spPr>
          <a:xfrm xmlns:a="http://schemas.openxmlformats.org/drawingml/2006/main">
            <a:off x="8763000" y="17621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6565CB2-BF1E-40D2-A025-99246298C6B8}"/>
              </a:ext>
            </a:extLst>
          </p:cNvPr>
          <p:cNvSpPr>
            <a:spLocks xmlns:a="http://schemas.openxmlformats.org/drawingml/2006/main" noGrp="1"/>
          </p:cNvSpPr>
          <p:nvPr/>
        </p:nvSpPr>
        <p:spPr>
          <a:xfrm xmlns:a="http://schemas.openxmlformats.org/drawingml/2006/main">
            <a:off x="8877300" y="17621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b6637c6bc8a43d4"/>
          <a:srcRect xmlns:a="http://schemas.openxmlformats.org/drawingml/2006/main" l="0" t="17112" r="0" b="17112"/>
          <a:stretch xmlns:a="http://schemas.openxmlformats.org/drawingml/2006/main">
            <a:fillRect l="0" t="0" r="0" b="0"/>
          </a:stretch>
        </p:blipFill>
        <p:spPr>
          <a:xfrm xmlns:a="http://schemas.openxmlformats.org/drawingml/2006/main">
            <a:off x="8610600" y="1981200"/>
            <a:ext cx="2609850" cy="9334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F29EDF0-3B3B-4A49-B4F8-B20BF0B684F8}"/>
              </a:ext>
            </a:extLst>
          </p:cNvPr>
          <p:cNvSpPr>
            <a:spLocks xmlns:a="http://schemas.openxmlformats.org/drawingml/2006/main" noGrp="1"/>
          </p:cNvSpPr>
          <p:nvPr/>
        </p:nvSpPr>
        <p:spPr>
          <a:xfrm xmlns:a="http://schemas.openxmlformats.org/drawingml/2006/main">
            <a:off x="8648700" y="2771775"/>
            <a:ext cx="2533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Lớp học của tôi</a:t>
            </a:r>
          </a:p>
        </p:txBody>
      </p:sp>
      <p:sp>
        <p:nvSpPr>
          <p:cNvPr id="26" name="">
            <a:extLst xmlns:a="http://schemas.openxmlformats.org/drawingml/2006/main">
              <a:ext uri="{FF2B5EF4-FFF2-40B4-BE49-F238E27FC236}">
                <a16:creationId xmlns:a16="http://schemas.microsoft.com/office/drawing/2014/main" id="{282A8DC2-9139-48D2-BD51-C4A576775FE2}"/>
              </a:ext>
            </a:extLst>
          </p:cNvPr>
          <p:cNvSpPr>
            <a:spLocks xmlns:a="http://schemas.openxmlformats.org/drawingml/2006/main" noGrp="1"/>
          </p:cNvSpPr>
          <p:nvPr/>
        </p:nvSpPr>
        <p:spPr>
          <a:xfrm xmlns:a="http://schemas.openxmlformats.org/drawingml/2006/main">
            <a:off x="8534400" y="3238500"/>
            <a:ext cx="2762250" cy="1314450"/>
          </a:xfrm>
          <a:prstGeom xmlns:a="http://schemas.openxmlformats.org/drawingml/2006/main" prst="rect">
            <a:avLst/>
          </a:prstGeom>
          <a:solidFill xmlns:a="http://schemas.openxmlformats.org/drawingml/2006/main">
            <a:srgbClr val="0B1513"/>
          </a:solidFill>
          <a:ln xmlns:a="http://schemas.openxmlformats.org/drawingml/2006/main" w="9525">
            <a:solidFill>
              <a:srgbClr val="16362D"/>
            </a:solidFill>
            <a:prstDash val="solid"/>
          </a:ln>
        </p:spPr>
      </p:sp>
      <p:sp>
        <p:nvSpPr>
          <p:cNvPr id="27" name="">
            <a:extLst xmlns:a="http://schemas.openxmlformats.org/drawingml/2006/main">
              <a:ext uri="{FF2B5EF4-FFF2-40B4-BE49-F238E27FC236}">
                <a16:creationId xmlns:a16="http://schemas.microsoft.com/office/drawing/2014/main" id="{A04B13BF-93B1-4F61-A25E-E1B84426AFD8}"/>
              </a:ext>
            </a:extLst>
          </p:cNvPr>
          <p:cNvSpPr>
            <a:spLocks xmlns:a="http://schemas.openxmlformats.org/drawingml/2006/main" noGrp="1"/>
          </p:cNvSpPr>
          <p:nvPr/>
        </p:nvSpPr>
        <p:spPr>
          <a:xfrm xmlns:a="http://schemas.openxmlformats.org/drawingml/2006/main">
            <a:off x="8534400" y="3238500"/>
            <a:ext cx="2762250" cy="228600"/>
          </a:xfrm>
          <a:prstGeom xmlns:a="http://schemas.openxmlformats.org/drawingml/2006/main" prst="rect">
            <a:avLst/>
          </a:prstGeom>
          <a:solidFill xmlns:a="http://schemas.openxmlformats.org/drawingml/2006/main">
            <a:srgbClr val="10251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BB9261A-408D-40FF-BD60-697307686FA1}"/>
              </a:ext>
            </a:extLst>
          </p:cNvPr>
          <p:cNvSpPr>
            <a:spLocks xmlns:a="http://schemas.openxmlformats.org/drawingml/2006/main" noGrp="1"/>
          </p:cNvSpPr>
          <p:nvPr/>
        </p:nvSpPr>
        <p:spPr>
          <a:xfrm xmlns:a="http://schemas.openxmlformats.org/drawingml/2006/main">
            <a:off x="8648700" y="33242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85A7EC3-61A8-4441-914A-66F754DCD3D0}"/>
              </a:ext>
            </a:extLst>
          </p:cNvPr>
          <p:cNvSpPr>
            <a:spLocks xmlns:a="http://schemas.openxmlformats.org/drawingml/2006/main" noGrp="1"/>
          </p:cNvSpPr>
          <p:nvPr/>
        </p:nvSpPr>
        <p:spPr>
          <a:xfrm xmlns:a="http://schemas.openxmlformats.org/drawingml/2006/main">
            <a:off x="8763000" y="33242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34586C36-BABF-4299-BFEE-F38FB382F86E}"/>
              </a:ext>
            </a:extLst>
          </p:cNvPr>
          <p:cNvSpPr>
            <a:spLocks xmlns:a="http://schemas.openxmlformats.org/drawingml/2006/main" noGrp="1"/>
          </p:cNvSpPr>
          <p:nvPr/>
        </p:nvSpPr>
        <p:spPr>
          <a:xfrm xmlns:a="http://schemas.openxmlformats.org/drawingml/2006/main">
            <a:off x="8877300" y="33242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c0c3e1250554cc2"/>
          <a:srcRect xmlns:a="http://schemas.openxmlformats.org/drawingml/2006/main" l="0" t="17511" r="0" b="17511"/>
          <a:stretch xmlns:a="http://schemas.openxmlformats.org/drawingml/2006/main">
            <a:fillRect l="0" t="0" r="0" b="0"/>
          </a:stretch>
        </p:blipFill>
        <p:spPr>
          <a:xfrm xmlns:a="http://schemas.openxmlformats.org/drawingml/2006/main">
            <a:off x="8610600" y="3543300"/>
            <a:ext cx="2609850" cy="9334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38735BF-9A9C-4D1F-958C-1960076CC1F8}"/>
              </a:ext>
            </a:extLst>
          </p:cNvPr>
          <p:cNvSpPr>
            <a:spLocks xmlns:a="http://schemas.openxmlformats.org/drawingml/2006/main" noGrp="1"/>
          </p:cNvSpPr>
          <p:nvPr/>
        </p:nvSpPr>
        <p:spPr>
          <a:xfrm xmlns:a="http://schemas.openxmlformats.org/drawingml/2006/main">
            <a:off x="8648700" y="4333875"/>
            <a:ext cx="2533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8FBE8"/>
                </a:solidFill>
                <a:latin typeface="Aptos"/>
                <a:ea typeface="Aptos"/>
                <a:cs typeface="Aptos"/>
              </a:defRPr>
            </a:pPr>
            <a:r>
              <a:rPr sz="825" b="0">
                <a:solidFill>
                  <a:srgbClr val="D8FBE8"/>
                </a:solidFill>
                <a:latin typeface="Aptos"/>
                <a:ea typeface="Aptos"/>
                <a:cs typeface="Aptos"/>
              </a:rPr>
              <a:t>Lịch học</a:t>
            </a:r>
          </a:p>
        </p:txBody>
      </p:sp>
      <p:sp>
        <p:nvSpPr>
          <p:cNvPr id="33" name="">
            <a:extLst xmlns:a="http://schemas.openxmlformats.org/drawingml/2006/main">
              <a:ext uri="{FF2B5EF4-FFF2-40B4-BE49-F238E27FC236}">
                <a16:creationId xmlns:a16="http://schemas.microsoft.com/office/drawing/2014/main" id="{B33A2471-E764-496B-B7FF-A13638FB8B54}"/>
              </a:ext>
            </a:extLst>
          </p:cNvPr>
          <p:cNvSpPr>
            <a:spLocks xmlns:a="http://schemas.openxmlformats.org/drawingml/2006/main" noGrp="1"/>
          </p:cNvSpPr>
          <p:nvPr/>
        </p:nvSpPr>
        <p:spPr>
          <a:xfrm xmlns:a="http://schemas.openxmlformats.org/drawingml/2006/main">
            <a:off x="628650" y="4953000"/>
            <a:ext cx="10648950" cy="685800"/>
          </a:xfrm>
          <a:prstGeom xmlns:a="http://schemas.openxmlformats.org/drawingml/2006/main" prst="rect">
            <a:avLst/>
          </a:prstGeom>
          <a:solidFill xmlns:a="http://schemas.openxmlformats.org/drawingml/2006/main">
            <a:srgbClr val="0E2A23"/>
          </a:solidFill>
          <a:ln xmlns:a="http://schemas.openxmlformats.org/drawingml/2006/main" w="9525">
            <a:solidFill>
              <a:srgbClr val="164B3A"/>
            </a:solidFill>
            <a:prstDash val="solid"/>
          </a:ln>
        </p:spPr>
      </p:sp>
      <p:sp>
        <p:nvSpPr>
          <p:cNvPr id="34" name="">
            <a:extLst xmlns:a="http://schemas.openxmlformats.org/drawingml/2006/main">
              <a:ext uri="{FF2B5EF4-FFF2-40B4-BE49-F238E27FC236}">
                <a16:creationId xmlns:a16="http://schemas.microsoft.com/office/drawing/2014/main" id="{94BF6F9C-059B-41A7-A63D-44A099785CE7}"/>
              </a:ext>
            </a:extLst>
          </p:cNvPr>
          <p:cNvSpPr>
            <a:spLocks xmlns:a="http://schemas.openxmlformats.org/drawingml/2006/main" noGrp="1"/>
          </p:cNvSpPr>
          <p:nvPr/>
        </p:nvSpPr>
        <p:spPr>
          <a:xfrm xmlns:a="http://schemas.openxmlformats.org/drawingml/2006/main">
            <a:off x="895350" y="5162550"/>
            <a:ext cx="9982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D8FBE8"/>
                </a:solidFill>
                <a:latin typeface="Aptos"/>
                <a:ea typeface="Aptos"/>
                <a:cs typeface="Aptos"/>
              </a:defRPr>
            </a:pPr>
            <a:r>
              <a:rPr sz="1500" b="1">
                <a:solidFill>
                  <a:srgbClr val="D8FBE8"/>
                </a:solidFill>
                <a:latin typeface="Aptos"/>
                <a:ea typeface="Aptos"/>
                <a:cs typeface="Aptos"/>
              </a:rPr>
              <a:t>Thông tin chính: số buổi có mặt, tỷ lệ tham gia, lịch học theo tháng, lớp đang học và lịch sử điểm danh.</a:t>
            </a:r>
          </a:p>
        </p:txBody>
      </p:sp>
      <p:sp>
        <p:nvSpPr>
          <p:cNvPr id="35" name="">
            <a:extLst xmlns:a="http://schemas.openxmlformats.org/drawingml/2006/main">
              <a:ext uri="{FF2B5EF4-FFF2-40B4-BE49-F238E27FC236}">
                <a16:creationId xmlns:a16="http://schemas.microsoft.com/office/drawing/2014/main" id="{6F71E045-5274-4030-9225-DA34D5C1C496}"/>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7F7D8"/>
                </a:solidFill>
                <a:latin typeface="Aptos"/>
                <a:ea typeface="Aptos"/>
                <a:cs typeface="Aptos"/>
              </a:defRPr>
            </a:pPr>
            <a:r>
              <a:rPr sz="900" b="0">
                <a:solidFill>
                  <a:srgbClr val="B7F7D8"/>
                </a:solidFill>
                <a:latin typeface="Aptos"/>
                <a:ea typeface="Aptos"/>
                <a:cs typeface="Aptos"/>
              </a:rPr>
              <a:t>Hệ thống quản lý học tập trực tuyến LMS</a:t>
            </a:r>
          </a:p>
        </p:txBody>
      </p:sp>
      <p:sp>
        <p:nvSpPr>
          <p:cNvPr id="36" name="">
            <a:extLst xmlns:a="http://schemas.openxmlformats.org/drawingml/2006/main">
              <a:ext uri="{FF2B5EF4-FFF2-40B4-BE49-F238E27FC236}">
                <a16:creationId xmlns:a16="http://schemas.microsoft.com/office/drawing/2014/main" id="{1D9CBED5-306B-4E59-B63B-8AD8F09E2396}"/>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FFFFF"/>
                </a:solidFill>
                <a:latin typeface="Aptos"/>
                <a:ea typeface="Aptos"/>
                <a:cs typeface="Aptos"/>
              </a:defRPr>
            </a:pPr>
            <a:r>
              <a:rPr sz="975" b="1">
                <a:solidFill>
                  <a:srgbClr val="FFFFFF"/>
                </a:solidFill>
                <a:latin typeface="Aptos"/>
                <a:ea typeface="Aptos"/>
                <a:cs typeface="Aptos"/>
              </a:rPr>
              <a:t>10</a:t>
            </a:r>
          </a:p>
        </p:txBody>
      </p:sp>
    </p:spTree>
    <p:extLst>
      <p:ext uri="{BB962C8B-B14F-4D97-AF65-F5344CB8AC3E}">
        <p14:creationId xmlns:p14="http://schemas.microsoft.com/office/powerpoint/2010/main" val="107400095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E4DFFC-568F-4AC8-946D-BFE0262A01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138104B-AB94-4BD7-B60B-2B5F9809220E}"/>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7CAB4F-B70A-4F23-8732-69BCA402350F}"/>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KẾT QUẢ ĐẠT ĐƯỢC</a:t>
            </a:r>
          </a:p>
        </p:txBody>
      </p:sp>
      <p:sp>
        <p:nvSpPr>
          <p:cNvPr id="4" name="">
            <a:extLst xmlns:a="http://schemas.openxmlformats.org/drawingml/2006/main">
              <a:ext uri="{FF2B5EF4-FFF2-40B4-BE49-F238E27FC236}">
                <a16:creationId xmlns:a16="http://schemas.microsoft.com/office/drawing/2014/main" id="{481E323C-8730-4CC9-8FC0-CE6355ACD5C4}"/>
              </a:ext>
            </a:extLst>
          </p:cNvPr>
          <p:cNvSpPr>
            <a:spLocks xmlns:a="http://schemas.openxmlformats.org/drawingml/2006/main" noGrp="1"/>
          </p:cNvSpPr>
          <p:nvPr/>
        </p:nvSpPr>
        <p:spPr>
          <a:xfrm xmlns:a="http://schemas.openxmlformats.org/drawingml/2006/main">
            <a:off x="609600" y="8001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71313"/>
                </a:solidFill>
                <a:latin typeface="Aptos Display"/>
                <a:ea typeface="Aptos Display"/>
                <a:cs typeface="Aptos Display"/>
              </a:defRPr>
            </a:pPr>
            <a:r>
              <a:rPr sz="3150" b="1">
                <a:solidFill>
                  <a:srgbClr val="071313"/>
                </a:solidFill>
                <a:latin typeface="Aptos Display"/>
                <a:ea typeface="Aptos Display"/>
                <a:cs typeface="Aptos Display"/>
              </a:rPr>
              <a:t>Các luồng cốt lõi đã chạy được trên môi trường local</a:t>
            </a:r>
          </a:p>
        </p:txBody>
      </p:sp>
      <p:sp>
        <p:nvSpPr>
          <p:cNvPr id="5" name="">
            <a:extLst xmlns:a="http://schemas.openxmlformats.org/drawingml/2006/main">
              <a:ext uri="{FF2B5EF4-FFF2-40B4-BE49-F238E27FC236}">
                <a16:creationId xmlns:a16="http://schemas.microsoft.com/office/drawing/2014/main" id="{B061B9EA-BE55-4D74-A579-46A18F770647}"/>
              </a:ext>
            </a:extLst>
          </p:cNvPr>
          <p:cNvSpPr>
            <a:spLocks xmlns:a="http://schemas.openxmlformats.org/drawingml/2006/main" noGrp="1"/>
          </p:cNvSpPr>
          <p:nvPr/>
        </p:nvSpPr>
        <p:spPr>
          <a:xfrm xmlns:a="http://schemas.openxmlformats.org/drawingml/2006/main">
            <a:off x="762000" y="1885950"/>
            <a:ext cx="438150" cy="438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A1FC773-78D7-4B6A-924F-45D1853D068E}"/>
              </a:ext>
            </a:extLst>
          </p:cNvPr>
          <p:cNvSpPr>
            <a:spLocks xmlns:a="http://schemas.openxmlformats.org/drawingml/2006/main" noGrp="1"/>
          </p:cNvSpPr>
          <p:nvPr/>
        </p:nvSpPr>
        <p:spPr>
          <a:xfrm xmlns:a="http://schemas.openxmlformats.org/drawingml/2006/main">
            <a:off x="762000" y="1981200"/>
            <a:ext cx="43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BEE5C4A5-F63A-458D-8088-D29D5D0150CD}"/>
              </a:ext>
            </a:extLst>
          </p:cNvPr>
          <p:cNvSpPr>
            <a:spLocks xmlns:a="http://schemas.openxmlformats.org/drawingml/2006/main" noGrp="1"/>
          </p:cNvSpPr>
          <p:nvPr/>
        </p:nvSpPr>
        <p:spPr>
          <a:xfrm xmlns:a="http://schemas.openxmlformats.org/drawingml/2006/main">
            <a:off x="1447800" y="190500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Phân quyền giao diện</a:t>
            </a:r>
          </a:p>
        </p:txBody>
      </p:sp>
      <p:sp>
        <p:nvSpPr>
          <p:cNvPr id="8" name="">
            <a:extLst xmlns:a="http://schemas.openxmlformats.org/drawingml/2006/main">
              <a:ext uri="{FF2B5EF4-FFF2-40B4-BE49-F238E27FC236}">
                <a16:creationId xmlns:a16="http://schemas.microsoft.com/office/drawing/2014/main" id="{D9DFF8E9-BFDE-45DF-BC1C-6211701CA76F}"/>
              </a:ext>
            </a:extLst>
          </p:cNvPr>
          <p:cNvSpPr>
            <a:spLocks xmlns:a="http://schemas.openxmlformats.org/drawingml/2006/main" noGrp="1"/>
          </p:cNvSpPr>
          <p:nvPr/>
        </p:nvSpPr>
        <p:spPr>
          <a:xfrm xmlns:a="http://schemas.openxmlformats.org/drawingml/2006/main">
            <a:off x="1447800" y="2209800"/>
            <a:ext cx="723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Dashboard theo Admin, Giảng viên, Sinh viên</a:t>
            </a:r>
          </a:p>
        </p:txBody>
      </p:sp>
      <p:sp>
        <p:nvSpPr>
          <p:cNvPr id="9" name="">
            <a:extLst xmlns:a="http://schemas.openxmlformats.org/drawingml/2006/main">
              <a:ext uri="{FF2B5EF4-FFF2-40B4-BE49-F238E27FC236}">
                <a16:creationId xmlns:a16="http://schemas.microsoft.com/office/drawing/2014/main" id="{49E06BA2-9B00-41D5-A247-7F7BAFDF6112}"/>
              </a:ext>
            </a:extLst>
          </p:cNvPr>
          <p:cNvSpPr>
            <a:spLocks xmlns:a="http://schemas.openxmlformats.org/drawingml/2006/main" noGrp="1"/>
          </p:cNvSpPr>
          <p:nvPr/>
        </p:nvSpPr>
        <p:spPr>
          <a:xfrm xmlns:a="http://schemas.openxmlformats.org/drawingml/2006/main">
            <a:off x="762000" y="2628900"/>
            <a:ext cx="438150" cy="438150"/>
          </a:xfrm>
          <a:prstGeom xmlns:a="http://schemas.openxmlformats.org/drawingml/2006/main" prst="rect">
            <a:avLst/>
          </a:prstGeom>
          <a:solidFill xmlns:a="http://schemas.openxmlformats.org/drawingml/2006/main">
            <a:srgbClr val="ECFDF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8EF6E44-AED8-4B3D-9555-5FEDC23E986A}"/>
              </a:ext>
            </a:extLst>
          </p:cNvPr>
          <p:cNvSpPr>
            <a:spLocks xmlns:a="http://schemas.openxmlformats.org/drawingml/2006/main" noGrp="1"/>
          </p:cNvSpPr>
          <p:nvPr/>
        </p:nvSpPr>
        <p:spPr>
          <a:xfrm xmlns:a="http://schemas.openxmlformats.org/drawingml/2006/main">
            <a:off x="762000" y="2724150"/>
            <a:ext cx="43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71313"/>
                </a:solidFill>
                <a:latin typeface="Aptos"/>
                <a:ea typeface="Aptos"/>
                <a:cs typeface="Aptos"/>
              </a:defRPr>
            </a:pPr>
            <a:r>
              <a:rPr sz="1500" b="1">
                <a:solidFill>
                  <a:srgbClr val="071313"/>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FB83D790-EAF5-405B-84EB-C493B9227B20}"/>
              </a:ext>
            </a:extLst>
          </p:cNvPr>
          <p:cNvSpPr>
            <a:spLocks xmlns:a="http://schemas.openxmlformats.org/drawingml/2006/main" noGrp="1"/>
          </p:cNvSpPr>
          <p:nvPr/>
        </p:nvSpPr>
        <p:spPr>
          <a:xfrm xmlns:a="http://schemas.openxmlformats.org/drawingml/2006/main">
            <a:off x="1447800" y="26479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Điểm danh QR</a:t>
            </a:r>
          </a:p>
        </p:txBody>
      </p:sp>
      <p:sp>
        <p:nvSpPr>
          <p:cNvPr id="12" name="">
            <a:extLst xmlns:a="http://schemas.openxmlformats.org/drawingml/2006/main">
              <a:ext uri="{FF2B5EF4-FFF2-40B4-BE49-F238E27FC236}">
                <a16:creationId xmlns:a16="http://schemas.microsoft.com/office/drawing/2014/main" id="{84C92A86-B180-43C0-9A94-D09B66E67DC0}"/>
              </a:ext>
            </a:extLst>
          </p:cNvPr>
          <p:cNvSpPr>
            <a:spLocks xmlns:a="http://schemas.openxmlformats.org/drawingml/2006/main" noGrp="1"/>
          </p:cNvSpPr>
          <p:nvPr/>
        </p:nvSpPr>
        <p:spPr>
          <a:xfrm xmlns:a="http://schemas.openxmlformats.org/drawingml/2006/main">
            <a:off x="1447800" y="2952750"/>
            <a:ext cx="723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Token có thời hạn, hỗ trợ quét bằng camera</a:t>
            </a:r>
          </a:p>
        </p:txBody>
      </p:sp>
      <p:sp>
        <p:nvSpPr>
          <p:cNvPr id="13" name="">
            <a:extLst xmlns:a="http://schemas.openxmlformats.org/drawingml/2006/main">
              <a:ext uri="{FF2B5EF4-FFF2-40B4-BE49-F238E27FC236}">
                <a16:creationId xmlns:a16="http://schemas.microsoft.com/office/drawing/2014/main" id="{E37C88D5-3AB8-4715-A0B8-7F908FFADE5D}"/>
              </a:ext>
            </a:extLst>
          </p:cNvPr>
          <p:cNvSpPr>
            <a:spLocks xmlns:a="http://schemas.openxmlformats.org/drawingml/2006/main" noGrp="1"/>
          </p:cNvSpPr>
          <p:nvPr/>
        </p:nvSpPr>
        <p:spPr>
          <a:xfrm xmlns:a="http://schemas.openxmlformats.org/drawingml/2006/main">
            <a:off x="762000" y="3371850"/>
            <a:ext cx="438150" cy="438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4BCDA43-809C-4D13-A9C7-698A5D630DF6}"/>
              </a:ext>
            </a:extLst>
          </p:cNvPr>
          <p:cNvSpPr>
            <a:spLocks xmlns:a="http://schemas.openxmlformats.org/drawingml/2006/main" noGrp="1"/>
          </p:cNvSpPr>
          <p:nvPr/>
        </p:nvSpPr>
        <p:spPr>
          <a:xfrm xmlns:a="http://schemas.openxmlformats.org/drawingml/2006/main">
            <a:off x="762000" y="3467100"/>
            <a:ext cx="43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36C813AB-F6B5-4014-A7C4-A4487937AAA1}"/>
              </a:ext>
            </a:extLst>
          </p:cNvPr>
          <p:cNvSpPr>
            <a:spLocks xmlns:a="http://schemas.openxmlformats.org/drawingml/2006/main" noGrp="1"/>
          </p:cNvSpPr>
          <p:nvPr/>
        </p:nvSpPr>
        <p:spPr>
          <a:xfrm xmlns:a="http://schemas.openxmlformats.org/drawingml/2006/main">
            <a:off x="1447800" y="339090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Import Excel</a:t>
            </a:r>
          </a:p>
        </p:txBody>
      </p:sp>
      <p:sp>
        <p:nvSpPr>
          <p:cNvPr id="16" name="">
            <a:extLst xmlns:a="http://schemas.openxmlformats.org/drawingml/2006/main">
              <a:ext uri="{FF2B5EF4-FFF2-40B4-BE49-F238E27FC236}">
                <a16:creationId xmlns:a16="http://schemas.microsoft.com/office/drawing/2014/main" id="{7D6D3F34-F640-47D5-A204-6B30D02E9A41}"/>
              </a:ext>
            </a:extLst>
          </p:cNvPr>
          <p:cNvSpPr>
            <a:spLocks xmlns:a="http://schemas.openxmlformats.org/drawingml/2006/main" noGrp="1"/>
          </p:cNvSpPr>
          <p:nvPr/>
        </p:nvSpPr>
        <p:spPr>
          <a:xfrm xmlns:a="http://schemas.openxmlformats.org/drawingml/2006/main">
            <a:off x="1447800" y="3695700"/>
            <a:ext cx="723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Giảm thời gian nhập dữ liệu người dùng/lớp học</a:t>
            </a:r>
          </a:p>
        </p:txBody>
      </p:sp>
      <p:sp>
        <p:nvSpPr>
          <p:cNvPr id="17" name="">
            <a:extLst xmlns:a="http://schemas.openxmlformats.org/drawingml/2006/main">
              <a:ext uri="{FF2B5EF4-FFF2-40B4-BE49-F238E27FC236}">
                <a16:creationId xmlns:a16="http://schemas.microsoft.com/office/drawing/2014/main" id="{55A28EEA-3095-4320-883B-B54D5238BA8F}"/>
              </a:ext>
            </a:extLst>
          </p:cNvPr>
          <p:cNvSpPr>
            <a:spLocks xmlns:a="http://schemas.openxmlformats.org/drawingml/2006/main" noGrp="1"/>
          </p:cNvSpPr>
          <p:nvPr/>
        </p:nvSpPr>
        <p:spPr>
          <a:xfrm xmlns:a="http://schemas.openxmlformats.org/drawingml/2006/main">
            <a:off x="762000" y="4114800"/>
            <a:ext cx="438150" cy="438150"/>
          </a:xfrm>
          <a:prstGeom xmlns:a="http://schemas.openxmlformats.org/drawingml/2006/main" prst="rect">
            <a:avLst/>
          </a:prstGeom>
          <a:solidFill xmlns:a="http://schemas.openxmlformats.org/drawingml/2006/main">
            <a:srgbClr val="ECFDF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BC5A5FC-F581-4186-96E7-A50E6B482610}"/>
              </a:ext>
            </a:extLst>
          </p:cNvPr>
          <p:cNvSpPr>
            <a:spLocks xmlns:a="http://schemas.openxmlformats.org/drawingml/2006/main" noGrp="1"/>
          </p:cNvSpPr>
          <p:nvPr/>
        </p:nvSpPr>
        <p:spPr>
          <a:xfrm xmlns:a="http://schemas.openxmlformats.org/drawingml/2006/main">
            <a:off x="762000" y="4210050"/>
            <a:ext cx="43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71313"/>
                </a:solidFill>
                <a:latin typeface="Aptos"/>
                <a:ea typeface="Aptos"/>
                <a:cs typeface="Aptos"/>
              </a:defRPr>
            </a:pPr>
            <a:r>
              <a:rPr sz="1500" b="1">
                <a:solidFill>
                  <a:srgbClr val="071313"/>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49A1C12B-2D41-43D3-BBA7-54C37992CFE4}"/>
              </a:ext>
            </a:extLst>
          </p:cNvPr>
          <p:cNvSpPr>
            <a:spLocks xmlns:a="http://schemas.openxmlformats.org/drawingml/2006/main" noGrp="1"/>
          </p:cNvSpPr>
          <p:nvPr/>
        </p:nvSpPr>
        <p:spPr>
          <a:xfrm xmlns:a="http://schemas.openxmlformats.org/drawingml/2006/main">
            <a:off x="1447800" y="41338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Khôi phục mật khẩu</a:t>
            </a:r>
          </a:p>
        </p:txBody>
      </p:sp>
      <p:sp>
        <p:nvSpPr>
          <p:cNvPr id="20" name="">
            <a:extLst xmlns:a="http://schemas.openxmlformats.org/drawingml/2006/main">
              <a:ext uri="{FF2B5EF4-FFF2-40B4-BE49-F238E27FC236}">
                <a16:creationId xmlns:a16="http://schemas.microsoft.com/office/drawing/2014/main" id="{D5D4A0F9-0625-425C-A99E-10FA790FE75A}"/>
              </a:ext>
            </a:extLst>
          </p:cNvPr>
          <p:cNvSpPr>
            <a:spLocks xmlns:a="http://schemas.openxmlformats.org/drawingml/2006/main" noGrp="1"/>
          </p:cNvSpPr>
          <p:nvPr/>
        </p:nvSpPr>
        <p:spPr>
          <a:xfrm xmlns:a="http://schemas.openxmlformats.org/drawingml/2006/main">
            <a:off x="1447800" y="4438650"/>
            <a:ext cx="723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Gửi OTP qua Nodemailer/SMTP</a:t>
            </a:r>
          </a:p>
        </p:txBody>
      </p:sp>
      <p:sp>
        <p:nvSpPr>
          <p:cNvPr id="21" name="">
            <a:extLst xmlns:a="http://schemas.openxmlformats.org/drawingml/2006/main">
              <a:ext uri="{FF2B5EF4-FFF2-40B4-BE49-F238E27FC236}">
                <a16:creationId xmlns:a16="http://schemas.microsoft.com/office/drawing/2014/main" id="{1C0EF426-D257-4378-A7BF-B32486E86B4D}"/>
              </a:ext>
            </a:extLst>
          </p:cNvPr>
          <p:cNvSpPr>
            <a:spLocks xmlns:a="http://schemas.openxmlformats.org/drawingml/2006/main" noGrp="1"/>
          </p:cNvSpPr>
          <p:nvPr/>
        </p:nvSpPr>
        <p:spPr>
          <a:xfrm xmlns:a="http://schemas.openxmlformats.org/drawingml/2006/main">
            <a:off x="762000" y="4857750"/>
            <a:ext cx="438150" cy="438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E75C972-CC53-4472-8B54-E55AAD7611D1}"/>
              </a:ext>
            </a:extLst>
          </p:cNvPr>
          <p:cNvSpPr>
            <a:spLocks xmlns:a="http://schemas.openxmlformats.org/drawingml/2006/main" noGrp="1"/>
          </p:cNvSpPr>
          <p:nvPr/>
        </p:nvSpPr>
        <p:spPr>
          <a:xfrm xmlns:a="http://schemas.openxmlformats.org/drawingml/2006/main">
            <a:off x="762000" y="4953000"/>
            <a:ext cx="43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23" name="">
            <a:extLst xmlns:a="http://schemas.openxmlformats.org/drawingml/2006/main">
              <a:ext uri="{FF2B5EF4-FFF2-40B4-BE49-F238E27FC236}">
                <a16:creationId xmlns:a16="http://schemas.microsoft.com/office/drawing/2014/main" id="{901A0833-6275-4106-A4C3-A0005D7897C0}"/>
              </a:ext>
            </a:extLst>
          </p:cNvPr>
          <p:cNvSpPr>
            <a:spLocks xmlns:a="http://schemas.openxmlformats.org/drawingml/2006/main" noGrp="1"/>
          </p:cNvSpPr>
          <p:nvPr/>
        </p:nvSpPr>
        <p:spPr>
          <a:xfrm xmlns:a="http://schemas.openxmlformats.org/drawingml/2006/main">
            <a:off x="1447800" y="487680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313"/>
                </a:solidFill>
                <a:latin typeface="Aptos"/>
                <a:ea typeface="Aptos"/>
                <a:cs typeface="Aptos"/>
              </a:defRPr>
            </a:pPr>
            <a:r>
              <a:rPr sz="1650" b="1">
                <a:solidFill>
                  <a:srgbClr val="071313"/>
                </a:solidFill>
                <a:latin typeface="Aptos"/>
                <a:ea typeface="Aptos"/>
                <a:cs typeface="Aptos"/>
              </a:rPr>
              <a:t>Dữ liệu thử nghiệm</a:t>
            </a:r>
          </a:p>
        </p:txBody>
      </p:sp>
      <p:sp>
        <p:nvSpPr>
          <p:cNvPr id="24" name="">
            <a:extLst xmlns:a="http://schemas.openxmlformats.org/drawingml/2006/main">
              <a:ext uri="{FF2B5EF4-FFF2-40B4-BE49-F238E27FC236}">
                <a16:creationId xmlns:a16="http://schemas.microsoft.com/office/drawing/2014/main" id="{D40C92B7-4541-4EB7-9687-CDF0029C9167}"/>
              </a:ext>
            </a:extLst>
          </p:cNvPr>
          <p:cNvSpPr>
            <a:spLocks xmlns:a="http://schemas.openxmlformats.org/drawingml/2006/main" noGrp="1"/>
          </p:cNvSpPr>
          <p:nvPr/>
        </p:nvSpPr>
        <p:spPr>
          <a:xfrm xmlns:a="http://schemas.openxmlformats.org/drawingml/2006/main">
            <a:off x="1447800" y="5181600"/>
            <a:ext cx="723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Quản lý lớp, môn, lịch, điểm danh và lương</a:t>
            </a:r>
          </a:p>
        </p:txBody>
      </p:sp>
      <p:sp>
        <p:nvSpPr>
          <p:cNvPr id="25" name="">
            <a:extLst xmlns:a="http://schemas.openxmlformats.org/drawingml/2006/main">
              <a:ext uri="{FF2B5EF4-FFF2-40B4-BE49-F238E27FC236}">
                <a16:creationId xmlns:a16="http://schemas.microsoft.com/office/drawing/2014/main" id="{B7D41CC9-8C3F-4E6D-84F5-0753B4DC2673}"/>
              </a:ext>
            </a:extLst>
          </p:cNvPr>
          <p:cNvSpPr>
            <a:spLocks xmlns:a="http://schemas.openxmlformats.org/drawingml/2006/main" noGrp="1"/>
          </p:cNvSpPr>
          <p:nvPr/>
        </p:nvSpPr>
        <p:spPr>
          <a:xfrm xmlns:a="http://schemas.openxmlformats.org/drawingml/2006/main">
            <a:off x="8153400" y="1143000"/>
            <a:ext cx="2667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26" name="">
            <a:extLst xmlns:a="http://schemas.openxmlformats.org/drawingml/2006/main">
              <a:ext uri="{FF2B5EF4-FFF2-40B4-BE49-F238E27FC236}">
                <a16:creationId xmlns:a16="http://schemas.microsoft.com/office/drawing/2014/main" id="{5043D8D3-1AEC-421D-BC84-1D75C71F35AE}"/>
              </a:ext>
            </a:extLst>
          </p:cNvPr>
          <p:cNvSpPr>
            <a:spLocks xmlns:a="http://schemas.openxmlformats.org/drawingml/2006/main" noGrp="1"/>
          </p:cNvSpPr>
          <p:nvPr/>
        </p:nvSpPr>
        <p:spPr>
          <a:xfrm xmlns:a="http://schemas.openxmlformats.org/drawingml/2006/main">
            <a:off x="8153400" y="1143000"/>
            <a:ext cx="266700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E88F618-2B7E-4CF6-8350-FCCF16A57D30}"/>
              </a:ext>
            </a:extLst>
          </p:cNvPr>
          <p:cNvSpPr>
            <a:spLocks xmlns:a="http://schemas.openxmlformats.org/drawingml/2006/main" noGrp="1"/>
          </p:cNvSpPr>
          <p:nvPr/>
        </p:nvSpPr>
        <p:spPr>
          <a:xfrm xmlns:a="http://schemas.openxmlformats.org/drawingml/2006/main">
            <a:off x="8267700" y="12287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494F6F8-A4D9-412A-9B30-1AF2036FDE4A}"/>
              </a:ext>
            </a:extLst>
          </p:cNvPr>
          <p:cNvSpPr>
            <a:spLocks xmlns:a="http://schemas.openxmlformats.org/drawingml/2006/main" noGrp="1"/>
          </p:cNvSpPr>
          <p:nvPr/>
        </p:nvSpPr>
        <p:spPr>
          <a:xfrm xmlns:a="http://schemas.openxmlformats.org/drawingml/2006/main">
            <a:off x="8382000" y="12287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F822E25-9533-4542-AE78-159745A5CF85}"/>
              </a:ext>
            </a:extLst>
          </p:cNvPr>
          <p:cNvSpPr>
            <a:spLocks xmlns:a="http://schemas.openxmlformats.org/drawingml/2006/main" noGrp="1"/>
          </p:cNvSpPr>
          <p:nvPr/>
        </p:nvSpPr>
        <p:spPr>
          <a:xfrm xmlns:a="http://schemas.openxmlformats.org/drawingml/2006/main">
            <a:off x="8496300" y="12287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8d30a835d4a4b31"/>
          <a:srcRect xmlns:a="http://schemas.openxmlformats.org/drawingml/2006/main" l="0" t="8813" r="0" b="8813"/>
          <a:stretch xmlns:a="http://schemas.openxmlformats.org/drawingml/2006/main">
            <a:fillRect l="0" t="0" r="0" b="0"/>
          </a:stretch>
        </p:blipFill>
        <p:spPr>
          <a:xfrm xmlns:a="http://schemas.openxmlformats.org/drawingml/2006/main">
            <a:off x="8229600" y="1447800"/>
            <a:ext cx="2514600" cy="14097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4344B1C-43C6-4C7A-982E-0A16A902E9F6}"/>
              </a:ext>
            </a:extLst>
          </p:cNvPr>
          <p:cNvSpPr>
            <a:spLocks xmlns:a="http://schemas.openxmlformats.org/drawingml/2006/main" noGrp="1"/>
          </p:cNvSpPr>
          <p:nvPr/>
        </p:nvSpPr>
        <p:spPr>
          <a:xfrm xmlns:a="http://schemas.openxmlformats.org/drawingml/2006/main">
            <a:off x="8267700" y="2714625"/>
            <a:ext cx="2438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Đăng nhập</a:t>
            </a:r>
          </a:p>
        </p:txBody>
      </p:sp>
      <p:sp>
        <p:nvSpPr>
          <p:cNvPr id="32" name="">
            <a:extLst xmlns:a="http://schemas.openxmlformats.org/drawingml/2006/main">
              <a:ext uri="{FF2B5EF4-FFF2-40B4-BE49-F238E27FC236}">
                <a16:creationId xmlns:a16="http://schemas.microsoft.com/office/drawing/2014/main" id="{DF847010-329D-4EC6-8FEB-2391200EDF72}"/>
              </a:ext>
            </a:extLst>
          </p:cNvPr>
          <p:cNvSpPr>
            <a:spLocks xmlns:a="http://schemas.openxmlformats.org/drawingml/2006/main" noGrp="1"/>
          </p:cNvSpPr>
          <p:nvPr/>
        </p:nvSpPr>
        <p:spPr>
          <a:xfrm xmlns:a="http://schemas.openxmlformats.org/drawingml/2006/main">
            <a:off x="8153400" y="3238500"/>
            <a:ext cx="26670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33" name="">
            <a:extLst xmlns:a="http://schemas.openxmlformats.org/drawingml/2006/main">
              <a:ext uri="{FF2B5EF4-FFF2-40B4-BE49-F238E27FC236}">
                <a16:creationId xmlns:a16="http://schemas.microsoft.com/office/drawing/2014/main" id="{8DC2CD8B-06B9-4E24-9DFC-74B4A9150F45}"/>
              </a:ext>
            </a:extLst>
          </p:cNvPr>
          <p:cNvSpPr>
            <a:spLocks xmlns:a="http://schemas.openxmlformats.org/drawingml/2006/main" noGrp="1"/>
          </p:cNvSpPr>
          <p:nvPr/>
        </p:nvSpPr>
        <p:spPr>
          <a:xfrm xmlns:a="http://schemas.openxmlformats.org/drawingml/2006/main">
            <a:off x="8153400" y="3238500"/>
            <a:ext cx="2667000" cy="22860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82AD123-0AF6-4F46-A410-220FA5EB060D}"/>
              </a:ext>
            </a:extLst>
          </p:cNvPr>
          <p:cNvSpPr>
            <a:spLocks xmlns:a="http://schemas.openxmlformats.org/drawingml/2006/main" noGrp="1"/>
          </p:cNvSpPr>
          <p:nvPr/>
        </p:nvSpPr>
        <p:spPr>
          <a:xfrm xmlns:a="http://schemas.openxmlformats.org/drawingml/2006/main">
            <a:off x="8267700" y="3324225"/>
            <a:ext cx="57150" cy="571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EEC8F4D-7B12-4947-B7CD-1582E9DFB1E6}"/>
              </a:ext>
            </a:extLst>
          </p:cNvPr>
          <p:cNvSpPr>
            <a:spLocks xmlns:a="http://schemas.openxmlformats.org/drawingml/2006/main" noGrp="1"/>
          </p:cNvSpPr>
          <p:nvPr/>
        </p:nvSpPr>
        <p:spPr>
          <a:xfrm xmlns:a="http://schemas.openxmlformats.org/drawingml/2006/main">
            <a:off x="8382000" y="3324225"/>
            <a:ext cx="57150" cy="571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95704A4-3DD0-4903-B00C-34682DD73B30}"/>
              </a:ext>
            </a:extLst>
          </p:cNvPr>
          <p:cNvSpPr>
            <a:spLocks xmlns:a="http://schemas.openxmlformats.org/drawingml/2006/main" noGrp="1"/>
          </p:cNvSpPr>
          <p:nvPr/>
        </p:nvSpPr>
        <p:spPr>
          <a:xfrm xmlns:a="http://schemas.openxmlformats.org/drawingml/2006/main">
            <a:off x="8496300" y="3324225"/>
            <a:ext cx="57150" cy="571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b53fe20e8dd440a"/>
          <a:srcRect xmlns:a="http://schemas.openxmlformats.org/drawingml/2006/main" l="967" t="0" r="967" b="0"/>
          <a:stretch xmlns:a="http://schemas.openxmlformats.org/drawingml/2006/main">
            <a:fillRect l="0" t="0" r="0" b="0"/>
          </a:stretch>
        </p:blipFill>
        <p:spPr>
          <a:xfrm xmlns:a="http://schemas.openxmlformats.org/drawingml/2006/main">
            <a:off x="8229600" y="3543300"/>
            <a:ext cx="2514600" cy="140970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D8BECCAC-C400-4853-B395-2D0A7FFE409C}"/>
              </a:ext>
            </a:extLst>
          </p:cNvPr>
          <p:cNvSpPr>
            <a:spLocks xmlns:a="http://schemas.openxmlformats.org/drawingml/2006/main" noGrp="1"/>
          </p:cNvSpPr>
          <p:nvPr/>
        </p:nvSpPr>
        <p:spPr>
          <a:xfrm xmlns:a="http://schemas.openxmlformats.org/drawingml/2006/main">
            <a:off x="8267700" y="4810125"/>
            <a:ext cx="2438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QR attendance</a:t>
            </a:r>
          </a:p>
        </p:txBody>
      </p:sp>
      <p:sp>
        <p:nvSpPr>
          <p:cNvPr id="39" name="">
            <a:extLst xmlns:a="http://schemas.openxmlformats.org/drawingml/2006/main">
              <a:ext uri="{FF2B5EF4-FFF2-40B4-BE49-F238E27FC236}">
                <a16:creationId xmlns:a16="http://schemas.microsoft.com/office/drawing/2014/main" id="{7BE42633-F0F6-4070-B64E-621D03409B30}"/>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40" name="">
            <a:extLst xmlns:a="http://schemas.openxmlformats.org/drawingml/2006/main">
              <a:ext uri="{FF2B5EF4-FFF2-40B4-BE49-F238E27FC236}">
                <a16:creationId xmlns:a16="http://schemas.microsoft.com/office/drawing/2014/main" id="{BACB2EDB-06BB-4C32-AA0B-AA8D740A87F6}"/>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11</a:t>
            </a:r>
          </a:p>
        </p:txBody>
      </p:sp>
    </p:spTree>
    <p:extLst>
      <p:ext uri="{BB962C8B-B14F-4D97-AF65-F5344CB8AC3E}">
        <p14:creationId xmlns:p14="http://schemas.microsoft.com/office/powerpoint/2010/main" val="13789644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436605-8AC8-444B-8290-D754BCF629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888EBA2-50CB-4A89-8B28-2E0EA2D43CCC}"/>
              </a:ext>
            </a:extLst>
          </p:cNvPr>
          <p:cNvSpPr>
            <a:spLocks xmlns:a="http://schemas.openxmlformats.org/drawingml/2006/main" noGrp="1"/>
          </p:cNvSpPr>
          <p:nvPr/>
        </p:nvSpPr>
        <p:spPr>
          <a:xfrm xmlns:a="http://schemas.openxmlformats.org/drawingml/2006/main">
            <a:off x="609600" y="5334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D10389-9CAB-4DD7-B245-C841B4C69920}"/>
              </a:ext>
            </a:extLst>
          </p:cNvPr>
          <p:cNvSpPr>
            <a:spLocks xmlns:a="http://schemas.openxmlformats.org/drawingml/2006/main" noGrp="1"/>
          </p:cNvSpPr>
          <p:nvPr/>
        </p:nvSpPr>
        <p:spPr>
          <a:xfrm xmlns:a="http://schemas.openxmlformats.org/drawingml/2006/main">
            <a:off x="914400" y="457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HẠN CHẾ VÀ HƯỚNG PHÁT TRIỂN</a:t>
            </a:r>
          </a:p>
        </p:txBody>
      </p:sp>
      <p:sp>
        <p:nvSpPr>
          <p:cNvPr id="4" name="">
            <a:extLst xmlns:a="http://schemas.openxmlformats.org/drawingml/2006/main">
              <a:ext uri="{FF2B5EF4-FFF2-40B4-BE49-F238E27FC236}">
                <a16:creationId xmlns:a16="http://schemas.microsoft.com/office/drawing/2014/main" id="{913595B2-2163-4522-B37D-FC817CB22AEC}"/>
              </a:ext>
            </a:extLst>
          </p:cNvPr>
          <p:cNvSpPr>
            <a:spLocks xmlns:a="http://schemas.openxmlformats.org/drawingml/2006/main" noGrp="1"/>
          </p:cNvSpPr>
          <p:nvPr/>
        </p:nvSpPr>
        <p:spPr>
          <a:xfrm xmlns:a="http://schemas.openxmlformats.org/drawingml/2006/main">
            <a:off x="609600" y="800100"/>
            <a:ext cx="80962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071313"/>
                </a:solidFill>
                <a:latin typeface="Aptos Display"/>
                <a:ea typeface="Aptos Display"/>
                <a:cs typeface="Aptos Display"/>
              </a:defRPr>
            </a:pPr>
            <a:r>
              <a:rPr sz="2850" b="1">
                <a:solidFill>
                  <a:srgbClr val="071313"/>
                </a:solidFill>
                <a:latin typeface="Aptos Display"/>
                <a:ea typeface="Aptos Display"/>
                <a:cs typeface="Aptos Display"/>
              </a:rPr>
              <a:t>Phiên bản hiện tại hoàn thiện lõi quản lý, còn dư địa phát triển production</a:t>
            </a:r>
          </a:p>
        </p:txBody>
      </p:sp>
      <p:sp>
        <p:nvSpPr>
          <p:cNvPr id="5" name="">
            <a:extLst xmlns:a="http://schemas.openxmlformats.org/drawingml/2006/main">
              <a:ext uri="{FF2B5EF4-FFF2-40B4-BE49-F238E27FC236}">
                <a16:creationId xmlns:a16="http://schemas.microsoft.com/office/drawing/2014/main" id="{C6085168-F0D4-4E7C-B7BD-01CDA9C9AD07}"/>
              </a:ext>
            </a:extLst>
          </p:cNvPr>
          <p:cNvSpPr>
            <a:spLocks xmlns:a="http://schemas.openxmlformats.org/drawingml/2006/main" noGrp="1"/>
          </p:cNvSpPr>
          <p:nvPr/>
        </p:nvSpPr>
        <p:spPr>
          <a:xfrm xmlns:a="http://schemas.openxmlformats.org/drawingml/2006/main">
            <a:off x="762000" y="1866900"/>
            <a:ext cx="47625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7E4DD"/>
            </a:solidFill>
            <a:prstDash val="solid"/>
          </a:ln>
        </p:spPr>
      </p:sp>
      <p:sp>
        <p:nvSpPr>
          <p:cNvPr id="6" name="">
            <a:extLst xmlns:a="http://schemas.openxmlformats.org/drawingml/2006/main">
              <a:ext uri="{FF2B5EF4-FFF2-40B4-BE49-F238E27FC236}">
                <a16:creationId xmlns:a16="http://schemas.microsoft.com/office/drawing/2014/main" id="{85116965-B2B7-41BE-A220-C9BAB80BBA86}"/>
              </a:ext>
            </a:extLst>
          </p:cNvPr>
          <p:cNvSpPr>
            <a:spLocks xmlns:a="http://schemas.openxmlformats.org/drawingml/2006/main" noGrp="1"/>
          </p:cNvSpPr>
          <p:nvPr/>
        </p:nvSpPr>
        <p:spPr>
          <a:xfrm xmlns:a="http://schemas.openxmlformats.org/drawingml/2006/main">
            <a:off x="6096000" y="1866900"/>
            <a:ext cx="4762500" cy="3714750"/>
          </a:xfrm>
          <a:prstGeom xmlns:a="http://schemas.openxmlformats.org/drawingml/2006/main" prst="rect">
            <a:avLst/>
          </a:prstGeom>
          <a:solidFill xmlns:a="http://schemas.openxmlformats.org/drawingml/2006/main">
            <a:srgbClr val="0B1F1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BD1F9DD-5859-4C66-8B63-8872DBB148B2}"/>
              </a:ext>
            </a:extLst>
          </p:cNvPr>
          <p:cNvSpPr>
            <a:spLocks xmlns:a="http://schemas.openxmlformats.org/drawingml/2006/main" noGrp="1"/>
          </p:cNvSpPr>
          <p:nvPr/>
        </p:nvSpPr>
        <p:spPr>
          <a:xfrm xmlns:a="http://schemas.openxmlformats.org/drawingml/2006/main">
            <a:off x="1066800" y="21526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071313"/>
                </a:solidFill>
                <a:latin typeface="Aptos"/>
                <a:ea typeface="Aptos"/>
                <a:cs typeface="Aptos"/>
              </a:defRPr>
            </a:pPr>
            <a:r>
              <a:rPr sz="1950" b="1">
                <a:solidFill>
                  <a:srgbClr val="071313"/>
                </a:solidFill>
                <a:latin typeface="Aptos"/>
                <a:ea typeface="Aptos"/>
                <a:cs typeface="Aptos"/>
              </a:rPr>
              <a:t>Hạn chế hiện tại</a:t>
            </a:r>
          </a:p>
        </p:txBody>
      </p:sp>
      <p:sp>
        <p:nvSpPr>
          <p:cNvPr id="8" name="">
            <a:extLst xmlns:a="http://schemas.openxmlformats.org/drawingml/2006/main">
              <a:ext uri="{FF2B5EF4-FFF2-40B4-BE49-F238E27FC236}">
                <a16:creationId xmlns:a16="http://schemas.microsoft.com/office/drawing/2014/main" id="{2A6094FD-726E-4191-95C8-04B4D628198B}"/>
              </a:ext>
            </a:extLst>
          </p:cNvPr>
          <p:cNvSpPr>
            <a:spLocks xmlns:a="http://schemas.openxmlformats.org/drawingml/2006/main" noGrp="1"/>
          </p:cNvSpPr>
          <p:nvPr/>
        </p:nvSpPr>
        <p:spPr>
          <a:xfrm xmlns:a="http://schemas.openxmlformats.org/drawingml/2006/main">
            <a:off x="1066800" y="28670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D1D763B-7621-4195-8927-E86EBE22001B}"/>
              </a:ext>
            </a:extLst>
          </p:cNvPr>
          <p:cNvSpPr>
            <a:spLocks xmlns:a="http://schemas.openxmlformats.org/drawingml/2006/main" noGrp="1"/>
          </p:cNvSpPr>
          <p:nvPr/>
        </p:nvSpPr>
        <p:spPr>
          <a:xfrm xmlns:a="http://schemas.openxmlformats.org/drawingml/2006/main">
            <a:off x="1295400" y="27813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F2937"/>
                </a:solidFill>
                <a:latin typeface="Aptos"/>
                <a:ea typeface="Aptos"/>
                <a:cs typeface="Aptos"/>
              </a:defRPr>
            </a:pPr>
            <a:r>
              <a:rPr sz="1350" b="0">
                <a:solidFill>
                  <a:srgbClr val="1F2937"/>
                </a:solidFill>
                <a:latin typeface="Aptos"/>
                <a:ea typeface="Aptos"/>
                <a:cs typeface="Aptos"/>
              </a:rPr>
              <a:t>Middleware phân quyền backend chưa đầy đủ</a:t>
            </a:r>
          </a:p>
        </p:txBody>
      </p:sp>
      <p:sp>
        <p:nvSpPr>
          <p:cNvPr id="10" name="">
            <a:extLst xmlns:a="http://schemas.openxmlformats.org/drawingml/2006/main">
              <a:ext uri="{FF2B5EF4-FFF2-40B4-BE49-F238E27FC236}">
                <a16:creationId xmlns:a16="http://schemas.microsoft.com/office/drawing/2014/main" id="{623C582F-75EB-4E0E-9A68-9CAAEB2E2D11}"/>
              </a:ext>
            </a:extLst>
          </p:cNvPr>
          <p:cNvSpPr>
            <a:spLocks xmlns:a="http://schemas.openxmlformats.org/drawingml/2006/main" noGrp="1"/>
          </p:cNvSpPr>
          <p:nvPr/>
        </p:nvSpPr>
        <p:spPr>
          <a:xfrm xmlns:a="http://schemas.openxmlformats.org/drawingml/2006/main">
            <a:off x="1066800" y="33242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9F5D31C-D80D-43ED-BE70-55C575A71049}"/>
              </a:ext>
            </a:extLst>
          </p:cNvPr>
          <p:cNvSpPr>
            <a:spLocks xmlns:a="http://schemas.openxmlformats.org/drawingml/2006/main" noGrp="1"/>
          </p:cNvSpPr>
          <p:nvPr/>
        </p:nvSpPr>
        <p:spPr>
          <a:xfrm xmlns:a="http://schemas.openxmlformats.org/drawingml/2006/main">
            <a:off x="1295400" y="32385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F2937"/>
                </a:solidFill>
                <a:latin typeface="Aptos"/>
                <a:ea typeface="Aptos"/>
                <a:cs typeface="Aptos"/>
              </a:defRPr>
            </a:pPr>
            <a:r>
              <a:rPr sz="1350" b="0">
                <a:solidFill>
                  <a:srgbClr val="1F2937"/>
                </a:solidFill>
                <a:latin typeface="Aptos"/>
                <a:ea typeface="Aptos"/>
                <a:cs typeface="Aptos"/>
              </a:rPr>
              <a:t>Một số dữ liệu còn lưu dạng string</a:t>
            </a:r>
          </a:p>
        </p:txBody>
      </p:sp>
      <p:sp>
        <p:nvSpPr>
          <p:cNvPr id="12" name="">
            <a:extLst xmlns:a="http://schemas.openxmlformats.org/drawingml/2006/main">
              <a:ext uri="{FF2B5EF4-FFF2-40B4-BE49-F238E27FC236}">
                <a16:creationId xmlns:a16="http://schemas.microsoft.com/office/drawing/2014/main" id="{7EDDEFC4-9742-4616-9D7A-58C8045597FA}"/>
              </a:ext>
            </a:extLst>
          </p:cNvPr>
          <p:cNvSpPr>
            <a:spLocks xmlns:a="http://schemas.openxmlformats.org/drawingml/2006/main" noGrp="1"/>
          </p:cNvSpPr>
          <p:nvPr/>
        </p:nvSpPr>
        <p:spPr>
          <a:xfrm xmlns:a="http://schemas.openxmlformats.org/drawingml/2006/main">
            <a:off x="1066800" y="37814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FBC435D-8BF9-46E9-BB78-E67716F91C5E}"/>
              </a:ext>
            </a:extLst>
          </p:cNvPr>
          <p:cNvSpPr>
            <a:spLocks xmlns:a="http://schemas.openxmlformats.org/drawingml/2006/main" noGrp="1"/>
          </p:cNvSpPr>
          <p:nvPr/>
        </p:nvSpPr>
        <p:spPr>
          <a:xfrm xmlns:a="http://schemas.openxmlformats.org/drawingml/2006/main">
            <a:off x="1295400" y="36957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F2937"/>
                </a:solidFill>
                <a:latin typeface="Aptos"/>
                <a:ea typeface="Aptos"/>
                <a:cs typeface="Aptos"/>
              </a:defRPr>
            </a:pPr>
            <a:r>
              <a:rPr sz="1350" b="0">
                <a:solidFill>
                  <a:srgbClr val="1F2937"/>
                </a:solidFill>
                <a:latin typeface="Aptos"/>
                <a:ea typeface="Aptos"/>
                <a:cs typeface="Aptos"/>
              </a:rPr>
              <a:t>Chưa có test tự động</a:t>
            </a:r>
          </a:p>
        </p:txBody>
      </p:sp>
      <p:sp>
        <p:nvSpPr>
          <p:cNvPr id="14" name="">
            <a:extLst xmlns:a="http://schemas.openxmlformats.org/drawingml/2006/main">
              <a:ext uri="{FF2B5EF4-FFF2-40B4-BE49-F238E27FC236}">
                <a16:creationId xmlns:a16="http://schemas.microsoft.com/office/drawing/2014/main" id="{2DEE2B3E-8536-4799-894C-C81C4E760295}"/>
              </a:ext>
            </a:extLst>
          </p:cNvPr>
          <p:cNvSpPr>
            <a:spLocks xmlns:a="http://schemas.openxmlformats.org/drawingml/2006/main" noGrp="1"/>
          </p:cNvSpPr>
          <p:nvPr/>
        </p:nvSpPr>
        <p:spPr>
          <a:xfrm xmlns:a="http://schemas.openxmlformats.org/drawingml/2006/main">
            <a:off x="1066800" y="4238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FC30679-82BA-43F2-8AB9-538D487EF66C}"/>
              </a:ext>
            </a:extLst>
          </p:cNvPr>
          <p:cNvSpPr>
            <a:spLocks xmlns:a="http://schemas.openxmlformats.org/drawingml/2006/main" noGrp="1"/>
          </p:cNvSpPr>
          <p:nvPr/>
        </p:nvSpPr>
        <p:spPr>
          <a:xfrm xmlns:a="http://schemas.openxmlformats.org/drawingml/2006/main">
            <a:off x="1295400" y="41529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F2937"/>
                </a:solidFill>
                <a:latin typeface="Aptos"/>
                <a:ea typeface="Aptos"/>
                <a:cs typeface="Aptos"/>
              </a:defRPr>
            </a:pPr>
            <a:r>
              <a:rPr sz="1350" b="0">
                <a:solidFill>
                  <a:srgbClr val="1F2937"/>
                </a:solidFill>
                <a:latin typeface="Aptos"/>
                <a:ea typeface="Aptos"/>
                <a:cs typeface="Aptos"/>
              </a:rPr>
              <a:t>Chưa có module bài tập, tài liệu, điểm số</a:t>
            </a:r>
          </a:p>
        </p:txBody>
      </p:sp>
      <p:sp>
        <p:nvSpPr>
          <p:cNvPr id="16" name="">
            <a:extLst xmlns:a="http://schemas.openxmlformats.org/drawingml/2006/main">
              <a:ext uri="{FF2B5EF4-FFF2-40B4-BE49-F238E27FC236}">
                <a16:creationId xmlns:a16="http://schemas.microsoft.com/office/drawing/2014/main" id="{6E5A5F2C-21F4-454C-BBB4-AB62051F4AA8}"/>
              </a:ext>
            </a:extLst>
          </p:cNvPr>
          <p:cNvSpPr>
            <a:spLocks xmlns:a="http://schemas.openxmlformats.org/drawingml/2006/main" noGrp="1"/>
          </p:cNvSpPr>
          <p:nvPr/>
        </p:nvSpPr>
        <p:spPr>
          <a:xfrm xmlns:a="http://schemas.openxmlformats.org/drawingml/2006/main">
            <a:off x="6400800" y="21526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Hướng phát triển</a:t>
            </a:r>
          </a:p>
        </p:txBody>
      </p:sp>
      <p:sp>
        <p:nvSpPr>
          <p:cNvPr id="17" name="">
            <a:extLst xmlns:a="http://schemas.openxmlformats.org/drawingml/2006/main">
              <a:ext uri="{FF2B5EF4-FFF2-40B4-BE49-F238E27FC236}">
                <a16:creationId xmlns:a16="http://schemas.microsoft.com/office/drawing/2014/main" id="{2770BCB2-A2A0-4CCF-BEDF-D6C5B204C31F}"/>
              </a:ext>
            </a:extLst>
          </p:cNvPr>
          <p:cNvSpPr>
            <a:spLocks xmlns:a="http://schemas.openxmlformats.org/drawingml/2006/main" noGrp="1"/>
          </p:cNvSpPr>
          <p:nvPr/>
        </p:nvSpPr>
        <p:spPr>
          <a:xfrm xmlns:a="http://schemas.openxmlformats.org/drawingml/2006/main">
            <a:off x="6400800" y="28670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D27AD81-1BA1-48CC-8543-97D8EE9532B6}"/>
              </a:ext>
            </a:extLst>
          </p:cNvPr>
          <p:cNvSpPr>
            <a:spLocks xmlns:a="http://schemas.openxmlformats.org/drawingml/2006/main" noGrp="1"/>
          </p:cNvSpPr>
          <p:nvPr/>
        </p:nvSpPr>
        <p:spPr>
          <a:xfrm xmlns:a="http://schemas.openxmlformats.org/drawingml/2006/main">
            <a:off x="6629400" y="27813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E7FFF1"/>
                </a:solidFill>
                <a:latin typeface="Aptos"/>
                <a:ea typeface="Aptos"/>
                <a:cs typeface="Aptos"/>
              </a:defRPr>
            </a:pPr>
            <a:r>
              <a:rPr sz="1350" b="0">
                <a:solidFill>
                  <a:srgbClr val="E7FFF1"/>
                </a:solidFill>
                <a:latin typeface="Aptos"/>
                <a:ea typeface="Aptos"/>
                <a:cs typeface="Aptos"/>
              </a:rPr>
              <a:t>Hoàn thiện JWT login và authorization</a:t>
            </a:r>
          </a:p>
        </p:txBody>
      </p:sp>
      <p:sp>
        <p:nvSpPr>
          <p:cNvPr id="19" name="">
            <a:extLst xmlns:a="http://schemas.openxmlformats.org/drawingml/2006/main">
              <a:ext uri="{FF2B5EF4-FFF2-40B4-BE49-F238E27FC236}">
                <a16:creationId xmlns:a16="http://schemas.microsoft.com/office/drawing/2014/main" id="{756437D6-8EED-4F9D-9D02-316ABBB1A4DD}"/>
              </a:ext>
            </a:extLst>
          </p:cNvPr>
          <p:cNvSpPr>
            <a:spLocks xmlns:a="http://schemas.openxmlformats.org/drawingml/2006/main" noGrp="1"/>
          </p:cNvSpPr>
          <p:nvPr/>
        </p:nvSpPr>
        <p:spPr>
          <a:xfrm xmlns:a="http://schemas.openxmlformats.org/drawingml/2006/main">
            <a:off x="6400800" y="33242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01A4BDD-1CFB-4164-B643-F805BEF74F77}"/>
              </a:ext>
            </a:extLst>
          </p:cNvPr>
          <p:cNvSpPr>
            <a:spLocks xmlns:a="http://schemas.openxmlformats.org/drawingml/2006/main" noGrp="1"/>
          </p:cNvSpPr>
          <p:nvPr/>
        </p:nvSpPr>
        <p:spPr>
          <a:xfrm xmlns:a="http://schemas.openxmlformats.org/drawingml/2006/main">
            <a:off x="6629400" y="32385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E7FFF1"/>
                </a:solidFill>
                <a:latin typeface="Aptos"/>
                <a:ea typeface="Aptos"/>
                <a:cs typeface="Aptos"/>
              </a:defRPr>
            </a:pPr>
            <a:r>
              <a:rPr sz="1350" b="0">
                <a:solidFill>
                  <a:srgbClr val="E7FFF1"/>
                </a:solidFill>
                <a:latin typeface="Aptos"/>
                <a:ea typeface="Aptos"/>
                <a:cs typeface="Aptos"/>
              </a:rPr>
              <a:t>Chuẩn hóa ObjectId và populate dữ liệu</a:t>
            </a:r>
          </a:p>
        </p:txBody>
      </p:sp>
      <p:sp>
        <p:nvSpPr>
          <p:cNvPr id="21" name="">
            <a:extLst xmlns:a="http://schemas.openxmlformats.org/drawingml/2006/main">
              <a:ext uri="{FF2B5EF4-FFF2-40B4-BE49-F238E27FC236}">
                <a16:creationId xmlns:a16="http://schemas.microsoft.com/office/drawing/2014/main" id="{CBA8BE18-3E46-4CC1-BDCC-F8CEE1966DE9}"/>
              </a:ext>
            </a:extLst>
          </p:cNvPr>
          <p:cNvSpPr>
            <a:spLocks xmlns:a="http://schemas.openxmlformats.org/drawingml/2006/main" noGrp="1"/>
          </p:cNvSpPr>
          <p:nvPr/>
        </p:nvSpPr>
        <p:spPr>
          <a:xfrm xmlns:a="http://schemas.openxmlformats.org/drawingml/2006/main">
            <a:off x="6400800" y="37814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02C361F-C420-4B35-AD3E-671CD52B075B}"/>
              </a:ext>
            </a:extLst>
          </p:cNvPr>
          <p:cNvSpPr>
            <a:spLocks xmlns:a="http://schemas.openxmlformats.org/drawingml/2006/main" noGrp="1"/>
          </p:cNvSpPr>
          <p:nvPr/>
        </p:nvSpPr>
        <p:spPr>
          <a:xfrm xmlns:a="http://schemas.openxmlformats.org/drawingml/2006/main">
            <a:off x="6629400" y="36957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E7FFF1"/>
                </a:solidFill>
                <a:latin typeface="Aptos"/>
                <a:ea typeface="Aptos"/>
                <a:cs typeface="Aptos"/>
              </a:defRPr>
            </a:pPr>
            <a:r>
              <a:rPr sz="1350" b="0">
                <a:solidFill>
                  <a:srgbClr val="E7FFF1"/>
                </a:solidFill>
                <a:latin typeface="Aptos"/>
                <a:ea typeface="Aptos"/>
                <a:cs typeface="Aptos"/>
              </a:rPr>
              <a:t>Xuất báo cáo Excel/PDF</a:t>
            </a:r>
          </a:p>
        </p:txBody>
      </p:sp>
      <p:sp>
        <p:nvSpPr>
          <p:cNvPr id="23" name="">
            <a:extLst xmlns:a="http://schemas.openxmlformats.org/drawingml/2006/main">
              <a:ext uri="{FF2B5EF4-FFF2-40B4-BE49-F238E27FC236}">
                <a16:creationId xmlns:a16="http://schemas.microsoft.com/office/drawing/2014/main" id="{D75424C5-6069-4ACF-969D-329165042308}"/>
              </a:ext>
            </a:extLst>
          </p:cNvPr>
          <p:cNvSpPr>
            <a:spLocks xmlns:a="http://schemas.openxmlformats.org/drawingml/2006/main" noGrp="1"/>
          </p:cNvSpPr>
          <p:nvPr/>
        </p:nvSpPr>
        <p:spPr>
          <a:xfrm xmlns:a="http://schemas.openxmlformats.org/drawingml/2006/main">
            <a:off x="6400800" y="4238625"/>
            <a:ext cx="95250" cy="9525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19D4707-21C3-47B3-AA2B-8674D64B02A4}"/>
              </a:ext>
            </a:extLst>
          </p:cNvPr>
          <p:cNvSpPr>
            <a:spLocks xmlns:a="http://schemas.openxmlformats.org/drawingml/2006/main" noGrp="1"/>
          </p:cNvSpPr>
          <p:nvPr/>
        </p:nvSpPr>
        <p:spPr>
          <a:xfrm xmlns:a="http://schemas.openxmlformats.org/drawingml/2006/main">
            <a:off x="6629400" y="4152900"/>
            <a:ext cx="400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E7FFF1"/>
                </a:solidFill>
                <a:latin typeface="Aptos"/>
                <a:ea typeface="Aptos"/>
                <a:cs typeface="Aptos"/>
              </a:defRPr>
            </a:pPr>
            <a:r>
              <a:rPr sz="1350" b="0">
                <a:solidFill>
                  <a:srgbClr val="E7FFF1"/>
                </a:solidFill>
                <a:latin typeface="Aptos"/>
                <a:ea typeface="Aptos"/>
                <a:cs typeface="Aptos"/>
              </a:rPr>
              <a:t>Thêm thông báo realtime và triển khai production</a:t>
            </a:r>
          </a:p>
        </p:txBody>
      </p:sp>
      <p:sp>
        <p:nvSpPr>
          <p:cNvPr id="25" name="">
            <a:extLst xmlns:a="http://schemas.openxmlformats.org/drawingml/2006/main">
              <a:ext uri="{FF2B5EF4-FFF2-40B4-BE49-F238E27FC236}">
                <a16:creationId xmlns:a16="http://schemas.microsoft.com/office/drawing/2014/main" id="{2840DD30-C51B-4B74-8744-E75004D7C18F}"/>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Hệ thống quản lý học tập trực tuyến LMS</a:t>
            </a:r>
          </a:p>
        </p:txBody>
      </p:sp>
      <p:sp>
        <p:nvSpPr>
          <p:cNvPr id="26" name="">
            <a:extLst xmlns:a="http://schemas.openxmlformats.org/drawingml/2006/main">
              <a:ext uri="{FF2B5EF4-FFF2-40B4-BE49-F238E27FC236}">
                <a16:creationId xmlns:a16="http://schemas.microsoft.com/office/drawing/2014/main" id="{E87E8CAC-A34D-46B0-A267-8AF4712F8610}"/>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F2937"/>
                </a:solidFill>
                <a:latin typeface="Aptos"/>
                <a:ea typeface="Aptos"/>
                <a:cs typeface="Aptos"/>
              </a:defRPr>
            </a:pPr>
            <a:r>
              <a:rPr sz="975" b="1">
                <a:solidFill>
                  <a:srgbClr val="1F2937"/>
                </a:solidFill>
                <a:latin typeface="Aptos"/>
                <a:ea typeface="Aptos"/>
                <a:cs typeface="Aptos"/>
              </a:rPr>
              <a:t>12</a:t>
            </a:r>
          </a:p>
        </p:txBody>
      </p:sp>
    </p:spTree>
    <p:extLst>
      <p:ext uri="{BB962C8B-B14F-4D97-AF65-F5344CB8AC3E}">
        <p14:creationId xmlns:p14="http://schemas.microsoft.com/office/powerpoint/2010/main" val="1566805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AF9C5C-AB1C-4EB7-845B-C55E9D7993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1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AF18279-C2EE-4A40-8B97-DFBE9C51AB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1ADECA-A3AE-459B-B3EE-E1581ADE2F58}"/>
              </a:ext>
            </a:extLst>
          </p:cNvPr>
          <p:cNvSpPr>
            <a:spLocks xmlns:a="http://schemas.openxmlformats.org/drawingml/2006/main" noGrp="1"/>
          </p:cNvSpPr>
          <p:nvPr/>
        </p:nvSpPr>
        <p:spPr>
          <a:xfrm xmlns:a="http://schemas.openxmlformats.org/drawingml/2006/main">
            <a:off x="609600" y="685800"/>
            <a:ext cx="209550" cy="28575"/>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0183564-F0A2-4EBD-91A4-DF8412115033}"/>
              </a:ext>
            </a:extLst>
          </p:cNvPr>
          <p:cNvSpPr>
            <a:spLocks xmlns:a="http://schemas.openxmlformats.org/drawingml/2006/main" noGrp="1"/>
          </p:cNvSpPr>
          <p:nvPr/>
        </p:nvSpPr>
        <p:spPr>
          <a:xfrm xmlns:a="http://schemas.openxmlformats.org/drawingml/2006/main">
            <a:off x="914400" y="6096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7F7D8"/>
                </a:solidFill>
                <a:latin typeface="Aptos"/>
                <a:ea typeface="Aptos"/>
                <a:cs typeface="Aptos"/>
              </a:defRPr>
            </a:pPr>
            <a:r>
              <a:rPr sz="975" b="1">
                <a:solidFill>
                  <a:srgbClr val="B7F7D8"/>
                </a:solidFill>
                <a:latin typeface="Aptos"/>
                <a:ea typeface="Aptos"/>
                <a:cs typeface="Aptos"/>
              </a:rPr>
              <a:t>KẾT LUẬN</a:t>
            </a:r>
          </a:p>
        </p:txBody>
      </p:sp>
      <p:sp>
        <p:nvSpPr>
          <p:cNvPr id="5" name="">
            <a:extLst xmlns:a="http://schemas.openxmlformats.org/drawingml/2006/main">
              <a:ext uri="{FF2B5EF4-FFF2-40B4-BE49-F238E27FC236}">
                <a16:creationId xmlns:a16="http://schemas.microsoft.com/office/drawing/2014/main" id="{5C839E36-4C9C-453C-82DB-C5F7878F33B2}"/>
              </a:ext>
            </a:extLst>
          </p:cNvPr>
          <p:cNvSpPr>
            <a:spLocks xmlns:a="http://schemas.openxmlformats.org/drawingml/2006/main" noGrp="1"/>
          </p:cNvSpPr>
          <p:nvPr/>
        </p:nvSpPr>
        <p:spPr>
          <a:xfrm xmlns:a="http://schemas.openxmlformats.org/drawingml/2006/main">
            <a:off x="609600" y="1066800"/>
            <a:ext cx="8191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FFFFFF"/>
                </a:solidFill>
                <a:latin typeface="Aptos Display"/>
                <a:ea typeface="Aptos Display"/>
                <a:cs typeface="Aptos Display"/>
              </a:defRPr>
            </a:pPr>
            <a:r>
              <a:rPr sz="3450" b="1">
                <a:solidFill>
                  <a:srgbClr val="FFFFFF"/>
                </a:solidFill>
                <a:latin typeface="Aptos Display"/>
                <a:ea typeface="Aptos Display"/>
                <a:cs typeface="Aptos Display"/>
              </a:rPr>
              <a:t>LMS giúp tập trung quản lý lớp học, lịch học và điểm danh trong một hệ thống</a:t>
            </a:r>
          </a:p>
        </p:txBody>
      </p:sp>
      <p:sp>
        <p:nvSpPr>
          <p:cNvPr id="6" name="">
            <a:extLst xmlns:a="http://schemas.openxmlformats.org/drawingml/2006/main">
              <a:ext uri="{FF2B5EF4-FFF2-40B4-BE49-F238E27FC236}">
                <a16:creationId xmlns:a16="http://schemas.microsoft.com/office/drawing/2014/main" id="{5913F2FC-1947-4F9A-8D08-F0931DA38FD5}"/>
              </a:ext>
            </a:extLst>
          </p:cNvPr>
          <p:cNvSpPr>
            <a:spLocks xmlns:a="http://schemas.openxmlformats.org/drawingml/2006/main" noGrp="1"/>
          </p:cNvSpPr>
          <p:nvPr/>
        </p:nvSpPr>
        <p:spPr>
          <a:xfrm xmlns:a="http://schemas.openxmlformats.org/drawingml/2006/main">
            <a:off x="647700" y="2990850"/>
            <a:ext cx="7239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8FBE8"/>
                </a:solidFill>
                <a:latin typeface="Aptos"/>
                <a:ea typeface="Aptos"/>
                <a:cs typeface="Aptos"/>
              </a:defRPr>
            </a:pPr>
            <a:r>
              <a:rPr sz="1800" b="0">
                <a:solidFill>
                  <a:srgbClr val="D8FBE8"/>
                </a:solidFill>
                <a:latin typeface="Aptos"/>
                <a:ea typeface="Aptos"/>
                <a:cs typeface="Aptos"/>
              </a:rPr>
              <a:t>Đề tài đã xây dựng được nền tảng LMS có phân quyền giao diện, quản lý dữ liệu học tập, điểm danh QR và các màn hình minh họa chạy trên project.</a:t>
            </a:r>
          </a:p>
        </p:txBody>
      </p:sp>
      <p:sp>
        <p:nvSpPr>
          <p:cNvPr id="7" name="">
            <a:extLst xmlns:a="http://schemas.openxmlformats.org/drawingml/2006/main">
              <a:ext uri="{FF2B5EF4-FFF2-40B4-BE49-F238E27FC236}">
                <a16:creationId xmlns:a16="http://schemas.microsoft.com/office/drawing/2014/main" id="{EC2FF975-3329-434B-8A47-90EEE8887E72}"/>
              </a:ext>
            </a:extLst>
          </p:cNvPr>
          <p:cNvSpPr>
            <a:spLocks xmlns:a="http://schemas.openxmlformats.org/drawingml/2006/main" noGrp="1"/>
          </p:cNvSpPr>
          <p:nvPr/>
        </p:nvSpPr>
        <p:spPr>
          <a:xfrm xmlns:a="http://schemas.openxmlformats.org/drawingml/2006/main">
            <a:off x="704850" y="4362450"/>
            <a:ext cx="4095750" cy="9525"/>
          </a:xfrm>
          <a:prstGeom xmlns:a="http://schemas.openxmlformats.org/drawingml/2006/main" prst="rect">
            <a:avLst/>
          </a:prstGeom>
          <a:solidFill xmlns:a="http://schemas.openxmlformats.org/drawingml/2006/main">
            <a:srgbClr val="2B5B4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059930D-E148-4620-BF5F-71EB3B4D3F89}"/>
              </a:ext>
            </a:extLst>
          </p:cNvPr>
          <p:cNvSpPr>
            <a:spLocks xmlns:a="http://schemas.openxmlformats.org/drawingml/2006/main" noGrp="1"/>
          </p:cNvSpPr>
          <p:nvPr/>
        </p:nvSpPr>
        <p:spPr>
          <a:xfrm xmlns:a="http://schemas.openxmlformats.org/drawingml/2006/main">
            <a:off x="647700" y="4686300"/>
            <a:ext cx="7239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8FBE8"/>
                </a:solidFill>
                <a:latin typeface="Aptos"/>
                <a:ea typeface="Aptos"/>
                <a:cs typeface="Aptos"/>
              </a:defRPr>
            </a:pPr>
            <a:r>
              <a:rPr sz="1650" b="1">
                <a:solidFill>
                  <a:srgbClr val="D8FBE8"/>
                </a:solidFill>
                <a:latin typeface="Aptos"/>
                <a:ea typeface="Aptos"/>
                <a:cs typeface="Aptos"/>
              </a:rPr>
              <a:t>Em xin chân thành cảm ơn thầy/cô và các bạn đã lắng nghe.</a:t>
            </a:r>
          </a:p>
        </p:txBody>
      </p:sp>
      <p:sp>
        <p:nvSpPr>
          <p:cNvPr id="9" name="">
            <a:extLst xmlns:a="http://schemas.openxmlformats.org/drawingml/2006/main">
              <a:ext uri="{FF2B5EF4-FFF2-40B4-BE49-F238E27FC236}">
                <a16:creationId xmlns:a16="http://schemas.microsoft.com/office/drawing/2014/main" id="{BF624CAA-D0DF-4BB5-A49F-5AABA64CB7BE}"/>
              </a:ext>
            </a:extLst>
          </p:cNvPr>
          <p:cNvSpPr>
            <a:spLocks xmlns:a="http://schemas.openxmlformats.org/drawingml/2006/main" noGrp="1"/>
          </p:cNvSpPr>
          <p:nvPr/>
        </p:nvSpPr>
        <p:spPr>
          <a:xfrm xmlns:a="http://schemas.openxmlformats.org/drawingml/2006/main">
            <a:off x="8172450" y="2190750"/>
            <a:ext cx="25717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0" b="1">
                <a:solidFill>
                  <a:srgbClr val="10B981"/>
                </a:solidFill>
                <a:latin typeface="Aptos Display"/>
                <a:ea typeface="Aptos Display"/>
                <a:cs typeface="Aptos Display"/>
              </a:defRPr>
            </a:pPr>
            <a:r>
              <a:rPr sz="5850" b="1">
                <a:solidFill>
                  <a:srgbClr val="10B981"/>
                </a:solidFill>
                <a:latin typeface="Aptos Display"/>
                <a:ea typeface="Aptos Display"/>
                <a:cs typeface="Aptos Display"/>
              </a:rPr>
              <a:t>Q&amp;A</a:t>
            </a:r>
          </a:p>
        </p:txBody>
      </p:sp>
      <p:sp>
        <p:nvSpPr>
          <p:cNvPr id="10" name="">
            <a:extLst xmlns:a="http://schemas.openxmlformats.org/drawingml/2006/main">
              <a:ext uri="{FF2B5EF4-FFF2-40B4-BE49-F238E27FC236}">
                <a16:creationId xmlns:a16="http://schemas.microsoft.com/office/drawing/2014/main" id="{A4FDBE19-59F6-493E-87A4-52176A898C6A}"/>
              </a:ext>
            </a:extLst>
          </p:cNvPr>
          <p:cNvSpPr>
            <a:spLocks xmlns:a="http://schemas.openxmlformats.org/drawingml/2006/main" noGrp="1"/>
          </p:cNvSpPr>
          <p:nvPr/>
        </p:nvSpPr>
        <p:spPr>
          <a:xfrm xmlns:a="http://schemas.openxmlformats.org/drawingml/2006/main">
            <a:off x="8172450" y="3371850"/>
            <a:ext cx="2571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Câu hỏi &amp; trao đổi</a:t>
            </a:r>
          </a:p>
        </p:txBody>
      </p:sp>
      <p:sp>
        <p:nvSpPr>
          <p:cNvPr id="11" name="">
            <a:extLst xmlns:a="http://schemas.openxmlformats.org/drawingml/2006/main">
              <a:ext uri="{FF2B5EF4-FFF2-40B4-BE49-F238E27FC236}">
                <a16:creationId xmlns:a16="http://schemas.microsoft.com/office/drawing/2014/main" id="{4A7400A8-EFE5-40C5-8B44-CF5C313B6393}"/>
              </a:ext>
            </a:extLst>
          </p:cNvPr>
          <p:cNvSpPr>
            <a:spLocks xmlns:a="http://schemas.openxmlformats.org/drawingml/2006/main" noGrp="1"/>
          </p:cNvSpPr>
          <p:nvPr/>
        </p:nvSpPr>
        <p:spPr>
          <a:xfrm xmlns:a="http://schemas.openxmlformats.org/drawingml/2006/main">
            <a:off x="609600" y="6429375"/>
            <a:ext cx="495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7F7D8"/>
                </a:solidFill>
                <a:latin typeface="Aptos"/>
                <a:ea typeface="Aptos"/>
                <a:cs typeface="Aptos"/>
              </a:defRPr>
            </a:pPr>
            <a:r>
              <a:rPr sz="900" b="0">
                <a:solidFill>
                  <a:srgbClr val="B7F7D8"/>
                </a:solidFill>
                <a:latin typeface="Aptos"/>
                <a:ea typeface="Aptos"/>
                <a:cs typeface="Aptos"/>
              </a:rPr>
              <a:t>Hệ thống quản lý học tập trực tuyến LMS</a:t>
            </a:r>
          </a:p>
        </p:txBody>
      </p:sp>
      <p:sp>
        <p:nvSpPr>
          <p:cNvPr id="12" name="">
            <a:extLst xmlns:a="http://schemas.openxmlformats.org/drawingml/2006/main">
              <a:ext uri="{FF2B5EF4-FFF2-40B4-BE49-F238E27FC236}">
                <a16:creationId xmlns:a16="http://schemas.microsoft.com/office/drawing/2014/main" id="{17F093F9-C81D-455E-AD90-D57783E158C1}"/>
              </a:ext>
            </a:extLst>
          </p:cNvPr>
          <p:cNvSpPr>
            <a:spLocks xmlns:a="http://schemas.openxmlformats.org/drawingml/2006/main" noGrp="1"/>
          </p:cNvSpPr>
          <p:nvPr/>
        </p:nvSpPr>
        <p:spPr>
          <a:xfrm xmlns:a="http://schemas.openxmlformats.org/drawingml/2006/main">
            <a:off x="11239500" y="640080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FFFFF"/>
                </a:solidFill>
                <a:latin typeface="Aptos"/>
                <a:ea typeface="Aptos"/>
                <a:cs typeface="Aptos"/>
              </a:defRPr>
            </a:pPr>
            <a:r>
              <a:rPr sz="975" b="1">
                <a:solidFill>
                  <a:srgbClr val="FFFFFF"/>
                </a:solidFill>
                <a:latin typeface="Aptos"/>
                <a:ea typeface="Aptos"/>
                <a:cs typeface="Aptos"/>
              </a:rPr>
              <a:t>13</a:t>
            </a:r>
          </a:p>
        </p:txBody>
      </p:sp>
    </p:spTree>
    <p:extLst>
      <p:ext uri="{BB962C8B-B14F-4D97-AF65-F5344CB8AC3E}">
        <p14:creationId xmlns:p14="http://schemas.microsoft.com/office/powerpoint/2010/main" val="1195600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2026-06-07T08:29:16.7500000Z</dcterms:created>
  <dcterms:modified xsi:type="dcterms:W3CDTF">2026-06-07T08:29:16.7500000Z</dcterms:modified>
</coreProperties>
</file>